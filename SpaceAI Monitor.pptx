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Microsoft YaHei" pitchFamily="34" charset="-122"/>
      <p:regular r:id="rId19"/>
      <p:bold r:id="rId20"/>
    </p:embeddedFont>
    <p:embeddedFont>
      <p:font typeface="MiSans" charset="-122"/>
      <p:regular r:id="rId21"/>
    </p:embeddedFont>
    <p:embeddedFont>
      <p:font typeface="Calibri" pitchFamily="34" charset="0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-149" y="-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9D538-93A9-4FB1-B341-7C772CC3CAB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2B6F1-2FCD-496F-B5C7-3E6ED6532C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52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sa.int/42ed9194187e687c9a83552483bf55da3974670f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46" b="4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20617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20617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381000" y="1901309"/>
            <a:ext cx="2892743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gradFill flip="none" rotWithShape="1">
                  <a:gsLst>
                    <a:gs pos="0">
                      <a:srgbClr val="38BDF8"/>
                    </a:gs>
                    <a:gs pos="100000">
                      <a:srgbClr val="6366F1"/>
                    </a:gs>
                  </a:gsLst>
                  <a:lin ang="27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SpaceAI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758559"/>
            <a:ext cx="278511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798689"/>
            <a:ext cx="651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 қоқыстарын Жасанды Интеллект арқылы бақылау платформасы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8841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14350" y="50175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042" y="2604"/>
                </a:moveTo>
                <a:cubicBezTo>
                  <a:pt x="77539" y="-893"/>
                  <a:pt x="83195" y="-893"/>
                  <a:pt x="86655" y="2604"/>
                </a:cubicBezTo>
                <a:lnTo>
                  <a:pt x="119918" y="35868"/>
                </a:lnTo>
                <a:lnTo>
                  <a:pt x="140382" y="15404"/>
                </a:lnTo>
                <a:cubicBezTo>
                  <a:pt x="145033" y="10753"/>
                  <a:pt x="152586" y="10753"/>
                  <a:pt x="157237" y="15404"/>
                </a:cubicBezTo>
                <a:lnTo>
                  <a:pt x="175096" y="33263"/>
                </a:lnTo>
                <a:cubicBezTo>
                  <a:pt x="179747" y="37914"/>
                  <a:pt x="179747" y="45467"/>
                  <a:pt x="175096" y="50118"/>
                </a:cubicBezTo>
                <a:lnTo>
                  <a:pt x="154632" y="70582"/>
                </a:lnTo>
                <a:lnTo>
                  <a:pt x="187896" y="103845"/>
                </a:lnTo>
                <a:cubicBezTo>
                  <a:pt x="191393" y="107342"/>
                  <a:pt x="191393" y="112998"/>
                  <a:pt x="187896" y="116458"/>
                </a:cubicBezTo>
                <a:lnTo>
                  <a:pt x="152177" y="152177"/>
                </a:lnTo>
                <a:cubicBezTo>
                  <a:pt x="148679" y="155674"/>
                  <a:pt x="143024" y="155674"/>
                  <a:pt x="139564" y="152177"/>
                </a:cubicBezTo>
                <a:lnTo>
                  <a:pt x="106300" y="118914"/>
                </a:lnTo>
                <a:lnTo>
                  <a:pt x="100533" y="124681"/>
                </a:lnTo>
                <a:cubicBezTo>
                  <a:pt x="104775" y="133834"/>
                  <a:pt x="107156" y="144028"/>
                  <a:pt x="107156" y="154781"/>
                </a:cubicBezTo>
                <a:cubicBezTo>
                  <a:pt x="107156" y="166576"/>
                  <a:pt x="104291" y="177664"/>
                  <a:pt x="99268" y="187449"/>
                </a:cubicBezTo>
                <a:cubicBezTo>
                  <a:pt x="97520" y="190798"/>
                  <a:pt x="93055" y="191281"/>
                  <a:pt x="90413" y="188602"/>
                </a:cubicBezTo>
                <a:lnTo>
                  <a:pt x="54583" y="152772"/>
                </a:lnTo>
                <a:lnTo>
                  <a:pt x="32258" y="175096"/>
                </a:lnTo>
                <a:cubicBezTo>
                  <a:pt x="27608" y="179747"/>
                  <a:pt x="20055" y="179747"/>
                  <a:pt x="15404" y="175096"/>
                </a:cubicBezTo>
                <a:cubicBezTo>
                  <a:pt x="10753" y="170445"/>
                  <a:pt x="10753" y="162892"/>
                  <a:pt x="15404" y="158242"/>
                </a:cubicBezTo>
                <a:lnTo>
                  <a:pt x="37728" y="135917"/>
                </a:lnTo>
                <a:lnTo>
                  <a:pt x="1898" y="100087"/>
                </a:lnTo>
                <a:cubicBezTo>
                  <a:pt x="-781" y="97408"/>
                  <a:pt x="-298" y="92943"/>
                  <a:pt x="3051" y="91232"/>
                </a:cubicBezTo>
                <a:cubicBezTo>
                  <a:pt x="12836" y="86171"/>
                  <a:pt x="23961" y="83344"/>
                  <a:pt x="35719" y="83344"/>
                </a:cubicBezTo>
                <a:cubicBezTo>
                  <a:pt x="46472" y="83344"/>
                  <a:pt x="56666" y="85725"/>
                  <a:pt x="65819" y="89967"/>
                </a:cubicBezTo>
                <a:lnTo>
                  <a:pt x="71586" y="84200"/>
                </a:lnTo>
                <a:lnTo>
                  <a:pt x="38323" y="50974"/>
                </a:lnTo>
                <a:cubicBezTo>
                  <a:pt x="34826" y="47476"/>
                  <a:pt x="34826" y="41821"/>
                  <a:pt x="38323" y="38360"/>
                </a:cubicBezTo>
                <a:lnTo>
                  <a:pt x="74042" y="2604"/>
                </a:lnTo>
                <a:close/>
                <a:moveTo>
                  <a:pt x="80367" y="21543"/>
                </a:moveTo>
                <a:lnTo>
                  <a:pt x="57262" y="44648"/>
                </a:lnTo>
                <a:lnTo>
                  <a:pt x="84200" y="71586"/>
                </a:lnTo>
                <a:lnTo>
                  <a:pt x="107305" y="48481"/>
                </a:lnTo>
                <a:lnTo>
                  <a:pt x="80367" y="21543"/>
                </a:lnTo>
                <a:close/>
                <a:moveTo>
                  <a:pt x="145852" y="133238"/>
                </a:moveTo>
                <a:lnTo>
                  <a:pt x="168957" y="110133"/>
                </a:lnTo>
                <a:lnTo>
                  <a:pt x="142019" y="83195"/>
                </a:lnTo>
                <a:lnTo>
                  <a:pt x="118914" y="106300"/>
                </a:lnTo>
                <a:lnTo>
                  <a:pt x="145852" y="133238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4865251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2500" y="5169932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Бақылаудағы нысандар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77014" y="48841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910364" y="50175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3348514" y="4865251"/>
            <a:ext cx="187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48514" y="5169932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Нақты уақытты мониторинг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14486" y="48841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547836" y="50175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5985986" y="4865251"/>
            <a:ext cx="112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98%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85986" y="5169932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Анықтау дәлдігі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81000" y="62865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жыл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161634" y="628650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Қазақстан</a:t>
            </a:r>
            <a:endParaRPr lang="en-US" sz="1600" dirty="0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7905050" y="243011"/>
            <a:ext cx="397095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Маңғыстау облысы білім басқармасы</a:t>
            </a:r>
            <a:endParaRPr kumimoji="0" 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Мұнайлы ауданы бойынша білім бөлімі </a:t>
            </a:r>
            <a:endParaRPr kumimoji="0" 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«№19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жалпы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білім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беретін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мектеп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» КММ</a:t>
            </a:r>
            <a:endParaRPr kumimoji="0" 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Calibri" pitchFamily="34" charset="0"/>
              <a:ea typeface="Microsoft YaHei" pitchFamily="34" charset="-122"/>
              <a:cs typeface="Calibr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Уразалиев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Мейрамбек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,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Айтбай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Арман</a:t>
            </a:r>
            <a:endParaRPr kumimoji="0" 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«Шардара» </a:t>
            </a:r>
            <a:r>
              <a:rPr kumimoji="0" lang="kk-KZ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командасы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k-KZ" sz="1600" b="1" dirty="0" smtClean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0"/>
              </a:rPr>
              <a:t>Жетекші:</a:t>
            </a:r>
            <a:r>
              <a:rPr lang="kk-KZ" sz="1600" dirty="0" smtClean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lang="kk-KZ" sz="1600" dirty="0" smtClean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0"/>
              </a:rPr>
              <a:t>Кандибаев Турлан Нуратдинович</a:t>
            </a:r>
            <a:endParaRPr kumimoji="0" lang="kk-KZ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kern="0" spc="50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13661"/>
            <a:ext cx="11686632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Мазмұны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587" y="1339225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85" y="152332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2587" y="1523323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7955" y="1577470"/>
            <a:ext cx="192220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Проблеманың өзектілігі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85" y="1956496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 қоқысы неге қауіпті?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4587" y="2472693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85" y="2656791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2587" y="2656791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7955" y="2710938"/>
            <a:ext cx="95658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Статистика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85" y="3089964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 жылғы деректер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4587" y="3606161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85" y="3790259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2587" y="3790259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7955" y="3844406"/>
            <a:ext cx="1489030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Kessler Синдромы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85" y="4223432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Каскадты апат сценарийі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4587" y="4739629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85" y="4923727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2587" y="4923727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7955" y="4977873"/>
            <a:ext cx="153415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Жобаның мақсаты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85" y="5356899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Міндеттер мен мақсаттар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4587" y="5873097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85" y="6057196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12587" y="6057196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7955" y="6111342"/>
            <a:ext cx="183195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Технологиялық шешім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85" y="6490368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ЖИ + Орбиталық механика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8362" y="1339225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2460" y="152332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396362" y="1523323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01730" y="1577470"/>
            <a:ext cx="1344640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ЖИ Модельдері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32460" y="1956496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Нейрондық желілер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48362" y="2472693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32460" y="2656791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396362" y="2656791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01730" y="2710938"/>
            <a:ext cx="104683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32460" y="3089964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Жүйе құрылымы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48362" y="3606161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2460" y="3790259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396362" y="3790259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01730" y="3844406"/>
            <a:ext cx="239147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Функционалдық мүмкіндіктер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32460" y="4223432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Негізгі функциялар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48362" y="4739629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32460" y="4923727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396362" y="4923727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901730" y="4977873"/>
            <a:ext cx="1182200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Демо нұсқасы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32460" y="5356899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Жұмыс принципі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48362" y="5873097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32460" y="6057196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396362" y="6057196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901730" y="6111342"/>
            <a:ext cx="192220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Нарықтық мүмкіндіктер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432460" y="6490368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Өсу әлеуеті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32137" y="1339225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16235" y="1523323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280137" y="1523323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785505" y="1577470"/>
            <a:ext cx="169659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Мақсатты аудитория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16235" y="1956496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Пайдаланушылар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32137" y="2472693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16235" y="2656791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280137" y="2656791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785505" y="2710938"/>
            <a:ext cx="241854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Бәсекелестік артықшылықтар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16235" y="3089964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Біздің артықшылықтарымыз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32137" y="3606161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16235" y="3790259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280137" y="3790259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785505" y="3844406"/>
            <a:ext cx="122732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Даму жоспары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16235" y="4223432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Болашақ жоспарлар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32137" y="4739629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16235" y="4923727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280137" y="4923727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785505" y="4977873"/>
            <a:ext cx="1001711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Қорытынды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316235" y="5356899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Жобаның маңыздылығы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132137" y="5873097"/>
            <a:ext cx="3698210" cy="981858"/>
          </a:xfrm>
          <a:custGeom>
            <a:avLst/>
            <a:gdLst/>
            <a:ahLst/>
            <a:cxnLst/>
            <a:rect l="l" t="t" r="r" b="b"/>
            <a:pathLst>
              <a:path w="3698210" h="981858">
                <a:moveTo>
                  <a:pt x="108289" y="0"/>
                </a:moveTo>
                <a:lnTo>
                  <a:pt x="3589921" y="0"/>
                </a:lnTo>
                <a:cubicBezTo>
                  <a:pt x="3649727" y="0"/>
                  <a:pt x="3698210" y="48483"/>
                  <a:pt x="3698210" y="108289"/>
                </a:cubicBezTo>
                <a:lnTo>
                  <a:pt x="3698210" y="873569"/>
                </a:lnTo>
                <a:cubicBezTo>
                  <a:pt x="3698210" y="933375"/>
                  <a:pt x="3649727" y="981858"/>
                  <a:pt x="3589921" y="981858"/>
                </a:cubicBezTo>
                <a:lnTo>
                  <a:pt x="108289" y="981858"/>
                </a:lnTo>
                <a:cubicBezTo>
                  <a:pt x="48483" y="981858"/>
                  <a:pt x="0" y="933375"/>
                  <a:pt x="0" y="873569"/>
                </a:cubicBezTo>
                <a:lnTo>
                  <a:pt x="0" y="108289"/>
                </a:lnTo>
                <a:cubicBezTo>
                  <a:pt x="0" y="48483"/>
                  <a:pt x="48483" y="0"/>
                  <a:pt x="108289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316235" y="6057196"/>
            <a:ext cx="360977" cy="360977"/>
          </a:xfrm>
          <a:custGeom>
            <a:avLst/>
            <a:gdLst/>
            <a:ahLst/>
            <a:cxnLst/>
            <a:rect l="l" t="t" r="r" b="b"/>
            <a:pathLst>
              <a:path w="360977" h="360977">
                <a:moveTo>
                  <a:pt x="72195" y="0"/>
                </a:moveTo>
                <a:lnTo>
                  <a:pt x="288782" y="0"/>
                </a:lnTo>
                <a:cubicBezTo>
                  <a:pt x="328654" y="0"/>
                  <a:pt x="360977" y="32323"/>
                  <a:pt x="360977" y="72195"/>
                </a:cubicBezTo>
                <a:lnTo>
                  <a:pt x="360977" y="288782"/>
                </a:lnTo>
                <a:cubicBezTo>
                  <a:pt x="360977" y="328654"/>
                  <a:pt x="328654" y="360977"/>
                  <a:pt x="288782" y="360977"/>
                </a:cubicBezTo>
                <a:lnTo>
                  <a:pt x="72195" y="360977"/>
                </a:lnTo>
                <a:cubicBezTo>
                  <a:pt x="32323" y="360977"/>
                  <a:pt x="0" y="328654"/>
                  <a:pt x="0" y="288782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8280137" y="6057196"/>
            <a:ext cx="433172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7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785505" y="6111342"/>
            <a:ext cx="141683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Қатысу шақыруы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316235" y="6490368"/>
            <a:ext cx="339318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Бізбен байланысыңыз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Проблеманың өзектілігі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Неліктен ғарыш қоқысы қауіпті?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5589270" cy="1474470"/>
          </a:xfrm>
          <a:custGeom>
            <a:avLst/>
            <a:gdLst/>
            <a:ahLst/>
            <a:cxnLst/>
            <a:rect l="l" t="t" r="r" b="b"/>
            <a:pathLst>
              <a:path w="5589270" h="1474470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1360169"/>
                </a:lnTo>
                <a:cubicBezTo>
                  <a:pt x="5589270" y="1423296"/>
                  <a:pt x="5538096" y="1474470"/>
                  <a:pt x="547496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798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2470" y="19316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79832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Жылдамдық қаупі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4122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 қоқыстары </a:t>
            </a:r>
            <a:r>
              <a:rPr lang="en-US" sz="12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28,000 км/сағ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жылдамдықпен қозғалады. Бұл жылдамдықта тіпті </a:t>
            </a:r>
            <a:r>
              <a:rPr lang="en-US" sz="120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бояу тамшысы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да спутникке айтарлықтай зақым келтіре алады.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3276600"/>
            <a:ext cx="5589270" cy="1474470"/>
          </a:xfrm>
          <a:custGeom>
            <a:avLst/>
            <a:gdLst/>
            <a:ahLst/>
            <a:cxnLst/>
            <a:rect l="l" t="t" r="r" b="b"/>
            <a:pathLst>
              <a:path w="5589270" h="1474470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1360169"/>
                </a:lnTo>
                <a:cubicBezTo>
                  <a:pt x="5589270" y="1423296"/>
                  <a:pt x="5538096" y="1474470"/>
                  <a:pt x="547496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9120" y="347091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2470" y="36042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7091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Өсім қарқыны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81381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Орбитадағы объектілер саны </a:t>
            </a:r>
            <a:r>
              <a:rPr lang="en-US" sz="12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экспоненциалды түрде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өсуде. Қолмен мониторинг жүргізу мүмкін емес - автоматтандыру қажет.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4949190"/>
            <a:ext cx="5589270" cy="1474470"/>
          </a:xfrm>
          <a:custGeom>
            <a:avLst/>
            <a:gdLst/>
            <a:ahLst/>
            <a:cxnLst/>
            <a:rect l="l" t="t" r="r" b="b"/>
            <a:pathLst>
              <a:path w="5589270" h="1474470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1360169"/>
                </a:lnTo>
                <a:cubicBezTo>
                  <a:pt x="5589270" y="1423296"/>
                  <a:pt x="5538096" y="1474470"/>
                  <a:pt x="547496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9120" y="514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2470" y="527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320" y="0"/>
                </a:moveTo>
                <a:cubicBezTo>
                  <a:pt x="143842" y="0"/>
                  <a:pt x="190500" y="46658"/>
                  <a:pt x="190500" y="104180"/>
                </a:cubicBezTo>
                <a:cubicBezTo>
                  <a:pt x="190500" y="109128"/>
                  <a:pt x="186519" y="113109"/>
                  <a:pt x="181570" y="113109"/>
                </a:cubicBezTo>
                <a:cubicBezTo>
                  <a:pt x="176622" y="113109"/>
                  <a:pt x="172641" y="109128"/>
                  <a:pt x="172641" y="104180"/>
                </a:cubicBezTo>
                <a:cubicBezTo>
                  <a:pt x="172641" y="56517"/>
                  <a:pt x="133983" y="17859"/>
                  <a:pt x="86320" y="17859"/>
                </a:cubicBezTo>
                <a:cubicBezTo>
                  <a:pt x="81372" y="17859"/>
                  <a:pt x="77391" y="13878"/>
                  <a:pt x="77391" y="8930"/>
                </a:cubicBezTo>
                <a:cubicBezTo>
                  <a:pt x="77391" y="3981"/>
                  <a:pt x="81372" y="0"/>
                  <a:pt x="86320" y="0"/>
                </a:cubicBezTo>
                <a:close/>
                <a:moveTo>
                  <a:pt x="77391" y="44648"/>
                </a:moveTo>
                <a:cubicBezTo>
                  <a:pt x="77391" y="39700"/>
                  <a:pt x="81372" y="35719"/>
                  <a:pt x="86320" y="35719"/>
                </a:cubicBezTo>
                <a:cubicBezTo>
                  <a:pt x="124123" y="35719"/>
                  <a:pt x="154781" y="66377"/>
                  <a:pt x="154781" y="104180"/>
                </a:cubicBezTo>
                <a:cubicBezTo>
                  <a:pt x="154781" y="109128"/>
                  <a:pt x="150800" y="113109"/>
                  <a:pt x="145852" y="113109"/>
                </a:cubicBezTo>
                <a:cubicBezTo>
                  <a:pt x="140903" y="113109"/>
                  <a:pt x="136922" y="109128"/>
                  <a:pt x="136922" y="104180"/>
                </a:cubicBezTo>
                <a:cubicBezTo>
                  <a:pt x="136922" y="76237"/>
                  <a:pt x="114263" y="53578"/>
                  <a:pt x="86320" y="53578"/>
                </a:cubicBezTo>
                <a:cubicBezTo>
                  <a:pt x="81372" y="53578"/>
                  <a:pt x="77391" y="49597"/>
                  <a:pt x="77391" y="44648"/>
                </a:cubicBezTo>
                <a:close/>
                <a:moveTo>
                  <a:pt x="9823" y="53094"/>
                </a:moveTo>
                <a:cubicBezTo>
                  <a:pt x="13097" y="46434"/>
                  <a:pt x="21878" y="45690"/>
                  <a:pt x="27124" y="50936"/>
                </a:cubicBezTo>
                <a:lnTo>
                  <a:pt x="74935" y="98747"/>
                </a:lnTo>
                <a:lnTo>
                  <a:pt x="86841" y="86841"/>
                </a:lnTo>
                <a:cubicBezTo>
                  <a:pt x="91492" y="82190"/>
                  <a:pt x="99045" y="82190"/>
                  <a:pt x="103696" y="86841"/>
                </a:cubicBezTo>
                <a:cubicBezTo>
                  <a:pt x="108347" y="91492"/>
                  <a:pt x="108347" y="99045"/>
                  <a:pt x="103696" y="103696"/>
                </a:cubicBezTo>
                <a:lnTo>
                  <a:pt x="91790" y="115602"/>
                </a:lnTo>
                <a:lnTo>
                  <a:pt x="139601" y="163413"/>
                </a:lnTo>
                <a:cubicBezTo>
                  <a:pt x="144847" y="168659"/>
                  <a:pt x="144066" y="177403"/>
                  <a:pt x="137443" y="180715"/>
                </a:cubicBezTo>
                <a:cubicBezTo>
                  <a:pt x="124718" y="187003"/>
                  <a:pt x="110430" y="190537"/>
                  <a:pt x="95287" y="190537"/>
                </a:cubicBezTo>
                <a:cubicBezTo>
                  <a:pt x="42676" y="190537"/>
                  <a:pt x="37" y="147898"/>
                  <a:pt x="37" y="95287"/>
                </a:cubicBezTo>
                <a:cubicBezTo>
                  <a:pt x="37" y="80144"/>
                  <a:pt x="3572" y="65819"/>
                  <a:pt x="9860" y="5313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1435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Экономикалық салдар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48640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Ғылыми миссиялар мен байланыс спутниктерінің жұмысы тоқтауы мүмкін. Жаңа миссиялар үшін қауіпсіз орбиталарды жоспарлау </a:t>
            </a:r>
            <a:r>
              <a:rPr lang="en-US" sz="12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қиындай түсуде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4110" y="1604010"/>
            <a:ext cx="5589270" cy="3750945"/>
          </a:xfrm>
          <a:custGeom>
            <a:avLst/>
            <a:gdLst/>
            <a:ahLst/>
            <a:cxnLst/>
            <a:rect l="l" t="t" r="r" b="b"/>
            <a:pathLst>
              <a:path w="5589270" h="3750945">
                <a:moveTo>
                  <a:pt x="114291" y="0"/>
                </a:moveTo>
                <a:lnTo>
                  <a:pt x="5474979" y="0"/>
                </a:lnTo>
                <a:cubicBezTo>
                  <a:pt x="5538100" y="0"/>
                  <a:pt x="5589270" y="51170"/>
                  <a:pt x="5589270" y="114291"/>
                </a:cubicBezTo>
                <a:lnTo>
                  <a:pt x="5589270" y="3636654"/>
                </a:lnTo>
                <a:cubicBezTo>
                  <a:pt x="5589270" y="3699775"/>
                  <a:pt x="5538100" y="3750945"/>
                  <a:pt x="5474979" y="3750945"/>
                </a:cubicBezTo>
                <a:lnTo>
                  <a:pt x="114291" y="3750945"/>
                </a:lnTo>
                <a:cubicBezTo>
                  <a:pt x="51170" y="3750945"/>
                  <a:pt x="0" y="3699775"/>
                  <a:pt x="0" y="363665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0326" y="183642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6646545" y="179832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Соқтығыстар тарихы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12230" y="2221230"/>
            <a:ext cx="5198745" cy="655320"/>
          </a:xfrm>
          <a:custGeom>
            <a:avLst/>
            <a:gdLst/>
            <a:ahLst/>
            <a:cxnLst/>
            <a:rect l="l" t="t" r="r" b="b"/>
            <a:pathLst>
              <a:path w="5198745" h="655320">
                <a:moveTo>
                  <a:pt x="76201" y="0"/>
                </a:moveTo>
                <a:lnTo>
                  <a:pt x="5122544" y="0"/>
                </a:lnTo>
                <a:cubicBezTo>
                  <a:pt x="5164629" y="0"/>
                  <a:pt x="5198745" y="34116"/>
                  <a:pt x="5198745" y="76201"/>
                </a:cubicBezTo>
                <a:lnTo>
                  <a:pt x="5198745" y="579119"/>
                </a:lnTo>
                <a:cubicBezTo>
                  <a:pt x="5198745" y="621204"/>
                  <a:pt x="5164629" y="655320"/>
                  <a:pt x="5122544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016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0340" y="239649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278" y="2339340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Fengyun-1C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278" y="2567940"/>
            <a:ext cx="283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Қытайдың ASAT сынағы - 2,500+ фрагмент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2230" y="2998470"/>
            <a:ext cx="5198745" cy="655320"/>
          </a:xfrm>
          <a:custGeom>
            <a:avLst/>
            <a:gdLst/>
            <a:ahLst/>
            <a:cxnLst/>
            <a:rect l="l" t="t" r="r" b="b"/>
            <a:pathLst>
              <a:path w="5198745" h="655320">
                <a:moveTo>
                  <a:pt x="76201" y="0"/>
                </a:moveTo>
                <a:lnTo>
                  <a:pt x="5122544" y="0"/>
                </a:lnTo>
                <a:cubicBezTo>
                  <a:pt x="5164629" y="0"/>
                  <a:pt x="5198745" y="34116"/>
                  <a:pt x="5198745" y="76201"/>
                </a:cubicBezTo>
                <a:lnTo>
                  <a:pt x="5198745" y="579119"/>
                </a:lnTo>
                <a:cubicBezTo>
                  <a:pt x="5198745" y="621204"/>
                  <a:pt x="5164629" y="655320"/>
                  <a:pt x="5122544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97316">
              <a:alpha val="10196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0340" y="3173731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95900" y="3116581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Iridium-33 / Cosmos-2251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95900" y="3345181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Бірінші ірі апаттық соқтығысу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2230" y="3775710"/>
            <a:ext cx="5198745" cy="655320"/>
          </a:xfrm>
          <a:custGeom>
            <a:avLst/>
            <a:gdLst/>
            <a:ahLst/>
            <a:cxnLst/>
            <a:rect l="l" t="t" r="r" b="b"/>
            <a:pathLst>
              <a:path w="5198745" h="655320">
                <a:moveTo>
                  <a:pt x="76201" y="0"/>
                </a:moveTo>
                <a:lnTo>
                  <a:pt x="5122544" y="0"/>
                </a:lnTo>
                <a:cubicBezTo>
                  <a:pt x="5164629" y="0"/>
                  <a:pt x="5198745" y="34116"/>
                  <a:pt x="5198745" y="76201"/>
                </a:cubicBezTo>
                <a:lnTo>
                  <a:pt x="5198745" y="579119"/>
                </a:lnTo>
                <a:cubicBezTo>
                  <a:pt x="5198745" y="621204"/>
                  <a:pt x="5164629" y="655320"/>
                  <a:pt x="5122544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EAB308">
              <a:alpha val="10196"/>
            </a:srgbClr>
          </a:solidFill>
          <a:ln w="10160">
            <a:solidFill>
              <a:srgbClr val="EAB308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0340" y="3950970"/>
            <a:ext cx="600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AB30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4820" y="3893820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Kosmos-1408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4820" y="4122420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Ресейдің ASAT сынағы - 1,500+ фрагмент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4110" y="5551171"/>
            <a:ext cx="5589270" cy="922020"/>
          </a:xfrm>
          <a:custGeom>
            <a:avLst/>
            <a:gdLst/>
            <a:ahLst/>
            <a:cxnLst/>
            <a:rect l="l" t="t" r="r" b="b"/>
            <a:pathLst>
              <a:path w="5589270" h="922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807717"/>
                </a:lnTo>
                <a:cubicBezTo>
                  <a:pt x="5589270" y="870845"/>
                  <a:pt x="5538095" y="922020"/>
                  <a:pt x="54749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82239" y="586930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6918007" y="5745480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Шешім керек!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18007" y="6050280"/>
            <a:ext cx="380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ЖИ негізіндегі автоматты бақылау жүйелері қажет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STATISTICS 2025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 қоқысы статистикасы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 жылғы нақты деректер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2731770" cy="1922145"/>
          </a:xfrm>
          <a:custGeom>
            <a:avLst/>
            <a:gdLst/>
            <a:ahLst/>
            <a:cxnLst/>
            <a:rect l="l" t="t" r="r" b="b"/>
            <a:pathLst>
              <a:path w="2731770" h="1922145">
                <a:moveTo>
                  <a:pt x="114291" y="0"/>
                </a:moveTo>
                <a:lnTo>
                  <a:pt x="2617479" y="0"/>
                </a:lnTo>
                <a:cubicBezTo>
                  <a:pt x="2680600" y="0"/>
                  <a:pt x="2731770" y="51170"/>
                  <a:pt x="2731770" y="114291"/>
                </a:cubicBezTo>
                <a:lnTo>
                  <a:pt x="2731770" y="1807854"/>
                </a:lnTo>
                <a:cubicBezTo>
                  <a:pt x="2731770" y="1870975"/>
                  <a:pt x="2680600" y="1922145"/>
                  <a:pt x="2617479" y="1922145"/>
                </a:cubicBezTo>
                <a:lnTo>
                  <a:pt x="114291" y="1922145"/>
                </a:lnTo>
                <a:cubicBezTo>
                  <a:pt x="51170" y="1922145"/>
                  <a:pt x="0" y="1870975"/>
                  <a:pt x="0" y="180785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4820" y="1798320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11,000+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1020" y="233172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Белсенді спутник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5782" y="259842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Жер маңындағы орбитада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0410" y="1604010"/>
            <a:ext cx="2731770" cy="1922145"/>
          </a:xfrm>
          <a:custGeom>
            <a:avLst/>
            <a:gdLst/>
            <a:ahLst/>
            <a:cxnLst/>
            <a:rect l="l" t="t" r="r" b="b"/>
            <a:pathLst>
              <a:path w="2731770" h="1922145">
                <a:moveTo>
                  <a:pt x="114291" y="0"/>
                </a:moveTo>
                <a:lnTo>
                  <a:pt x="2617479" y="0"/>
                </a:lnTo>
                <a:cubicBezTo>
                  <a:pt x="2680600" y="0"/>
                  <a:pt x="2731770" y="51170"/>
                  <a:pt x="2731770" y="114291"/>
                </a:cubicBezTo>
                <a:lnTo>
                  <a:pt x="2731770" y="1807854"/>
                </a:lnTo>
                <a:cubicBezTo>
                  <a:pt x="2731770" y="1870975"/>
                  <a:pt x="2680600" y="1922145"/>
                  <a:pt x="2617479" y="1922145"/>
                </a:cubicBezTo>
                <a:lnTo>
                  <a:pt x="114291" y="1922145"/>
                </a:lnTo>
                <a:cubicBezTo>
                  <a:pt x="51170" y="1922145"/>
                  <a:pt x="0" y="1870975"/>
                  <a:pt x="0" y="180785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0420" y="1798320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36,500+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36620" y="233172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см-ден үлкен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41383" y="259842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Бақылаудағы қоқыстар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6010" y="1604010"/>
            <a:ext cx="2731770" cy="1922145"/>
          </a:xfrm>
          <a:custGeom>
            <a:avLst/>
            <a:gdLst/>
            <a:ahLst/>
            <a:cxnLst/>
            <a:rect l="l" t="t" r="r" b="b"/>
            <a:pathLst>
              <a:path w="2731770" h="1922145">
                <a:moveTo>
                  <a:pt x="114291" y="0"/>
                </a:moveTo>
                <a:lnTo>
                  <a:pt x="2617479" y="0"/>
                </a:lnTo>
                <a:cubicBezTo>
                  <a:pt x="2680600" y="0"/>
                  <a:pt x="2731770" y="51170"/>
                  <a:pt x="2731770" y="114291"/>
                </a:cubicBezTo>
                <a:lnTo>
                  <a:pt x="2731770" y="1807854"/>
                </a:lnTo>
                <a:cubicBezTo>
                  <a:pt x="2731770" y="1870975"/>
                  <a:pt x="2680600" y="1922145"/>
                  <a:pt x="2617479" y="1922145"/>
                </a:cubicBezTo>
                <a:lnTo>
                  <a:pt x="114291" y="1922145"/>
                </a:lnTo>
                <a:cubicBezTo>
                  <a:pt x="51170" y="1922145"/>
                  <a:pt x="0" y="1870975"/>
                  <a:pt x="0" y="180785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EAB308">
                  <a:alpha val="20000"/>
                </a:srgbClr>
              </a:gs>
              <a:gs pos="100000">
                <a:srgbClr val="EAB308">
                  <a:alpha val="5000"/>
                </a:srgbClr>
              </a:gs>
            </a:gsLst>
            <a:lin ang="2700000" scaled="1"/>
          </a:gradFill>
          <a:ln w="1016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6020" y="1798320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AB30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1M+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2220" y="233172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1-10 см аралығы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982" y="259842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Өте қауіпті фрагменттер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71610" y="1604010"/>
            <a:ext cx="2731770" cy="1922145"/>
          </a:xfrm>
          <a:custGeom>
            <a:avLst/>
            <a:gdLst/>
            <a:ahLst/>
            <a:cxnLst/>
            <a:rect l="l" t="t" r="r" b="b"/>
            <a:pathLst>
              <a:path w="2731770" h="1922145">
                <a:moveTo>
                  <a:pt x="114291" y="0"/>
                </a:moveTo>
                <a:lnTo>
                  <a:pt x="2617479" y="0"/>
                </a:lnTo>
                <a:cubicBezTo>
                  <a:pt x="2680600" y="0"/>
                  <a:pt x="2731770" y="51170"/>
                  <a:pt x="2731770" y="114291"/>
                </a:cubicBezTo>
                <a:lnTo>
                  <a:pt x="2731770" y="1807854"/>
                </a:lnTo>
                <a:cubicBezTo>
                  <a:pt x="2731770" y="1870975"/>
                  <a:pt x="2680600" y="1922145"/>
                  <a:pt x="2617479" y="1922145"/>
                </a:cubicBezTo>
                <a:lnTo>
                  <a:pt x="114291" y="1922145"/>
                </a:lnTo>
                <a:cubicBezTo>
                  <a:pt x="51170" y="1922145"/>
                  <a:pt x="0" y="1870975"/>
                  <a:pt x="0" y="180785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>
                  <a:alpha val="20000"/>
                </a:srgbClr>
              </a:gs>
              <a:gs pos="100000">
                <a:srgbClr val="EF4444">
                  <a:alpha val="5000"/>
                </a:srgbClr>
              </a:gs>
            </a:gsLst>
            <a:lin ang="2700000" scaled="1"/>
          </a:gradFill>
          <a:ln w="1016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1620" y="1798320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130M+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27820" y="233172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мм-ден үлкен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32582" y="259842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Барлық қоқыстар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3760471"/>
            <a:ext cx="5589270" cy="2712720"/>
          </a:xfrm>
          <a:custGeom>
            <a:avLst/>
            <a:gdLst/>
            <a:ahLst/>
            <a:cxnLst/>
            <a:rect l="l" t="t" r="r" b="b"/>
            <a:pathLst>
              <a:path w="5589270" h="2712720">
                <a:moveTo>
                  <a:pt x="114287" y="0"/>
                </a:moveTo>
                <a:lnTo>
                  <a:pt x="5474983" y="0"/>
                </a:lnTo>
                <a:cubicBezTo>
                  <a:pt x="5538102" y="0"/>
                  <a:pt x="5589270" y="51168"/>
                  <a:pt x="5589270" y="114287"/>
                </a:cubicBezTo>
                <a:lnTo>
                  <a:pt x="5589270" y="2598433"/>
                </a:lnTo>
                <a:cubicBezTo>
                  <a:pt x="5589270" y="2661552"/>
                  <a:pt x="5538102" y="2712720"/>
                  <a:pt x="5474983" y="2712720"/>
                </a:cubicBezTo>
                <a:lnTo>
                  <a:pt x="114287" y="2712720"/>
                </a:lnTo>
                <a:cubicBezTo>
                  <a:pt x="51168" y="2712720"/>
                  <a:pt x="0" y="2661552"/>
                  <a:pt x="0" y="2598433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2932" y="39928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817245" y="395478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Орбиталар бойынша бөлініс</a:t>
            </a:r>
            <a:endParaRPr lang="en-US" sz="1600" dirty="0"/>
          </a:p>
        </p:txBody>
      </p:sp>
      <p:pic>
        <p:nvPicPr>
          <p:cNvPr id="24" name="Image 0" descr="https://kimi-img.moonshot.cn/pub/slides/26-02-27-16:11:01-d6gl35drnuiul2v66j60.png"/>
          <p:cNvPicPr>
            <a:picLocks noChangeAspect="1"/>
          </p:cNvPicPr>
          <p:nvPr/>
        </p:nvPicPr>
        <p:blipFill>
          <a:blip r:embed="rId3"/>
          <a:srcRect t="37" b="37"/>
          <a:stretch/>
        </p:blipFill>
        <p:spPr>
          <a:xfrm>
            <a:off x="579120" y="4373880"/>
            <a:ext cx="520065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25" name="Shape 22"/>
          <p:cNvSpPr/>
          <p:nvPr/>
        </p:nvSpPr>
        <p:spPr>
          <a:xfrm>
            <a:off x="6214110" y="3760471"/>
            <a:ext cx="5589270" cy="2712720"/>
          </a:xfrm>
          <a:custGeom>
            <a:avLst/>
            <a:gdLst/>
            <a:ahLst/>
            <a:cxnLst/>
            <a:rect l="l" t="t" r="r" b="b"/>
            <a:pathLst>
              <a:path w="5589270" h="2712720">
                <a:moveTo>
                  <a:pt x="114287" y="0"/>
                </a:moveTo>
                <a:lnTo>
                  <a:pt x="5474983" y="0"/>
                </a:lnTo>
                <a:cubicBezTo>
                  <a:pt x="5538102" y="0"/>
                  <a:pt x="5589270" y="51168"/>
                  <a:pt x="5589270" y="114287"/>
                </a:cubicBezTo>
                <a:lnTo>
                  <a:pt x="5589270" y="2598433"/>
                </a:lnTo>
                <a:cubicBezTo>
                  <a:pt x="5589270" y="2661552"/>
                  <a:pt x="5538102" y="2712720"/>
                  <a:pt x="5474983" y="2712720"/>
                </a:cubicBezTo>
                <a:lnTo>
                  <a:pt x="114287" y="2712720"/>
                </a:lnTo>
                <a:cubicBezTo>
                  <a:pt x="51168" y="2712720"/>
                  <a:pt x="0" y="2661552"/>
                  <a:pt x="0" y="2598433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32232" y="39928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6646545" y="395478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Қауіп деңгейі бойынша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08420" y="4373880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Катастрофалық (&gt;10 см)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110913" y="4373880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36,500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08420" y="4640580"/>
            <a:ext cx="5200650" cy="95250"/>
          </a:xfrm>
          <a:custGeom>
            <a:avLst/>
            <a:gdLst/>
            <a:ahLst/>
            <a:cxnLst/>
            <a:rect l="l" t="t" r="r" b="b"/>
            <a:pathLst>
              <a:path w="5200650" h="95250">
                <a:moveTo>
                  <a:pt x="47625" y="0"/>
                </a:moveTo>
                <a:lnTo>
                  <a:pt x="5153025" y="0"/>
                </a:lnTo>
                <a:cubicBezTo>
                  <a:pt x="5179310" y="0"/>
                  <a:pt x="5200650" y="21340"/>
                  <a:pt x="5200650" y="47625"/>
                </a:cubicBezTo>
                <a:lnTo>
                  <a:pt x="5200650" y="47625"/>
                </a:lnTo>
                <a:cubicBezTo>
                  <a:pt x="5200650" y="73910"/>
                  <a:pt x="5179310" y="95250"/>
                  <a:pt x="51530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1" name="Shape 28"/>
          <p:cNvSpPr/>
          <p:nvPr/>
        </p:nvSpPr>
        <p:spPr>
          <a:xfrm>
            <a:off x="6408420" y="4640580"/>
            <a:ext cx="5200650" cy="95250"/>
          </a:xfrm>
          <a:custGeom>
            <a:avLst/>
            <a:gdLst/>
            <a:ahLst/>
            <a:cxnLst/>
            <a:rect l="l" t="t" r="r" b="b"/>
            <a:pathLst>
              <a:path w="5200650" h="95250">
                <a:moveTo>
                  <a:pt x="47625" y="0"/>
                </a:moveTo>
                <a:lnTo>
                  <a:pt x="5153025" y="0"/>
                </a:lnTo>
                <a:cubicBezTo>
                  <a:pt x="5179310" y="0"/>
                  <a:pt x="5200650" y="21340"/>
                  <a:pt x="5200650" y="47625"/>
                </a:cubicBezTo>
                <a:lnTo>
                  <a:pt x="5200650" y="47625"/>
                </a:lnTo>
                <a:cubicBezTo>
                  <a:pt x="5200650" y="73910"/>
                  <a:pt x="5179310" y="95250"/>
                  <a:pt x="51530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2" name="Text 29"/>
          <p:cNvSpPr/>
          <p:nvPr/>
        </p:nvSpPr>
        <p:spPr>
          <a:xfrm>
            <a:off x="6408420" y="485013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Жоғары (1-10 см)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902435" y="485013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1,000,000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08420" y="5116830"/>
            <a:ext cx="5200650" cy="95250"/>
          </a:xfrm>
          <a:custGeom>
            <a:avLst/>
            <a:gdLst/>
            <a:ahLst/>
            <a:cxnLst/>
            <a:rect l="l" t="t" r="r" b="b"/>
            <a:pathLst>
              <a:path w="5200650" h="95250">
                <a:moveTo>
                  <a:pt x="47625" y="0"/>
                </a:moveTo>
                <a:lnTo>
                  <a:pt x="5153025" y="0"/>
                </a:lnTo>
                <a:cubicBezTo>
                  <a:pt x="5179310" y="0"/>
                  <a:pt x="5200650" y="21340"/>
                  <a:pt x="5200650" y="47625"/>
                </a:cubicBezTo>
                <a:lnTo>
                  <a:pt x="5200650" y="47625"/>
                </a:lnTo>
                <a:cubicBezTo>
                  <a:pt x="5200650" y="73910"/>
                  <a:pt x="5179310" y="95250"/>
                  <a:pt x="51530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5" name="Shape 32"/>
          <p:cNvSpPr/>
          <p:nvPr/>
        </p:nvSpPr>
        <p:spPr>
          <a:xfrm>
            <a:off x="6408420" y="5116830"/>
            <a:ext cx="4419600" cy="95250"/>
          </a:xfrm>
          <a:custGeom>
            <a:avLst/>
            <a:gdLst/>
            <a:ahLst/>
            <a:cxnLst/>
            <a:rect l="l" t="t" r="r" b="b"/>
            <a:pathLst>
              <a:path w="4419600" h="95250">
                <a:moveTo>
                  <a:pt x="47625" y="0"/>
                </a:moveTo>
                <a:lnTo>
                  <a:pt x="4371975" y="0"/>
                </a:lnTo>
                <a:cubicBezTo>
                  <a:pt x="4398260" y="0"/>
                  <a:pt x="4419600" y="21340"/>
                  <a:pt x="4419600" y="47625"/>
                </a:cubicBezTo>
                <a:lnTo>
                  <a:pt x="4419600" y="47625"/>
                </a:lnTo>
                <a:cubicBezTo>
                  <a:pt x="4419600" y="73910"/>
                  <a:pt x="4398260" y="95250"/>
                  <a:pt x="43719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6408420" y="532638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Орташа (1 мм - 1 см)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717292" y="532638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AB30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130,000,000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08420" y="5593080"/>
            <a:ext cx="5200650" cy="95250"/>
          </a:xfrm>
          <a:custGeom>
            <a:avLst/>
            <a:gdLst/>
            <a:ahLst/>
            <a:cxnLst/>
            <a:rect l="l" t="t" r="r" b="b"/>
            <a:pathLst>
              <a:path w="5200650" h="95250">
                <a:moveTo>
                  <a:pt x="47625" y="0"/>
                </a:moveTo>
                <a:lnTo>
                  <a:pt x="5153025" y="0"/>
                </a:lnTo>
                <a:cubicBezTo>
                  <a:pt x="5179310" y="0"/>
                  <a:pt x="5200650" y="21340"/>
                  <a:pt x="5200650" y="47625"/>
                </a:cubicBezTo>
                <a:lnTo>
                  <a:pt x="5200650" y="47625"/>
                </a:lnTo>
                <a:cubicBezTo>
                  <a:pt x="5200650" y="73910"/>
                  <a:pt x="5179310" y="95250"/>
                  <a:pt x="51530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9" name="Shape 36"/>
          <p:cNvSpPr/>
          <p:nvPr/>
        </p:nvSpPr>
        <p:spPr>
          <a:xfrm>
            <a:off x="6408420" y="5593080"/>
            <a:ext cx="3638550" cy="95250"/>
          </a:xfrm>
          <a:custGeom>
            <a:avLst/>
            <a:gdLst/>
            <a:ahLst/>
            <a:cxnLst/>
            <a:rect l="l" t="t" r="r" b="b"/>
            <a:pathLst>
              <a:path w="3638550" h="95250">
                <a:moveTo>
                  <a:pt x="47625" y="0"/>
                </a:moveTo>
                <a:lnTo>
                  <a:pt x="3590925" y="0"/>
                </a:lnTo>
                <a:cubicBezTo>
                  <a:pt x="3617210" y="0"/>
                  <a:pt x="3638550" y="21340"/>
                  <a:pt x="3638550" y="47625"/>
                </a:cubicBezTo>
                <a:lnTo>
                  <a:pt x="3638550" y="47625"/>
                </a:lnTo>
                <a:cubicBezTo>
                  <a:pt x="3638550" y="73910"/>
                  <a:pt x="3617210" y="95250"/>
                  <a:pt x="35909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40" name="Text 37"/>
          <p:cNvSpPr/>
          <p:nvPr/>
        </p:nvSpPr>
        <p:spPr>
          <a:xfrm>
            <a:off x="6408420" y="580263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Төмен (&lt;1 мм)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466427" y="580263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Миллиардтаған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08420" y="6069330"/>
            <a:ext cx="5200650" cy="95250"/>
          </a:xfrm>
          <a:custGeom>
            <a:avLst/>
            <a:gdLst/>
            <a:ahLst/>
            <a:cxnLst/>
            <a:rect l="l" t="t" r="r" b="b"/>
            <a:pathLst>
              <a:path w="5200650" h="95250">
                <a:moveTo>
                  <a:pt x="47625" y="0"/>
                </a:moveTo>
                <a:lnTo>
                  <a:pt x="5153025" y="0"/>
                </a:lnTo>
                <a:cubicBezTo>
                  <a:pt x="5179310" y="0"/>
                  <a:pt x="5200650" y="21340"/>
                  <a:pt x="5200650" y="47625"/>
                </a:cubicBezTo>
                <a:lnTo>
                  <a:pt x="5200650" y="47625"/>
                </a:lnTo>
                <a:cubicBezTo>
                  <a:pt x="5200650" y="73910"/>
                  <a:pt x="5179310" y="95250"/>
                  <a:pt x="51530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3" name="Shape 40"/>
          <p:cNvSpPr/>
          <p:nvPr/>
        </p:nvSpPr>
        <p:spPr>
          <a:xfrm>
            <a:off x="6408420" y="6069330"/>
            <a:ext cx="2600325" cy="95250"/>
          </a:xfrm>
          <a:custGeom>
            <a:avLst/>
            <a:gdLst/>
            <a:ahLst/>
            <a:cxnLst/>
            <a:rect l="l" t="t" r="r" b="b"/>
            <a:pathLst>
              <a:path w="2600325" h="95250">
                <a:moveTo>
                  <a:pt x="47625" y="0"/>
                </a:moveTo>
                <a:lnTo>
                  <a:pt x="2552700" y="0"/>
                </a:lnTo>
                <a:cubicBezTo>
                  <a:pt x="2578985" y="0"/>
                  <a:pt x="2600325" y="21340"/>
                  <a:pt x="2600325" y="47625"/>
                </a:cubicBezTo>
                <a:lnTo>
                  <a:pt x="2600325" y="47625"/>
                </a:lnTo>
                <a:cubicBezTo>
                  <a:pt x="2600325" y="73910"/>
                  <a:pt x="2578985" y="95250"/>
                  <a:pt x="25527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sa.int/5ec9cb7f3c2a6a86dda04e00eea7c786dad43c46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3365" b="1336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20617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20617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 THREAT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Kessler Синдромы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Каскадты апат сценарийі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604010"/>
            <a:ext cx="5589270" cy="1474470"/>
          </a:xfrm>
          <a:custGeom>
            <a:avLst/>
            <a:gdLst/>
            <a:ahLst/>
            <a:cxnLst/>
            <a:rect l="l" t="t" r="r" b="b"/>
            <a:pathLst>
              <a:path w="5589270" h="1474470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1360169"/>
                </a:lnTo>
                <a:cubicBezTo>
                  <a:pt x="5589270" y="1423296"/>
                  <a:pt x="5538096" y="1474470"/>
                  <a:pt x="547496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9120" y="17983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45808" y="19507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1264920" y="179832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Тарихы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64920" y="2141220"/>
            <a:ext cx="4591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1978 жылы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NASA ғалымы 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Дональд Кесслер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бұл теорияны ұсынды. Бір соқтығысу жаңа фрагменттер тудырады, олар басқа соқтығыстарға себеп болады - </a:t>
            </a:r>
            <a:r>
              <a:rPr lang="en-US" sz="120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каскадты эффект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4810" y="3276601"/>
            <a:ext cx="5589270" cy="2369820"/>
          </a:xfrm>
          <a:custGeom>
            <a:avLst/>
            <a:gdLst/>
            <a:ahLst/>
            <a:cxnLst/>
            <a:rect l="l" t="t" r="r" b="b"/>
            <a:pathLst>
              <a:path w="5589270" h="23698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2255524"/>
                </a:lnTo>
                <a:cubicBezTo>
                  <a:pt x="5589270" y="2318648"/>
                  <a:pt x="5538098" y="2369820"/>
                  <a:pt x="5474974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2932" y="35090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817245" y="3470911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Каскадты эффект механизмі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9120" y="38900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45782" y="389001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98220" y="3928111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Екі объект соқтығысады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79120" y="43091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45782" y="430911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98220" y="4347211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Жүздеген жаңа фрагменттер пайда болады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79120" y="47282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45782" y="472821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98220" y="4766311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Фрагменттер басқа объектілермен соқтығысады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9120" y="51473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45782" y="514731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98220" y="5185411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Экспоненциалды өсім - ғарышты қолдануға жарамсыз етеді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14110" y="1604010"/>
            <a:ext cx="5589270" cy="2712720"/>
          </a:xfrm>
          <a:custGeom>
            <a:avLst/>
            <a:gdLst/>
            <a:ahLst/>
            <a:cxnLst/>
            <a:rect l="l" t="t" r="r" b="b"/>
            <a:pathLst>
              <a:path w="5589270" h="2712720">
                <a:moveTo>
                  <a:pt x="114287" y="0"/>
                </a:moveTo>
                <a:lnTo>
                  <a:pt x="5474983" y="0"/>
                </a:lnTo>
                <a:cubicBezTo>
                  <a:pt x="5538102" y="0"/>
                  <a:pt x="5589270" y="51168"/>
                  <a:pt x="5589270" y="114287"/>
                </a:cubicBezTo>
                <a:lnTo>
                  <a:pt x="5589270" y="2598433"/>
                </a:lnTo>
                <a:cubicBezTo>
                  <a:pt x="5589270" y="2661552"/>
                  <a:pt x="5538102" y="2712720"/>
                  <a:pt x="5474983" y="2712720"/>
                </a:cubicBezTo>
                <a:lnTo>
                  <a:pt x="114287" y="2712720"/>
                </a:lnTo>
                <a:cubicBezTo>
                  <a:pt x="51168" y="2712720"/>
                  <a:pt x="0" y="2661552"/>
                  <a:pt x="0" y="2598433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8420" y="179832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Соқтығыстар санының өсуі</a:t>
            </a:r>
            <a:endParaRPr lang="en-US" sz="1600" dirty="0"/>
          </a:p>
        </p:txBody>
      </p:sp>
      <p:pic>
        <p:nvPicPr>
          <p:cNvPr id="29" name="Image 1" descr="https://kimi-img.moonshot.cn/pub/slides/26-02-27-16:11:02-d6gl35ktr22umge7tcgg.png"/>
          <p:cNvPicPr>
            <a:picLocks noChangeAspect="1"/>
          </p:cNvPicPr>
          <p:nvPr/>
        </p:nvPicPr>
        <p:blipFill>
          <a:blip r:embed="rId4"/>
          <a:srcRect t="37" b="37"/>
          <a:stretch/>
        </p:blipFill>
        <p:spPr>
          <a:xfrm>
            <a:off x="6408420" y="2217420"/>
            <a:ext cx="520065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30" name="Shape 26"/>
          <p:cNvSpPr/>
          <p:nvPr/>
        </p:nvSpPr>
        <p:spPr>
          <a:xfrm>
            <a:off x="6214110" y="4514851"/>
            <a:ext cx="5589270" cy="1379220"/>
          </a:xfrm>
          <a:custGeom>
            <a:avLst/>
            <a:gdLst/>
            <a:ahLst/>
            <a:cxnLst/>
            <a:rect l="l" t="t" r="r" b="b"/>
            <a:pathLst>
              <a:path w="5589270" h="137922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1264924"/>
                </a:lnTo>
                <a:cubicBezTo>
                  <a:pt x="5589270" y="1328048"/>
                  <a:pt x="5538098" y="1379220"/>
                  <a:pt x="5474974" y="1379220"/>
                </a:cubicBezTo>
                <a:lnTo>
                  <a:pt x="114296" y="1379220"/>
                </a:lnTo>
                <a:cubicBezTo>
                  <a:pt x="51172" y="1379220"/>
                  <a:pt x="0" y="1328048"/>
                  <a:pt x="0" y="126492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>
                  <a:alpha val="20000"/>
                </a:srgbClr>
              </a:gs>
              <a:gs pos="100000">
                <a:srgbClr val="EF4444">
                  <a:alpha val="5000"/>
                </a:srgbClr>
              </a:gs>
            </a:gsLst>
            <a:lin ang="2700000" scaled="1"/>
          </a:gradFill>
          <a:ln w="1016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370320" y="503301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81295" y="0"/>
                  <a:pt x="190336" y="5425"/>
                  <a:pt x="195024" y="14064"/>
                </a:cubicBezTo>
                <a:lnTo>
                  <a:pt x="339685" y="281955"/>
                </a:lnTo>
                <a:cubicBezTo>
                  <a:pt x="344172" y="290259"/>
                  <a:pt x="343972" y="300305"/>
                  <a:pt x="339150" y="308409"/>
                </a:cubicBezTo>
                <a:cubicBezTo>
                  <a:pt x="334328" y="316513"/>
                  <a:pt x="325554" y="321469"/>
                  <a:pt x="316111" y="321469"/>
                </a:cubicBezTo>
                <a:lnTo>
                  <a:pt x="26789" y="321469"/>
                </a:lnTo>
                <a:cubicBezTo>
                  <a:pt x="17346" y="321469"/>
                  <a:pt x="8639" y="316513"/>
                  <a:pt x="3750" y="308409"/>
                </a:cubicBezTo>
                <a:cubicBezTo>
                  <a:pt x="-1139" y="300305"/>
                  <a:pt x="-1272" y="290259"/>
                  <a:pt x="3215" y="281955"/>
                </a:cubicBezTo>
                <a:lnTo>
                  <a:pt x="147876" y="14064"/>
                </a:lnTo>
                <a:cubicBezTo>
                  <a:pt x="152564" y="5425"/>
                  <a:pt x="161605" y="0"/>
                  <a:pt x="171450" y="0"/>
                </a:cubicBezTo>
                <a:close/>
                <a:moveTo>
                  <a:pt x="171450" y="112514"/>
                </a:moveTo>
                <a:cubicBezTo>
                  <a:pt x="162543" y="112514"/>
                  <a:pt x="155377" y="119680"/>
                  <a:pt x="155377" y="128588"/>
                </a:cubicBezTo>
                <a:lnTo>
                  <a:pt x="155377" y="203597"/>
                </a:lnTo>
                <a:cubicBezTo>
                  <a:pt x="155377" y="212504"/>
                  <a:pt x="162543" y="219670"/>
                  <a:pt x="171450" y="219670"/>
                </a:cubicBezTo>
                <a:cubicBezTo>
                  <a:pt x="180357" y="219670"/>
                  <a:pt x="187523" y="212504"/>
                  <a:pt x="187523" y="203597"/>
                </a:cubicBezTo>
                <a:lnTo>
                  <a:pt x="187523" y="128588"/>
                </a:lnTo>
                <a:cubicBezTo>
                  <a:pt x="187523" y="119680"/>
                  <a:pt x="180357" y="112514"/>
                  <a:pt x="171450" y="112514"/>
                </a:cubicBezTo>
                <a:close/>
                <a:moveTo>
                  <a:pt x="189332" y="257175"/>
                </a:moveTo>
                <a:cubicBezTo>
                  <a:pt x="189738" y="250538"/>
                  <a:pt x="186428" y="244223"/>
                  <a:pt x="180738" y="240781"/>
                </a:cubicBezTo>
                <a:cubicBezTo>
                  <a:pt x="175048" y="237339"/>
                  <a:pt x="167919" y="237339"/>
                  <a:pt x="162229" y="240781"/>
                </a:cubicBezTo>
                <a:cubicBezTo>
                  <a:pt x="156539" y="244223"/>
                  <a:pt x="153228" y="250538"/>
                  <a:pt x="153635" y="257175"/>
                </a:cubicBezTo>
                <a:cubicBezTo>
                  <a:pt x="153228" y="263812"/>
                  <a:pt x="156539" y="270127"/>
                  <a:pt x="162229" y="273569"/>
                </a:cubicBezTo>
                <a:cubicBezTo>
                  <a:pt x="167919" y="277011"/>
                  <a:pt x="175048" y="277011"/>
                  <a:pt x="180738" y="273569"/>
                </a:cubicBezTo>
                <a:cubicBezTo>
                  <a:pt x="186428" y="270127"/>
                  <a:pt x="189738" y="263812"/>
                  <a:pt x="189332" y="2571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2" name="Text 28"/>
          <p:cNvSpPr/>
          <p:nvPr/>
        </p:nvSpPr>
        <p:spPr>
          <a:xfrm>
            <a:off x="6827639" y="4709161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Теріс салдар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827639" y="5013961"/>
            <a:ext cx="4857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Kessler синдромы іске асса, ғарышты </a:t>
            </a:r>
            <a:r>
              <a:rPr lang="en-US" sz="120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жүздеген жылдарға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қолдануға жарамсыз етеді. Байланыс, навигация, ауа-райы болжамы - барлығы тоқтауы мүмкін.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Жобаның мақсаты мен міндеттері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SpaceAI Monitor не істейді?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5589270" cy="1722120"/>
          </a:xfrm>
          <a:custGeom>
            <a:avLst/>
            <a:gdLst/>
            <a:ahLst/>
            <a:cxnLst/>
            <a:rect l="l" t="t" r="r" b="b"/>
            <a:pathLst>
              <a:path w="5589270" h="1722120">
                <a:moveTo>
                  <a:pt x="114297" y="0"/>
                </a:moveTo>
                <a:lnTo>
                  <a:pt x="5474973" y="0"/>
                </a:lnTo>
                <a:cubicBezTo>
                  <a:pt x="5538097" y="0"/>
                  <a:pt x="5589270" y="51173"/>
                  <a:pt x="5589270" y="114297"/>
                </a:cubicBezTo>
                <a:lnTo>
                  <a:pt x="5589270" y="1607823"/>
                </a:lnTo>
                <a:cubicBezTo>
                  <a:pt x="5589270" y="1670947"/>
                  <a:pt x="5538097" y="1722120"/>
                  <a:pt x="547497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8364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1526" y="19983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379220" y="183642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Негізгі мақсат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9220" y="2255402"/>
            <a:ext cx="44481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Жасанды Интеллект көмегімен </a:t>
            </a:r>
            <a:r>
              <a:rPr lang="en-US" sz="135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жер маңындағы орбитадағы</a:t>
            </a:r>
            <a:r>
              <a:rPr lang="en-US" sz="13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спутниктер мен ғарыш қоқыстарын бақылау және </a:t>
            </a:r>
            <a:r>
              <a:rPr lang="en-US" sz="135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соқтығысу қаупін ерте анықтау</a:t>
            </a:r>
            <a:r>
              <a:rPr lang="en-US" sz="13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3521749"/>
            <a:ext cx="5589270" cy="2979420"/>
          </a:xfrm>
          <a:custGeom>
            <a:avLst/>
            <a:gdLst/>
            <a:ahLst/>
            <a:cxnLst/>
            <a:rect l="l" t="t" r="r" b="b"/>
            <a:pathLst>
              <a:path w="5589270" h="2979420">
                <a:moveTo>
                  <a:pt x="114291" y="0"/>
                </a:moveTo>
                <a:lnTo>
                  <a:pt x="5474979" y="0"/>
                </a:lnTo>
                <a:cubicBezTo>
                  <a:pt x="5538100" y="0"/>
                  <a:pt x="5589270" y="51170"/>
                  <a:pt x="5589270" y="114291"/>
                </a:cubicBezTo>
                <a:lnTo>
                  <a:pt x="5589270" y="2865129"/>
                </a:lnTo>
                <a:cubicBezTo>
                  <a:pt x="5589270" y="2928250"/>
                  <a:pt x="5538100" y="2979420"/>
                  <a:pt x="5474979" y="2979420"/>
                </a:cubicBezTo>
                <a:lnTo>
                  <a:pt x="114291" y="2979420"/>
                </a:lnTo>
                <a:cubicBezTo>
                  <a:pt x="51170" y="2979420"/>
                  <a:pt x="0" y="2928250"/>
                  <a:pt x="0" y="286512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2932" y="375416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817245" y="3716062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Негізгі міндеттер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" y="4135162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12470" y="42875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998220" y="4249462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100,000+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ғарыш нысанын бақылау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9120" y="4706662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2470" y="48590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998220" y="4820962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Тәулігіне 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нақты уақытты мониторинг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9120" y="5278162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7316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2470" y="54305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998220" y="5392462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LEO, MEO, GEO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орбиталарын қамту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9120" y="5849662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12470" y="60020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998220" y="5963962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Қауіпті жұптарды 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автоматты анықтау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4110" y="1604010"/>
            <a:ext cx="5589270" cy="3141345"/>
          </a:xfrm>
          <a:custGeom>
            <a:avLst/>
            <a:gdLst/>
            <a:ahLst/>
            <a:cxnLst/>
            <a:rect l="l" t="t" r="r" b="b"/>
            <a:pathLst>
              <a:path w="5589270" h="3141345">
                <a:moveTo>
                  <a:pt x="114314" y="0"/>
                </a:moveTo>
                <a:lnTo>
                  <a:pt x="5474956" y="0"/>
                </a:lnTo>
                <a:cubicBezTo>
                  <a:pt x="5538090" y="0"/>
                  <a:pt x="5589270" y="51180"/>
                  <a:pt x="5589270" y="114314"/>
                </a:cubicBezTo>
                <a:lnTo>
                  <a:pt x="5589270" y="3027031"/>
                </a:lnTo>
                <a:cubicBezTo>
                  <a:pt x="5589270" y="3090165"/>
                  <a:pt x="5538090" y="3141345"/>
                  <a:pt x="5474956" y="3141345"/>
                </a:cubicBezTo>
                <a:lnTo>
                  <a:pt x="114314" y="3141345"/>
                </a:lnTo>
                <a:cubicBezTo>
                  <a:pt x="51180" y="3141345"/>
                  <a:pt x="0" y="3090165"/>
                  <a:pt x="0" y="3027031"/>
                </a:cubicBezTo>
                <a:lnTo>
                  <a:pt x="0" y="114314"/>
                </a:lnTo>
                <a:cubicBezTo>
                  <a:pt x="0" y="51222"/>
                  <a:pt x="51222" y="0"/>
                  <a:pt x="11431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2232" y="18364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646545" y="179832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Қамтитын орбиталар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12230" y="2221233"/>
            <a:ext cx="5198745" cy="693420"/>
          </a:xfrm>
          <a:custGeom>
            <a:avLst/>
            <a:gdLst/>
            <a:ahLst/>
            <a:cxnLst/>
            <a:rect l="l" t="t" r="r" b="b"/>
            <a:pathLst>
              <a:path w="5198745" h="693420">
                <a:moveTo>
                  <a:pt x="76200" y="0"/>
                </a:moveTo>
                <a:lnTo>
                  <a:pt x="5122545" y="0"/>
                </a:lnTo>
                <a:cubicBezTo>
                  <a:pt x="5164629" y="0"/>
                  <a:pt x="5198745" y="34116"/>
                  <a:pt x="5198745" y="76200"/>
                </a:cubicBezTo>
                <a:lnTo>
                  <a:pt x="5198745" y="617220"/>
                </a:lnTo>
                <a:cubicBezTo>
                  <a:pt x="5198745" y="659304"/>
                  <a:pt x="5164629" y="693420"/>
                  <a:pt x="51225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0340" y="2339341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 (Low Earth Orbit)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57761" y="2358391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160-2,000 км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0340" y="2606041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Ең көп спутниктер мен қоқыстар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2230" y="3036569"/>
            <a:ext cx="5198745" cy="693420"/>
          </a:xfrm>
          <a:custGeom>
            <a:avLst/>
            <a:gdLst/>
            <a:ahLst/>
            <a:cxnLst/>
            <a:rect l="l" t="t" r="r" b="b"/>
            <a:pathLst>
              <a:path w="5198745" h="693420">
                <a:moveTo>
                  <a:pt x="76200" y="0"/>
                </a:moveTo>
                <a:lnTo>
                  <a:pt x="5122545" y="0"/>
                </a:lnTo>
                <a:cubicBezTo>
                  <a:pt x="5164629" y="0"/>
                  <a:pt x="5198745" y="34116"/>
                  <a:pt x="5198745" y="76200"/>
                </a:cubicBezTo>
                <a:lnTo>
                  <a:pt x="5198745" y="617220"/>
                </a:lnTo>
                <a:cubicBezTo>
                  <a:pt x="5198745" y="659304"/>
                  <a:pt x="5164629" y="693420"/>
                  <a:pt x="51225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0340" y="3154682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MEO (Medium Earth Orbit)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49877" y="3173732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2,000-35,786 км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0340" y="3421382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GPS, Глонасс навигациялық жүйелері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2230" y="3851910"/>
            <a:ext cx="5198745" cy="693420"/>
          </a:xfrm>
          <a:custGeom>
            <a:avLst/>
            <a:gdLst/>
            <a:ahLst/>
            <a:cxnLst/>
            <a:rect l="l" t="t" r="r" b="b"/>
            <a:pathLst>
              <a:path w="5198745" h="693420">
                <a:moveTo>
                  <a:pt x="76200" y="0"/>
                </a:moveTo>
                <a:lnTo>
                  <a:pt x="5122545" y="0"/>
                </a:lnTo>
                <a:cubicBezTo>
                  <a:pt x="5164629" y="0"/>
                  <a:pt x="5198745" y="34116"/>
                  <a:pt x="5198745" y="76200"/>
                </a:cubicBezTo>
                <a:lnTo>
                  <a:pt x="5198745" y="617220"/>
                </a:lnTo>
                <a:cubicBezTo>
                  <a:pt x="5198745" y="659304"/>
                  <a:pt x="5164629" y="693420"/>
                  <a:pt x="51225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7316">
              <a:alpha val="10196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0340" y="3970023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GEO (Geostationary Orbit)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869216" y="3989073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35,786 км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30340" y="4236723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Байланыс спутниктері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4110" y="4941569"/>
            <a:ext cx="5589270" cy="922020"/>
          </a:xfrm>
          <a:custGeom>
            <a:avLst/>
            <a:gdLst/>
            <a:ahLst/>
            <a:cxnLst/>
            <a:rect l="l" t="t" r="r" b="b"/>
            <a:pathLst>
              <a:path w="5589270" h="922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807717"/>
                </a:lnTo>
                <a:cubicBezTo>
                  <a:pt x="5589270" y="870845"/>
                  <a:pt x="5538095" y="922020"/>
                  <a:pt x="54749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20000"/>
                </a:srgbClr>
              </a:gs>
              <a:gs pos="100000">
                <a:srgbClr val="22C55E">
                  <a:alpha val="5000"/>
                </a:srgbClr>
              </a:gs>
            </a:gsLst>
            <a:lin ang="2700000" scaled="1"/>
          </a:gradFill>
          <a:ln w="1016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82239" y="525970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6918007" y="5135882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Инновациялық шешім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18007" y="5440682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Классикалық физиканы ЖИ модельдерімен біріктіру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Технологиялық шешім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ЖИ + Орбиталық механика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3674745" cy="3093720"/>
          </a:xfrm>
          <a:custGeom>
            <a:avLst/>
            <a:gdLst/>
            <a:ahLst/>
            <a:cxnLst/>
            <a:rect l="l" t="t" r="r" b="b"/>
            <a:pathLst>
              <a:path w="3674745" h="3093720">
                <a:moveTo>
                  <a:pt x="114313" y="0"/>
                </a:moveTo>
                <a:lnTo>
                  <a:pt x="3560432" y="0"/>
                </a:lnTo>
                <a:cubicBezTo>
                  <a:pt x="3623565" y="0"/>
                  <a:pt x="3674745" y="51180"/>
                  <a:pt x="3674745" y="114313"/>
                </a:cubicBezTo>
                <a:lnTo>
                  <a:pt x="3674745" y="2979407"/>
                </a:lnTo>
                <a:cubicBezTo>
                  <a:pt x="3674745" y="3042540"/>
                  <a:pt x="3623565" y="3093720"/>
                  <a:pt x="3560432" y="3093720"/>
                </a:cubicBezTo>
                <a:lnTo>
                  <a:pt x="114313" y="3093720"/>
                </a:lnTo>
                <a:cubicBezTo>
                  <a:pt x="51180" y="3093720"/>
                  <a:pt x="0" y="3042540"/>
                  <a:pt x="0" y="2979407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7983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5808" y="19507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78058"/>
                </a:moveTo>
                <a:cubicBezTo>
                  <a:pt x="94744" y="180335"/>
                  <a:pt x="89565" y="182389"/>
                  <a:pt x="84430" y="184086"/>
                </a:cubicBezTo>
                <a:cubicBezTo>
                  <a:pt x="91886" y="199177"/>
                  <a:pt x="98271" y="200025"/>
                  <a:pt x="100013" y="200025"/>
                </a:cubicBezTo>
                <a:cubicBezTo>
                  <a:pt x="101754" y="200025"/>
                  <a:pt x="108094" y="199177"/>
                  <a:pt x="115595" y="184086"/>
                </a:cubicBezTo>
                <a:cubicBezTo>
                  <a:pt x="110505" y="182344"/>
                  <a:pt x="105281" y="180335"/>
                  <a:pt x="100012" y="178058"/>
                </a:cubicBezTo>
                <a:close/>
                <a:moveTo>
                  <a:pt x="184845" y="114300"/>
                </a:moveTo>
                <a:cubicBezTo>
                  <a:pt x="199579" y="134481"/>
                  <a:pt x="204624" y="154885"/>
                  <a:pt x="195382" y="171450"/>
                </a:cubicBezTo>
                <a:cubicBezTo>
                  <a:pt x="186363" y="187657"/>
                  <a:pt x="167476" y="193462"/>
                  <a:pt x="143947" y="190738"/>
                </a:cubicBezTo>
                <a:cubicBezTo>
                  <a:pt x="134124" y="214000"/>
                  <a:pt x="119077" y="228600"/>
                  <a:pt x="100013" y="228600"/>
                </a:cubicBezTo>
                <a:cubicBezTo>
                  <a:pt x="80948" y="228600"/>
                  <a:pt x="65901" y="214000"/>
                  <a:pt x="56078" y="190738"/>
                </a:cubicBezTo>
                <a:cubicBezTo>
                  <a:pt x="32549" y="193462"/>
                  <a:pt x="13662" y="187657"/>
                  <a:pt x="4643" y="171450"/>
                </a:cubicBezTo>
                <a:cubicBezTo>
                  <a:pt x="-4599" y="154885"/>
                  <a:pt x="446" y="134481"/>
                  <a:pt x="15180" y="114300"/>
                </a:cubicBezTo>
                <a:cubicBezTo>
                  <a:pt x="446" y="94119"/>
                  <a:pt x="-4599" y="73715"/>
                  <a:pt x="4643" y="57150"/>
                </a:cubicBezTo>
                <a:cubicBezTo>
                  <a:pt x="13662" y="40943"/>
                  <a:pt x="32549" y="35138"/>
                  <a:pt x="56078" y="37862"/>
                </a:cubicBezTo>
                <a:cubicBezTo>
                  <a:pt x="65901" y="14600"/>
                  <a:pt x="80903" y="0"/>
                  <a:pt x="100013" y="0"/>
                </a:cubicBezTo>
                <a:cubicBezTo>
                  <a:pt x="119122" y="0"/>
                  <a:pt x="134124" y="14600"/>
                  <a:pt x="143947" y="37862"/>
                </a:cubicBezTo>
                <a:cubicBezTo>
                  <a:pt x="167476" y="35138"/>
                  <a:pt x="186363" y="40898"/>
                  <a:pt x="195382" y="57150"/>
                </a:cubicBezTo>
                <a:cubicBezTo>
                  <a:pt x="204624" y="73715"/>
                  <a:pt x="199579" y="94119"/>
                  <a:pt x="184845" y="114300"/>
                </a:cubicBezTo>
                <a:close/>
                <a:moveTo>
                  <a:pt x="155466" y="144393"/>
                </a:moveTo>
                <a:cubicBezTo>
                  <a:pt x="154707" y="150733"/>
                  <a:pt x="153725" y="156895"/>
                  <a:pt x="152474" y="162788"/>
                </a:cubicBezTo>
                <a:cubicBezTo>
                  <a:pt x="166673" y="163413"/>
                  <a:pt x="169709" y="158904"/>
                  <a:pt x="170423" y="157564"/>
                </a:cubicBezTo>
                <a:cubicBezTo>
                  <a:pt x="171450" y="155689"/>
                  <a:pt x="173548" y="149572"/>
                  <a:pt x="165110" y="136088"/>
                </a:cubicBezTo>
                <a:cubicBezTo>
                  <a:pt x="162074" y="138901"/>
                  <a:pt x="158859" y="141669"/>
                  <a:pt x="155466" y="144393"/>
                </a:cubicBezTo>
                <a:close/>
                <a:moveTo>
                  <a:pt x="152474" y="65856"/>
                </a:moveTo>
                <a:cubicBezTo>
                  <a:pt x="153725" y="71705"/>
                  <a:pt x="154707" y="77867"/>
                  <a:pt x="155466" y="84252"/>
                </a:cubicBezTo>
                <a:cubicBezTo>
                  <a:pt x="158859" y="86975"/>
                  <a:pt x="162074" y="89743"/>
                  <a:pt x="165110" y="92556"/>
                </a:cubicBezTo>
                <a:cubicBezTo>
                  <a:pt x="173548" y="79072"/>
                  <a:pt x="171450" y="72911"/>
                  <a:pt x="170423" y="71080"/>
                </a:cubicBezTo>
                <a:cubicBezTo>
                  <a:pt x="169709" y="69786"/>
                  <a:pt x="166673" y="65276"/>
                  <a:pt x="152474" y="65856"/>
                </a:cubicBezTo>
                <a:close/>
                <a:moveTo>
                  <a:pt x="115595" y="44514"/>
                </a:moveTo>
                <a:cubicBezTo>
                  <a:pt x="108094" y="29423"/>
                  <a:pt x="101754" y="28575"/>
                  <a:pt x="100013" y="28575"/>
                </a:cubicBezTo>
                <a:cubicBezTo>
                  <a:pt x="98271" y="28575"/>
                  <a:pt x="91931" y="29423"/>
                  <a:pt x="84430" y="44514"/>
                </a:cubicBezTo>
                <a:cubicBezTo>
                  <a:pt x="89520" y="46256"/>
                  <a:pt x="94744" y="48265"/>
                  <a:pt x="100013" y="50542"/>
                </a:cubicBezTo>
                <a:cubicBezTo>
                  <a:pt x="105281" y="48265"/>
                  <a:pt x="110460" y="46211"/>
                  <a:pt x="115595" y="44514"/>
                </a:cubicBezTo>
                <a:close/>
                <a:moveTo>
                  <a:pt x="44604" y="84207"/>
                </a:moveTo>
                <a:cubicBezTo>
                  <a:pt x="45363" y="77822"/>
                  <a:pt x="46345" y="71705"/>
                  <a:pt x="47595" y="65812"/>
                </a:cubicBezTo>
                <a:cubicBezTo>
                  <a:pt x="33397" y="65187"/>
                  <a:pt x="30361" y="69696"/>
                  <a:pt x="29647" y="71036"/>
                </a:cubicBezTo>
                <a:cubicBezTo>
                  <a:pt x="28620" y="72911"/>
                  <a:pt x="26521" y="79028"/>
                  <a:pt x="34960" y="92512"/>
                </a:cubicBezTo>
                <a:cubicBezTo>
                  <a:pt x="37996" y="89699"/>
                  <a:pt x="41211" y="86931"/>
                  <a:pt x="44604" y="84207"/>
                </a:cubicBezTo>
                <a:close/>
                <a:moveTo>
                  <a:pt x="34915" y="136088"/>
                </a:moveTo>
                <a:cubicBezTo>
                  <a:pt x="26477" y="149572"/>
                  <a:pt x="28575" y="155734"/>
                  <a:pt x="29602" y="157564"/>
                </a:cubicBezTo>
                <a:cubicBezTo>
                  <a:pt x="30316" y="158859"/>
                  <a:pt x="33352" y="163369"/>
                  <a:pt x="47551" y="162788"/>
                </a:cubicBezTo>
                <a:cubicBezTo>
                  <a:pt x="46300" y="156939"/>
                  <a:pt x="45318" y="150778"/>
                  <a:pt x="44559" y="144393"/>
                </a:cubicBezTo>
                <a:cubicBezTo>
                  <a:pt x="41166" y="141669"/>
                  <a:pt x="37951" y="138901"/>
                  <a:pt x="34915" y="136088"/>
                </a:cubicBezTo>
                <a:close/>
                <a:moveTo>
                  <a:pt x="135731" y="114300"/>
                </a:moveTo>
                <a:cubicBezTo>
                  <a:pt x="135731" y="94586"/>
                  <a:pt x="119726" y="78581"/>
                  <a:pt x="100013" y="78581"/>
                </a:cubicBezTo>
                <a:cubicBezTo>
                  <a:pt x="80299" y="78581"/>
                  <a:pt x="64294" y="94586"/>
                  <a:pt x="64294" y="114300"/>
                </a:cubicBezTo>
                <a:cubicBezTo>
                  <a:pt x="64294" y="134014"/>
                  <a:pt x="80299" y="150019"/>
                  <a:pt x="100013" y="150019"/>
                </a:cubicBezTo>
                <a:cubicBezTo>
                  <a:pt x="119726" y="150019"/>
                  <a:pt x="135731" y="134014"/>
                  <a:pt x="135731" y="114300"/>
                </a:cubicBezTo>
                <a:close/>
                <a:moveTo>
                  <a:pt x="100013" y="100013"/>
                </a:moveTo>
                <a:cubicBezTo>
                  <a:pt x="107898" y="100013"/>
                  <a:pt x="114300" y="106415"/>
                  <a:pt x="114300" y="114300"/>
                </a:cubicBezTo>
                <a:cubicBezTo>
                  <a:pt x="114300" y="122185"/>
                  <a:pt x="107898" y="128588"/>
                  <a:pt x="100013" y="128588"/>
                </a:cubicBezTo>
                <a:cubicBezTo>
                  <a:pt x="92127" y="128588"/>
                  <a:pt x="85725" y="122185"/>
                  <a:pt x="85725" y="114300"/>
                </a:cubicBezTo>
                <a:cubicBezTo>
                  <a:pt x="85725" y="106415"/>
                  <a:pt x="92127" y="100013"/>
                  <a:pt x="100013" y="10001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79120" y="2484123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 негізі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865123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Классикалық </a:t>
            </a:r>
            <a:r>
              <a:rPr lang="en-US" sz="12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орбиталық механика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заңдарын қолдану: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173" y="354139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008" y="3512823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SGP4 пропагаторы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173" y="380809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08" y="3779523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Кеплер элементтері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173" y="407479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08" y="4046223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Атмосфералық кедергі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173" y="434149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008" y="4312923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Гравитациялық әсерлер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8270" y="1604010"/>
            <a:ext cx="3674745" cy="3093720"/>
          </a:xfrm>
          <a:custGeom>
            <a:avLst/>
            <a:gdLst/>
            <a:ahLst/>
            <a:cxnLst/>
            <a:rect l="l" t="t" r="r" b="b"/>
            <a:pathLst>
              <a:path w="3674745" h="3093720">
                <a:moveTo>
                  <a:pt x="114313" y="0"/>
                </a:moveTo>
                <a:lnTo>
                  <a:pt x="3560432" y="0"/>
                </a:lnTo>
                <a:cubicBezTo>
                  <a:pt x="3623565" y="0"/>
                  <a:pt x="3674745" y="51180"/>
                  <a:pt x="3674745" y="114313"/>
                </a:cubicBezTo>
                <a:lnTo>
                  <a:pt x="3674745" y="2979407"/>
                </a:lnTo>
                <a:cubicBezTo>
                  <a:pt x="3674745" y="3042540"/>
                  <a:pt x="3623565" y="3093720"/>
                  <a:pt x="3560432" y="3093720"/>
                </a:cubicBezTo>
                <a:lnTo>
                  <a:pt x="114313" y="3093720"/>
                </a:lnTo>
                <a:cubicBezTo>
                  <a:pt x="51180" y="3093720"/>
                  <a:pt x="0" y="3042540"/>
                  <a:pt x="0" y="2979407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52580" y="17983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04980" y="19507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4452580" y="2484123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Жасанды Интеллект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52580" y="2865123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Деректерге негізделген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модельдер: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96633" y="329374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695468" y="3265173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 нейрондық желілері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96633" y="356044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695468" y="3531873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 архитектурасы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96633" y="382714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695468" y="3798573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96633" y="4093848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4695468" y="4065273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scoring алгоритмдері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1731" y="1604010"/>
            <a:ext cx="3674745" cy="3093720"/>
          </a:xfrm>
          <a:custGeom>
            <a:avLst/>
            <a:gdLst/>
            <a:ahLst/>
            <a:cxnLst/>
            <a:rect l="l" t="t" r="r" b="b"/>
            <a:pathLst>
              <a:path w="3674745" h="3093720">
                <a:moveTo>
                  <a:pt x="114313" y="0"/>
                </a:moveTo>
                <a:lnTo>
                  <a:pt x="3560432" y="0"/>
                </a:lnTo>
                <a:cubicBezTo>
                  <a:pt x="3623565" y="0"/>
                  <a:pt x="3674745" y="51180"/>
                  <a:pt x="3674745" y="114313"/>
                </a:cubicBezTo>
                <a:lnTo>
                  <a:pt x="3674745" y="2979407"/>
                </a:lnTo>
                <a:cubicBezTo>
                  <a:pt x="3674745" y="3042540"/>
                  <a:pt x="3623565" y="3093720"/>
                  <a:pt x="3560432" y="3093720"/>
                </a:cubicBezTo>
                <a:lnTo>
                  <a:pt x="114313" y="3093720"/>
                </a:lnTo>
                <a:cubicBezTo>
                  <a:pt x="51180" y="3093720"/>
                  <a:pt x="0" y="3042540"/>
                  <a:pt x="0" y="2979407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6041" y="17983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478441" y="19507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3584" y="153591"/>
                </a:moveTo>
                <a:lnTo>
                  <a:pt x="103584" y="125016"/>
                </a:ln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lnTo>
                  <a:pt x="103584" y="103584"/>
                </a:lnTo>
                <a:lnTo>
                  <a:pt x="103584" y="75009"/>
                </a:lnTo>
                <a:cubicBezTo>
                  <a:pt x="103584" y="69071"/>
                  <a:pt x="108362" y="64294"/>
                  <a:pt x="114300" y="64294"/>
                </a:cubicBezTo>
                <a:cubicBezTo>
                  <a:pt x="120238" y="64294"/>
                  <a:pt x="125016" y="69071"/>
                  <a:pt x="125016" y="75009"/>
                </a:cubicBezTo>
                <a:lnTo>
                  <a:pt x="125016" y="103584"/>
                </a:ln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125016" y="125016"/>
                </a:lnTo>
                <a:lnTo>
                  <a:pt x="125016" y="153591"/>
                </a:lnTo>
                <a:cubicBezTo>
                  <a:pt x="125016" y="159529"/>
                  <a:pt x="120238" y="164306"/>
                  <a:pt x="114300" y="164306"/>
                </a:cubicBezTo>
                <a:cubicBezTo>
                  <a:pt x="108362" y="164306"/>
                  <a:pt x="103584" y="159529"/>
                  <a:pt x="103584" y="15359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8326041" y="2484123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Синергия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6041" y="2865123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Екі әдісті </a:t>
            </a:r>
            <a:r>
              <a:rPr lang="en-US" sz="120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біріктіру</a:t>
            </a: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артықшылығы: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53425" y="32937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8568928" y="3265173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 негізін сақтау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53425" y="35604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8568928" y="3531873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Деректерден үйрену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53425" y="38271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8568928" y="3798573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Қателерді түзету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53425" y="4093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8568928" y="4065273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30-75% дәлдік жақсарту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4810" y="4895851"/>
            <a:ext cx="11418570" cy="1950720"/>
          </a:xfrm>
          <a:custGeom>
            <a:avLst/>
            <a:gdLst/>
            <a:ahLst/>
            <a:cxnLst/>
            <a:rect l="l" t="t" r="r" b="b"/>
            <a:pathLst>
              <a:path w="11418570" h="1950720">
                <a:moveTo>
                  <a:pt x="114293" y="0"/>
                </a:moveTo>
                <a:lnTo>
                  <a:pt x="11304277" y="0"/>
                </a:lnTo>
                <a:cubicBezTo>
                  <a:pt x="11367399" y="0"/>
                  <a:pt x="11418570" y="51171"/>
                  <a:pt x="11418570" y="114293"/>
                </a:cubicBezTo>
                <a:lnTo>
                  <a:pt x="11418570" y="1836427"/>
                </a:lnTo>
                <a:cubicBezTo>
                  <a:pt x="11418570" y="1899549"/>
                  <a:pt x="11367399" y="1950720"/>
                  <a:pt x="11304277" y="1950720"/>
                </a:cubicBezTo>
                <a:lnTo>
                  <a:pt x="114293" y="1950720"/>
                </a:lnTo>
                <a:cubicBezTo>
                  <a:pt x="51171" y="1950720"/>
                  <a:pt x="0" y="1899549"/>
                  <a:pt x="0" y="18364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50000">
                <a:srgbClr val="6366F1">
                  <a:alpha val="20000"/>
                </a:srgbClr>
              </a:gs>
              <a:gs pos="100000">
                <a:srgbClr val="F97316">
                  <a:alpha val="20000"/>
                </a:srgbClr>
              </a:gs>
            </a:gsLst>
            <a:lin ang="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9120" y="512825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6" name="Text 44"/>
          <p:cNvSpPr/>
          <p:nvPr/>
        </p:nvSpPr>
        <p:spPr>
          <a:xfrm>
            <a:off x="817245" y="5090159"/>
            <a:ext cx="1088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Жұмыс принципі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546384" y="550925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749028" y="5661659"/>
            <a:ext cx="20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1020" y="6195059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Деректер жинау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45782" y="6461759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NORAD, Space-Track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151822" y="5966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2" name="Shape 50"/>
          <p:cNvSpPr/>
          <p:nvPr/>
        </p:nvSpPr>
        <p:spPr>
          <a:xfrm>
            <a:off x="4376261" y="550925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559618" y="5661659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370897" y="6195059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SGP4 пропагаторы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375660" y="6461759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 негізіндегі болжам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81700" y="5966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Shape 55"/>
          <p:cNvSpPr/>
          <p:nvPr/>
        </p:nvSpPr>
        <p:spPr>
          <a:xfrm>
            <a:off x="7206139" y="550925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386518" y="5661659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00775" y="6195059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ЖИ түзету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05538" y="6461759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LSTM/Transformer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811578" y="5966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62" name="Shape 60"/>
          <p:cNvSpPr/>
          <p:nvPr/>
        </p:nvSpPr>
        <p:spPr>
          <a:xfrm>
            <a:off x="10036016" y="550925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16635" y="5661659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30653" y="6195059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Нәтиже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035415" y="6461759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Жоғары дәлдік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ЖИ Модельдері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Нейрондық желілер архитектурасы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5608320" cy="1855470"/>
          </a:xfrm>
          <a:custGeom>
            <a:avLst/>
            <a:gdLst/>
            <a:ahLst/>
            <a:cxnLst/>
            <a:rect l="l" t="t" r="r" b="b"/>
            <a:pathLst>
              <a:path w="5608320" h="1855470">
                <a:moveTo>
                  <a:pt x="114297" y="0"/>
                </a:moveTo>
                <a:lnTo>
                  <a:pt x="5494023" y="0"/>
                </a:lnTo>
                <a:cubicBezTo>
                  <a:pt x="5557148" y="0"/>
                  <a:pt x="5608320" y="51172"/>
                  <a:pt x="5608320" y="114297"/>
                </a:cubicBezTo>
                <a:lnTo>
                  <a:pt x="5608320" y="1741173"/>
                </a:lnTo>
                <a:cubicBezTo>
                  <a:pt x="5608320" y="1804298"/>
                  <a:pt x="5557148" y="1855470"/>
                  <a:pt x="5494023" y="1855470"/>
                </a:cubicBezTo>
                <a:lnTo>
                  <a:pt x="114297" y="1855470"/>
                </a:lnTo>
                <a:cubicBezTo>
                  <a:pt x="51172" y="1855470"/>
                  <a:pt x="0" y="1804298"/>
                  <a:pt x="0" y="17411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7983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507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60454"/>
                </a:lnTo>
                <a:cubicBezTo>
                  <a:pt x="0" y="63490"/>
                  <a:pt x="1965" y="66080"/>
                  <a:pt x="4509" y="67732"/>
                </a:cubicBezTo>
                <a:cubicBezTo>
                  <a:pt x="10403" y="71571"/>
                  <a:pt x="14288" y="78179"/>
                  <a:pt x="14288" y="85725"/>
                </a:cubicBezTo>
                <a:cubicBezTo>
                  <a:pt x="14288" y="93271"/>
                  <a:pt x="10403" y="99879"/>
                  <a:pt x="4509" y="103718"/>
                </a:cubicBezTo>
                <a:cubicBezTo>
                  <a:pt x="1965" y="105370"/>
                  <a:pt x="0" y="107960"/>
                  <a:pt x="0" y="110996"/>
                </a:cubicBezTo>
                <a:lnTo>
                  <a:pt x="0" y="135731"/>
                </a:lnTo>
                <a:lnTo>
                  <a:pt x="228600" y="135731"/>
                </a:lnTo>
                <a:lnTo>
                  <a:pt x="228600" y="110996"/>
                </a:lnTo>
                <a:cubicBezTo>
                  <a:pt x="228600" y="107960"/>
                  <a:pt x="226635" y="105370"/>
                  <a:pt x="224091" y="103718"/>
                </a:cubicBezTo>
                <a:cubicBezTo>
                  <a:pt x="218197" y="99879"/>
                  <a:pt x="214313" y="93271"/>
                  <a:pt x="214313" y="85725"/>
                </a:cubicBezTo>
                <a:cubicBezTo>
                  <a:pt x="214313" y="78179"/>
                  <a:pt x="218197" y="71571"/>
                  <a:pt x="224091" y="67732"/>
                </a:cubicBezTo>
                <a:cubicBezTo>
                  <a:pt x="226635" y="66080"/>
                  <a:pt x="228600" y="63490"/>
                  <a:pt x="228600" y="60454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228600" y="185738"/>
                </a:moveTo>
                <a:lnTo>
                  <a:pt x="228600" y="157163"/>
                </a:lnTo>
                <a:lnTo>
                  <a:pt x="0" y="157163"/>
                </a:lnTo>
                <a:lnTo>
                  <a:pt x="0" y="185738"/>
                </a:lnTo>
                <a:cubicBezTo>
                  <a:pt x="0" y="193640"/>
                  <a:pt x="6385" y="200025"/>
                  <a:pt x="14288" y="200025"/>
                </a:cubicBezTo>
                <a:lnTo>
                  <a:pt x="42863" y="200025"/>
                </a:lnTo>
                <a:lnTo>
                  <a:pt x="42863" y="189309"/>
                </a:lnTo>
                <a:cubicBezTo>
                  <a:pt x="42863" y="183371"/>
                  <a:pt x="47640" y="178594"/>
                  <a:pt x="53578" y="178594"/>
                </a:cubicBezTo>
                <a:cubicBezTo>
                  <a:pt x="59516" y="178594"/>
                  <a:pt x="64294" y="183371"/>
                  <a:pt x="64294" y="189309"/>
                </a:cubicBezTo>
                <a:lnTo>
                  <a:pt x="64294" y="200025"/>
                </a:lnTo>
                <a:lnTo>
                  <a:pt x="103584" y="200025"/>
                </a:lnTo>
                <a:lnTo>
                  <a:pt x="103584" y="189309"/>
                </a:lnTo>
                <a:cubicBezTo>
                  <a:pt x="103584" y="183371"/>
                  <a:pt x="108362" y="178594"/>
                  <a:pt x="114300" y="178594"/>
                </a:cubicBezTo>
                <a:cubicBezTo>
                  <a:pt x="120238" y="178594"/>
                  <a:pt x="125016" y="183371"/>
                  <a:pt x="125016" y="189309"/>
                </a:cubicBezTo>
                <a:lnTo>
                  <a:pt x="125016" y="200025"/>
                </a:lnTo>
                <a:lnTo>
                  <a:pt x="164306" y="200025"/>
                </a:lnTo>
                <a:lnTo>
                  <a:pt x="164306" y="189309"/>
                </a:lnTo>
                <a:cubicBezTo>
                  <a:pt x="164306" y="183371"/>
                  <a:pt x="169084" y="178594"/>
                  <a:pt x="175022" y="178594"/>
                </a:cubicBezTo>
                <a:cubicBezTo>
                  <a:pt x="180960" y="178594"/>
                  <a:pt x="185738" y="183371"/>
                  <a:pt x="185738" y="189309"/>
                </a:cubicBezTo>
                <a:lnTo>
                  <a:pt x="185738" y="200025"/>
                </a:ln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lose/>
                <a:moveTo>
                  <a:pt x="71438" y="71438"/>
                </a:moveTo>
                <a:lnTo>
                  <a:pt x="71438" y="100013"/>
                </a:lnTo>
                <a:cubicBezTo>
                  <a:pt x="71438" y="107915"/>
                  <a:pt x="65053" y="114300"/>
                  <a:pt x="57150" y="114300"/>
                </a:cubicBezTo>
                <a:cubicBezTo>
                  <a:pt x="49247" y="114300"/>
                  <a:pt x="42863" y="107915"/>
                  <a:pt x="42863" y="100013"/>
                </a:cubicBezTo>
                <a:lnTo>
                  <a:pt x="42863" y="71438"/>
                </a:lnTo>
                <a:cubicBezTo>
                  <a:pt x="42863" y="63535"/>
                  <a:pt x="49247" y="57150"/>
                  <a:pt x="57150" y="57150"/>
                </a:cubicBezTo>
                <a:cubicBezTo>
                  <a:pt x="65053" y="57150"/>
                  <a:pt x="71438" y="63535"/>
                  <a:pt x="71438" y="71438"/>
                </a:cubicBezTo>
                <a:close/>
                <a:moveTo>
                  <a:pt x="128588" y="71438"/>
                </a:moveTo>
                <a:lnTo>
                  <a:pt x="128588" y="100013"/>
                </a:lnTo>
                <a:cubicBezTo>
                  <a:pt x="128588" y="107915"/>
                  <a:pt x="122203" y="114300"/>
                  <a:pt x="114300" y="114300"/>
                </a:cubicBezTo>
                <a:cubicBezTo>
                  <a:pt x="106397" y="114300"/>
                  <a:pt x="100013" y="107915"/>
                  <a:pt x="100013" y="100013"/>
                </a:cubicBezTo>
                <a:lnTo>
                  <a:pt x="100013" y="71438"/>
                </a:lnTo>
                <a:cubicBezTo>
                  <a:pt x="100013" y="63535"/>
                  <a:pt x="106397" y="57150"/>
                  <a:pt x="114300" y="57150"/>
                </a:cubicBezTo>
                <a:cubicBezTo>
                  <a:pt x="122203" y="57150"/>
                  <a:pt x="128588" y="63535"/>
                  <a:pt x="128588" y="71438"/>
                </a:cubicBezTo>
                <a:close/>
                <a:moveTo>
                  <a:pt x="185738" y="71438"/>
                </a:moveTo>
                <a:lnTo>
                  <a:pt x="185738" y="100013"/>
                </a:lnTo>
                <a:cubicBezTo>
                  <a:pt x="185738" y="107915"/>
                  <a:pt x="179353" y="114300"/>
                  <a:pt x="171450" y="114300"/>
                </a:cubicBezTo>
                <a:cubicBezTo>
                  <a:pt x="163547" y="114300"/>
                  <a:pt x="157163" y="107915"/>
                  <a:pt x="157163" y="100013"/>
                </a:cubicBezTo>
                <a:lnTo>
                  <a:pt x="157163" y="71438"/>
                </a:lnTo>
                <a:cubicBezTo>
                  <a:pt x="157163" y="63535"/>
                  <a:pt x="163547" y="57150"/>
                  <a:pt x="171450" y="57150"/>
                </a:cubicBezTo>
                <a:cubicBezTo>
                  <a:pt x="179353" y="57150"/>
                  <a:pt x="185738" y="63535"/>
                  <a:pt x="185738" y="7143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264920" y="1798323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4920" y="2141223"/>
            <a:ext cx="460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 Short-Term Memory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4920" y="2407923"/>
            <a:ext cx="4600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Уақыттық қатарларды өңдеуге арналған рекуррентті нейрондық желі. Ұзақ мерзімді тәуелділіктерді сақтайды.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64920" y="2955610"/>
            <a:ext cx="790575" cy="304800"/>
          </a:xfrm>
          <a:custGeom>
            <a:avLst/>
            <a:gdLst/>
            <a:ahLst/>
            <a:cxnLst/>
            <a:rect l="l" t="t" r="r" b="b"/>
            <a:pathLst>
              <a:path w="790575" h="304800">
                <a:moveTo>
                  <a:pt x="152400" y="0"/>
                </a:moveTo>
                <a:lnTo>
                  <a:pt x="638175" y="0"/>
                </a:lnTo>
                <a:cubicBezTo>
                  <a:pt x="722287" y="0"/>
                  <a:pt x="790575" y="68288"/>
                  <a:pt x="790575" y="152400"/>
                </a:cubicBezTo>
                <a:lnTo>
                  <a:pt x="790575" y="152400"/>
                </a:lnTo>
                <a:cubicBezTo>
                  <a:pt x="790575" y="236512"/>
                  <a:pt x="722287" y="304800"/>
                  <a:pt x="6381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79220" y="3024188"/>
            <a:ext cx="62698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+30-75%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06228" y="301276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дәлдік жақсарту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3614738"/>
            <a:ext cx="5608320" cy="1855470"/>
          </a:xfrm>
          <a:custGeom>
            <a:avLst/>
            <a:gdLst/>
            <a:ahLst/>
            <a:cxnLst/>
            <a:rect l="l" t="t" r="r" b="b"/>
            <a:pathLst>
              <a:path w="5608320" h="1855470">
                <a:moveTo>
                  <a:pt x="114297" y="0"/>
                </a:moveTo>
                <a:lnTo>
                  <a:pt x="5494023" y="0"/>
                </a:lnTo>
                <a:cubicBezTo>
                  <a:pt x="5557148" y="0"/>
                  <a:pt x="5608320" y="51172"/>
                  <a:pt x="5608320" y="114297"/>
                </a:cubicBezTo>
                <a:lnTo>
                  <a:pt x="5608320" y="1741173"/>
                </a:lnTo>
                <a:cubicBezTo>
                  <a:pt x="5608320" y="1804298"/>
                  <a:pt x="5557148" y="1855470"/>
                  <a:pt x="5494023" y="1855470"/>
                </a:cubicBezTo>
                <a:lnTo>
                  <a:pt x="114297" y="1855470"/>
                </a:lnTo>
                <a:cubicBezTo>
                  <a:pt x="51172" y="1855470"/>
                  <a:pt x="0" y="1804298"/>
                  <a:pt x="0" y="17411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9120" y="380904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17233" y="396144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264920" y="3809047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4920" y="4151947"/>
            <a:ext cx="460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Attention механизмі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4920" y="4418647"/>
            <a:ext cx="4600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Назар механизмін қолданатын заманауи архитектура. Ұзақ қашықтықтағы тәуелділіктерді жақсы анықтайды.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64920" y="4966334"/>
            <a:ext cx="571500" cy="304800"/>
          </a:xfrm>
          <a:custGeom>
            <a:avLst/>
            <a:gdLst/>
            <a:ahLst/>
            <a:cxnLst/>
            <a:rect l="l" t="t" r="r" b="b"/>
            <a:pathLst>
              <a:path w="571500" h="304800">
                <a:moveTo>
                  <a:pt x="152400" y="0"/>
                </a:moveTo>
                <a:lnTo>
                  <a:pt x="419100" y="0"/>
                </a:lnTo>
                <a:cubicBezTo>
                  <a:pt x="503212" y="0"/>
                  <a:pt x="571500" y="68288"/>
                  <a:pt x="571500" y="152400"/>
                </a:cubicBezTo>
                <a:lnTo>
                  <a:pt x="571500" y="152400"/>
                </a:lnTo>
                <a:cubicBezTo>
                  <a:pt x="571500" y="236512"/>
                  <a:pt x="503212" y="304800"/>
                  <a:pt x="4191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79220" y="5034916"/>
            <a:ext cx="40517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-75 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84415" y="5023484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 күндік қате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5060" y="1604010"/>
            <a:ext cx="5608320" cy="1855470"/>
          </a:xfrm>
          <a:custGeom>
            <a:avLst/>
            <a:gdLst/>
            <a:ahLst/>
            <a:cxnLst/>
            <a:rect l="l" t="t" r="r" b="b"/>
            <a:pathLst>
              <a:path w="5608320" h="1855470">
                <a:moveTo>
                  <a:pt x="114297" y="0"/>
                </a:moveTo>
                <a:lnTo>
                  <a:pt x="5494023" y="0"/>
                </a:lnTo>
                <a:cubicBezTo>
                  <a:pt x="5557148" y="0"/>
                  <a:pt x="5608320" y="51172"/>
                  <a:pt x="5608320" y="114297"/>
                </a:cubicBezTo>
                <a:lnTo>
                  <a:pt x="5608320" y="1741173"/>
                </a:lnTo>
                <a:cubicBezTo>
                  <a:pt x="5608320" y="1804298"/>
                  <a:pt x="5557148" y="1855470"/>
                  <a:pt x="5494023" y="1855470"/>
                </a:cubicBezTo>
                <a:lnTo>
                  <a:pt x="114297" y="1855470"/>
                </a:lnTo>
                <a:cubicBezTo>
                  <a:pt x="51172" y="1855470"/>
                  <a:pt x="0" y="1804298"/>
                  <a:pt x="0" y="17411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9370" y="17983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27482" y="195072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7075170" y="1798323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75170" y="2141223"/>
            <a:ext cx="460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Convolutional Neural Network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75170" y="2407923"/>
            <a:ext cx="4600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Сверточтық нейрондық желі. Ғарыш қоқыстарын суреттерден анықтау үшін қолданылады.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75170" y="2955610"/>
            <a:ext cx="504825" cy="304800"/>
          </a:xfrm>
          <a:custGeom>
            <a:avLst/>
            <a:gdLst/>
            <a:ahLst/>
            <a:cxnLst/>
            <a:rect l="l" t="t" r="r" b="b"/>
            <a:pathLst>
              <a:path w="504825" h="304800">
                <a:moveTo>
                  <a:pt x="152400" y="0"/>
                </a:moveTo>
                <a:lnTo>
                  <a:pt x="352425" y="0"/>
                </a:lnTo>
                <a:cubicBezTo>
                  <a:pt x="436537" y="0"/>
                  <a:pt x="504825" y="68288"/>
                  <a:pt x="504825" y="152400"/>
                </a:cubicBezTo>
                <a:lnTo>
                  <a:pt x="504825" y="152400"/>
                </a:lnTo>
                <a:cubicBezTo>
                  <a:pt x="504825" y="236512"/>
                  <a:pt x="436537" y="304800"/>
                  <a:pt x="3524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189470" y="3024188"/>
            <a:ext cx="338495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98%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27990" y="301276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анықтау дәлдігі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5060" y="3614738"/>
            <a:ext cx="5608320" cy="1855470"/>
          </a:xfrm>
          <a:custGeom>
            <a:avLst/>
            <a:gdLst/>
            <a:ahLst/>
            <a:cxnLst/>
            <a:rect l="l" t="t" r="r" b="b"/>
            <a:pathLst>
              <a:path w="5608320" h="1855470">
                <a:moveTo>
                  <a:pt x="114297" y="0"/>
                </a:moveTo>
                <a:lnTo>
                  <a:pt x="5494023" y="0"/>
                </a:lnTo>
                <a:cubicBezTo>
                  <a:pt x="5557148" y="0"/>
                  <a:pt x="5608320" y="51172"/>
                  <a:pt x="5608320" y="114297"/>
                </a:cubicBezTo>
                <a:lnTo>
                  <a:pt x="5608320" y="1741173"/>
                </a:lnTo>
                <a:cubicBezTo>
                  <a:pt x="5608320" y="1804298"/>
                  <a:pt x="5557148" y="1855470"/>
                  <a:pt x="5494023" y="1855470"/>
                </a:cubicBezTo>
                <a:lnTo>
                  <a:pt x="114297" y="1855470"/>
                </a:lnTo>
                <a:cubicBezTo>
                  <a:pt x="51172" y="1855470"/>
                  <a:pt x="0" y="1804298"/>
                  <a:pt x="0" y="17411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9370" y="380904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56057" y="396144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78058"/>
                </a:moveTo>
                <a:cubicBezTo>
                  <a:pt x="94744" y="180335"/>
                  <a:pt x="89565" y="182389"/>
                  <a:pt x="84430" y="184086"/>
                </a:cubicBezTo>
                <a:cubicBezTo>
                  <a:pt x="91886" y="199177"/>
                  <a:pt x="98271" y="200025"/>
                  <a:pt x="100013" y="200025"/>
                </a:cubicBezTo>
                <a:cubicBezTo>
                  <a:pt x="101754" y="200025"/>
                  <a:pt x="108094" y="199177"/>
                  <a:pt x="115595" y="184086"/>
                </a:cubicBezTo>
                <a:cubicBezTo>
                  <a:pt x="110505" y="182344"/>
                  <a:pt x="105281" y="180335"/>
                  <a:pt x="100012" y="178058"/>
                </a:cubicBezTo>
                <a:close/>
                <a:moveTo>
                  <a:pt x="184845" y="114300"/>
                </a:moveTo>
                <a:cubicBezTo>
                  <a:pt x="199579" y="134481"/>
                  <a:pt x="204624" y="154885"/>
                  <a:pt x="195382" y="171450"/>
                </a:cubicBezTo>
                <a:cubicBezTo>
                  <a:pt x="186363" y="187657"/>
                  <a:pt x="167476" y="193462"/>
                  <a:pt x="143947" y="190738"/>
                </a:cubicBezTo>
                <a:cubicBezTo>
                  <a:pt x="134124" y="214000"/>
                  <a:pt x="119077" y="228600"/>
                  <a:pt x="100013" y="228600"/>
                </a:cubicBezTo>
                <a:cubicBezTo>
                  <a:pt x="80948" y="228600"/>
                  <a:pt x="65901" y="214000"/>
                  <a:pt x="56078" y="190738"/>
                </a:cubicBezTo>
                <a:cubicBezTo>
                  <a:pt x="32549" y="193462"/>
                  <a:pt x="13662" y="187657"/>
                  <a:pt x="4643" y="171450"/>
                </a:cubicBezTo>
                <a:cubicBezTo>
                  <a:pt x="-4599" y="154885"/>
                  <a:pt x="446" y="134481"/>
                  <a:pt x="15180" y="114300"/>
                </a:cubicBezTo>
                <a:cubicBezTo>
                  <a:pt x="446" y="94119"/>
                  <a:pt x="-4599" y="73715"/>
                  <a:pt x="4643" y="57150"/>
                </a:cubicBezTo>
                <a:cubicBezTo>
                  <a:pt x="13662" y="40943"/>
                  <a:pt x="32549" y="35138"/>
                  <a:pt x="56078" y="37862"/>
                </a:cubicBezTo>
                <a:cubicBezTo>
                  <a:pt x="65901" y="14600"/>
                  <a:pt x="80903" y="0"/>
                  <a:pt x="100013" y="0"/>
                </a:cubicBezTo>
                <a:cubicBezTo>
                  <a:pt x="119122" y="0"/>
                  <a:pt x="134124" y="14600"/>
                  <a:pt x="143947" y="37862"/>
                </a:cubicBezTo>
                <a:cubicBezTo>
                  <a:pt x="167476" y="35138"/>
                  <a:pt x="186363" y="40898"/>
                  <a:pt x="195382" y="57150"/>
                </a:cubicBezTo>
                <a:cubicBezTo>
                  <a:pt x="204624" y="73715"/>
                  <a:pt x="199579" y="94119"/>
                  <a:pt x="184845" y="114300"/>
                </a:cubicBezTo>
                <a:close/>
                <a:moveTo>
                  <a:pt x="155466" y="144393"/>
                </a:moveTo>
                <a:cubicBezTo>
                  <a:pt x="154707" y="150733"/>
                  <a:pt x="153725" y="156895"/>
                  <a:pt x="152474" y="162788"/>
                </a:cubicBezTo>
                <a:cubicBezTo>
                  <a:pt x="166673" y="163413"/>
                  <a:pt x="169709" y="158904"/>
                  <a:pt x="170423" y="157564"/>
                </a:cubicBezTo>
                <a:cubicBezTo>
                  <a:pt x="171450" y="155689"/>
                  <a:pt x="173548" y="149572"/>
                  <a:pt x="165110" y="136088"/>
                </a:cubicBezTo>
                <a:cubicBezTo>
                  <a:pt x="162074" y="138901"/>
                  <a:pt x="158859" y="141669"/>
                  <a:pt x="155466" y="144393"/>
                </a:cubicBezTo>
                <a:close/>
                <a:moveTo>
                  <a:pt x="152474" y="65856"/>
                </a:moveTo>
                <a:cubicBezTo>
                  <a:pt x="153725" y="71705"/>
                  <a:pt x="154707" y="77867"/>
                  <a:pt x="155466" y="84252"/>
                </a:cubicBezTo>
                <a:cubicBezTo>
                  <a:pt x="158859" y="86975"/>
                  <a:pt x="162074" y="89743"/>
                  <a:pt x="165110" y="92556"/>
                </a:cubicBezTo>
                <a:cubicBezTo>
                  <a:pt x="173548" y="79072"/>
                  <a:pt x="171450" y="72911"/>
                  <a:pt x="170423" y="71080"/>
                </a:cubicBezTo>
                <a:cubicBezTo>
                  <a:pt x="169709" y="69786"/>
                  <a:pt x="166673" y="65276"/>
                  <a:pt x="152474" y="65856"/>
                </a:cubicBezTo>
                <a:close/>
                <a:moveTo>
                  <a:pt x="115595" y="44514"/>
                </a:moveTo>
                <a:cubicBezTo>
                  <a:pt x="108094" y="29423"/>
                  <a:pt x="101754" y="28575"/>
                  <a:pt x="100013" y="28575"/>
                </a:cubicBezTo>
                <a:cubicBezTo>
                  <a:pt x="98271" y="28575"/>
                  <a:pt x="91931" y="29423"/>
                  <a:pt x="84430" y="44514"/>
                </a:cubicBezTo>
                <a:cubicBezTo>
                  <a:pt x="89520" y="46256"/>
                  <a:pt x="94744" y="48265"/>
                  <a:pt x="100013" y="50542"/>
                </a:cubicBezTo>
                <a:cubicBezTo>
                  <a:pt x="105281" y="48265"/>
                  <a:pt x="110460" y="46211"/>
                  <a:pt x="115595" y="44514"/>
                </a:cubicBezTo>
                <a:close/>
                <a:moveTo>
                  <a:pt x="44604" y="84207"/>
                </a:moveTo>
                <a:cubicBezTo>
                  <a:pt x="45363" y="77822"/>
                  <a:pt x="46345" y="71705"/>
                  <a:pt x="47595" y="65812"/>
                </a:cubicBezTo>
                <a:cubicBezTo>
                  <a:pt x="33397" y="65187"/>
                  <a:pt x="30361" y="69696"/>
                  <a:pt x="29647" y="71036"/>
                </a:cubicBezTo>
                <a:cubicBezTo>
                  <a:pt x="28620" y="72911"/>
                  <a:pt x="26521" y="79028"/>
                  <a:pt x="34960" y="92512"/>
                </a:cubicBezTo>
                <a:cubicBezTo>
                  <a:pt x="37996" y="89699"/>
                  <a:pt x="41211" y="86931"/>
                  <a:pt x="44604" y="84207"/>
                </a:cubicBezTo>
                <a:close/>
                <a:moveTo>
                  <a:pt x="34915" y="136088"/>
                </a:moveTo>
                <a:cubicBezTo>
                  <a:pt x="26477" y="149572"/>
                  <a:pt x="28575" y="155734"/>
                  <a:pt x="29602" y="157564"/>
                </a:cubicBezTo>
                <a:cubicBezTo>
                  <a:pt x="30316" y="158859"/>
                  <a:pt x="33352" y="163369"/>
                  <a:pt x="47551" y="162788"/>
                </a:cubicBezTo>
                <a:cubicBezTo>
                  <a:pt x="46300" y="156939"/>
                  <a:pt x="45318" y="150778"/>
                  <a:pt x="44559" y="144393"/>
                </a:cubicBezTo>
                <a:cubicBezTo>
                  <a:pt x="41166" y="141669"/>
                  <a:pt x="37951" y="138901"/>
                  <a:pt x="34915" y="136088"/>
                </a:cubicBezTo>
                <a:close/>
                <a:moveTo>
                  <a:pt x="135731" y="114300"/>
                </a:moveTo>
                <a:cubicBezTo>
                  <a:pt x="135731" y="94586"/>
                  <a:pt x="119726" y="78581"/>
                  <a:pt x="100013" y="78581"/>
                </a:cubicBezTo>
                <a:cubicBezTo>
                  <a:pt x="80299" y="78581"/>
                  <a:pt x="64294" y="94586"/>
                  <a:pt x="64294" y="114300"/>
                </a:cubicBezTo>
                <a:cubicBezTo>
                  <a:pt x="64294" y="134014"/>
                  <a:pt x="80299" y="150019"/>
                  <a:pt x="100013" y="150019"/>
                </a:cubicBezTo>
                <a:cubicBezTo>
                  <a:pt x="119726" y="150019"/>
                  <a:pt x="135731" y="134014"/>
                  <a:pt x="135731" y="114300"/>
                </a:cubicBezTo>
                <a:close/>
                <a:moveTo>
                  <a:pt x="100013" y="100013"/>
                </a:moveTo>
                <a:cubicBezTo>
                  <a:pt x="107898" y="100013"/>
                  <a:pt x="114300" y="106415"/>
                  <a:pt x="114300" y="114300"/>
                </a:cubicBezTo>
                <a:cubicBezTo>
                  <a:pt x="114300" y="122185"/>
                  <a:pt x="107898" y="128588"/>
                  <a:pt x="100013" y="128588"/>
                </a:cubicBezTo>
                <a:cubicBezTo>
                  <a:pt x="92127" y="128588"/>
                  <a:pt x="85725" y="122185"/>
                  <a:pt x="85725" y="114300"/>
                </a:cubicBezTo>
                <a:cubicBezTo>
                  <a:pt x="85725" y="106415"/>
                  <a:pt x="92127" y="100013"/>
                  <a:pt x="100013" y="10001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7075170" y="3809047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PINN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75170" y="4151947"/>
            <a:ext cx="460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Physics-Informed Neural Network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75170" y="4418647"/>
            <a:ext cx="4600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 заңдарын ескере отырып траекторияны болжайтын нейрондық желі.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075170" y="4966334"/>
            <a:ext cx="485775" cy="304800"/>
          </a:xfrm>
          <a:custGeom>
            <a:avLst/>
            <a:gdLst/>
            <a:ahLst/>
            <a:cxnLst/>
            <a:rect l="l" t="t" r="r" b="b"/>
            <a:pathLst>
              <a:path w="485775" h="304800">
                <a:moveTo>
                  <a:pt x="152400" y="0"/>
                </a:moveTo>
                <a:lnTo>
                  <a:pt x="333375" y="0"/>
                </a:lnTo>
                <a:cubicBezTo>
                  <a:pt x="417487" y="0"/>
                  <a:pt x="485775" y="68288"/>
                  <a:pt x="485775" y="152400"/>
                </a:cubicBezTo>
                <a:lnTo>
                  <a:pt x="485775" y="152400"/>
                </a:lnTo>
                <a:cubicBezTo>
                  <a:pt x="485775" y="236512"/>
                  <a:pt x="417487" y="304800"/>
                  <a:pt x="3333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189470" y="5034916"/>
            <a:ext cx="324445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97%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13940" y="5023484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траектория дәлдігі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5703811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114296" y="0"/>
                </a:moveTo>
                <a:lnTo>
                  <a:pt x="11304274" y="0"/>
                </a:lnTo>
                <a:cubicBezTo>
                  <a:pt x="11367398" y="0"/>
                  <a:pt x="11418570" y="51172"/>
                  <a:pt x="11418570" y="114296"/>
                </a:cubicBezTo>
                <a:lnTo>
                  <a:pt x="11418570" y="655324"/>
                </a:lnTo>
                <a:cubicBezTo>
                  <a:pt x="11418570" y="718448"/>
                  <a:pt x="11367398" y="769620"/>
                  <a:pt x="113042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6366F1">
                  <a:alpha val="20000"/>
                </a:srgbClr>
              </a:gs>
            </a:gsLst>
            <a:lin ang="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9595" y="597419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43" name="Text 41"/>
          <p:cNvSpPr/>
          <p:nvPr/>
        </p:nvSpPr>
        <p:spPr>
          <a:xfrm>
            <a:off x="941070" y="5878948"/>
            <a:ext cx="556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ЖИ жүйелерінің артықшылығы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41070" y="6107548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Дәстүрлі әдістерге қарағанда 22% аз жалған оң нәтиже, 50% жоғары анықтау дәлдігі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229016" y="5860019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257591" y="6164698"/>
            <a:ext cx="50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аз қате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787778" y="5860019"/>
            <a:ext cx="923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816353" y="6164698"/>
            <a:ext cx="866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жоғары дәлдік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Жүйе архитектурасы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SpaceAI Monitor құрылымы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5589270" cy="1845945"/>
          </a:xfrm>
          <a:custGeom>
            <a:avLst/>
            <a:gdLst/>
            <a:ahLst/>
            <a:cxnLst/>
            <a:rect l="l" t="t" r="r" b="b"/>
            <a:pathLst>
              <a:path w="5589270" h="1845945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1731644"/>
                </a:lnTo>
                <a:cubicBezTo>
                  <a:pt x="5589270" y="1794771"/>
                  <a:pt x="5538096" y="1845945"/>
                  <a:pt x="5474969" y="1845945"/>
                </a:cubicBezTo>
                <a:lnTo>
                  <a:pt x="114301" y="1845945"/>
                </a:lnTo>
                <a:cubicBezTo>
                  <a:pt x="51174" y="1845945"/>
                  <a:pt x="0" y="1794771"/>
                  <a:pt x="0" y="173164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798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0215" y="1893573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0620" y="1893573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Деректер қабылдау қабаты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" y="2407923"/>
            <a:ext cx="1657350" cy="847725"/>
          </a:xfrm>
          <a:custGeom>
            <a:avLst/>
            <a:gdLst/>
            <a:ahLst/>
            <a:cxnLst/>
            <a:rect l="l" t="t" r="r" b="b"/>
            <a:pathLst>
              <a:path w="1657350" h="847725">
                <a:moveTo>
                  <a:pt x="76202" y="0"/>
                </a:moveTo>
                <a:lnTo>
                  <a:pt x="1581148" y="0"/>
                </a:lnTo>
                <a:cubicBezTo>
                  <a:pt x="1623205" y="0"/>
                  <a:pt x="1657350" y="34145"/>
                  <a:pt x="1657350" y="76202"/>
                </a:cubicBezTo>
                <a:lnTo>
                  <a:pt x="1657350" y="771523"/>
                </a:lnTo>
                <a:cubicBezTo>
                  <a:pt x="1657350" y="813580"/>
                  <a:pt x="1623205" y="847725"/>
                  <a:pt x="158114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25047" y="25298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60083" y="2796541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4845" y="2987041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TLE деректері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51961" y="2407923"/>
            <a:ext cx="1657350" cy="847725"/>
          </a:xfrm>
          <a:custGeom>
            <a:avLst/>
            <a:gdLst/>
            <a:ahLst/>
            <a:cxnLst/>
            <a:rect l="l" t="t" r="r" b="b"/>
            <a:pathLst>
              <a:path w="1657350" h="847725">
                <a:moveTo>
                  <a:pt x="76202" y="0"/>
                </a:moveTo>
                <a:lnTo>
                  <a:pt x="1581148" y="0"/>
                </a:lnTo>
                <a:cubicBezTo>
                  <a:pt x="1623205" y="0"/>
                  <a:pt x="1657350" y="34145"/>
                  <a:pt x="1657350" y="76202"/>
                </a:cubicBezTo>
                <a:lnTo>
                  <a:pt x="1657350" y="771523"/>
                </a:lnTo>
                <a:cubicBezTo>
                  <a:pt x="1657350" y="813580"/>
                  <a:pt x="1623205" y="847725"/>
                  <a:pt x="158114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85981" y="25298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042" y="2604"/>
                </a:moveTo>
                <a:cubicBezTo>
                  <a:pt x="77539" y="-893"/>
                  <a:pt x="83195" y="-893"/>
                  <a:pt x="86655" y="2604"/>
                </a:cubicBezTo>
                <a:lnTo>
                  <a:pt x="119918" y="35868"/>
                </a:lnTo>
                <a:lnTo>
                  <a:pt x="140382" y="15404"/>
                </a:lnTo>
                <a:cubicBezTo>
                  <a:pt x="145033" y="10753"/>
                  <a:pt x="152586" y="10753"/>
                  <a:pt x="157237" y="15404"/>
                </a:cubicBezTo>
                <a:lnTo>
                  <a:pt x="175096" y="33263"/>
                </a:lnTo>
                <a:cubicBezTo>
                  <a:pt x="179747" y="37914"/>
                  <a:pt x="179747" y="45467"/>
                  <a:pt x="175096" y="50118"/>
                </a:cubicBezTo>
                <a:lnTo>
                  <a:pt x="154632" y="70582"/>
                </a:lnTo>
                <a:lnTo>
                  <a:pt x="187896" y="103845"/>
                </a:lnTo>
                <a:cubicBezTo>
                  <a:pt x="191393" y="107342"/>
                  <a:pt x="191393" y="112998"/>
                  <a:pt x="187896" y="116458"/>
                </a:cubicBezTo>
                <a:lnTo>
                  <a:pt x="152177" y="152177"/>
                </a:lnTo>
                <a:cubicBezTo>
                  <a:pt x="148679" y="155674"/>
                  <a:pt x="143024" y="155674"/>
                  <a:pt x="139564" y="152177"/>
                </a:cubicBezTo>
                <a:lnTo>
                  <a:pt x="106300" y="118914"/>
                </a:lnTo>
                <a:lnTo>
                  <a:pt x="100533" y="124681"/>
                </a:lnTo>
                <a:cubicBezTo>
                  <a:pt x="104775" y="133834"/>
                  <a:pt x="107156" y="144028"/>
                  <a:pt x="107156" y="154781"/>
                </a:cubicBezTo>
                <a:cubicBezTo>
                  <a:pt x="107156" y="166576"/>
                  <a:pt x="104291" y="177664"/>
                  <a:pt x="99268" y="187449"/>
                </a:cubicBezTo>
                <a:cubicBezTo>
                  <a:pt x="97520" y="190798"/>
                  <a:pt x="93055" y="191281"/>
                  <a:pt x="90413" y="188602"/>
                </a:cubicBezTo>
                <a:lnTo>
                  <a:pt x="54583" y="152772"/>
                </a:lnTo>
                <a:lnTo>
                  <a:pt x="32258" y="175096"/>
                </a:lnTo>
                <a:cubicBezTo>
                  <a:pt x="27608" y="179747"/>
                  <a:pt x="20055" y="179747"/>
                  <a:pt x="15404" y="175096"/>
                </a:cubicBezTo>
                <a:cubicBezTo>
                  <a:pt x="10753" y="170445"/>
                  <a:pt x="10753" y="162892"/>
                  <a:pt x="15404" y="158242"/>
                </a:cubicBezTo>
                <a:lnTo>
                  <a:pt x="37728" y="135917"/>
                </a:lnTo>
                <a:lnTo>
                  <a:pt x="1898" y="100087"/>
                </a:lnTo>
                <a:cubicBezTo>
                  <a:pt x="-781" y="97408"/>
                  <a:pt x="-298" y="92943"/>
                  <a:pt x="3051" y="91232"/>
                </a:cubicBezTo>
                <a:cubicBezTo>
                  <a:pt x="12836" y="86171"/>
                  <a:pt x="23961" y="83344"/>
                  <a:pt x="35719" y="83344"/>
                </a:cubicBezTo>
                <a:cubicBezTo>
                  <a:pt x="46472" y="83344"/>
                  <a:pt x="56666" y="85725"/>
                  <a:pt x="65819" y="89967"/>
                </a:cubicBezTo>
                <a:lnTo>
                  <a:pt x="71586" y="84200"/>
                </a:lnTo>
                <a:lnTo>
                  <a:pt x="38323" y="50974"/>
                </a:lnTo>
                <a:cubicBezTo>
                  <a:pt x="34826" y="47476"/>
                  <a:pt x="34826" y="41821"/>
                  <a:pt x="38323" y="38360"/>
                </a:cubicBezTo>
                <a:lnTo>
                  <a:pt x="74042" y="2604"/>
                </a:lnTo>
                <a:close/>
                <a:moveTo>
                  <a:pt x="80367" y="21543"/>
                </a:moveTo>
                <a:lnTo>
                  <a:pt x="57262" y="44648"/>
                </a:lnTo>
                <a:lnTo>
                  <a:pt x="84200" y="71586"/>
                </a:lnTo>
                <a:lnTo>
                  <a:pt x="107305" y="48481"/>
                </a:lnTo>
                <a:lnTo>
                  <a:pt x="80367" y="21543"/>
                </a:lnTo>
                <a:close/>
                <a:moveTo>
                  <a:pt x="145852" y="133238"/>
                </a:moveTo>
                <a:lnTo>
                  <a:pt x="168957" y="110133"/>
                </a:lnTo>
                <a:lnTo>
                  <a:pt x="142019" y="83195"/>
                </a:lnTo>
                <a:lnTo>
                  <a:pt x="118914" y="106300"/>
                </a:lnTo>
                <a:lnTo>
                  <a:pt x="145852" y="133238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2432923" y="2796541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Space-Track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37686" y="2987041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Нысандар каталогы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24920" y="2407923"/>
            <a:ext cx="1657350" cy="847725"/>
          </a:xfrm>
          <a:custGeom>
            <a:avLst/>
            <a:gdLst/>
            <a:ahLst/>
            <a:cxnLst/>
            <a:rect l="l" t="t" r="r" b="b"/>
            <a:pathLst>
              <a:path w="1657350" h="847725">
                <a:moveTo>
                  <a:pt x="76202" y="0"/>
                </a:moveTo>
                <a:lnTo>
                  <a:pt x="1581148" y="0"/>
                </a:lnTo>
                <a:cubicBezTo>
                  <a:pt x="1623205" y="0"/>
                  <a:pt x="1657350" y="34145"/>
                  <a:pt x="1657350" y="76202"/>
                </a:cubicBezTo>
                <a:lnTo>
                  <a:pt x="1657350" y="771523"/>
                </a:lnTo>
                <a:cubicBezTo>
                  <a:pt x="1657350" y="813580"/>
                  <a:pt x="1623205" y="847725"/>
                  <a:pt x="158114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858941" y="25298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4205883" y="2796541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LeoLabs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10645" y="2987041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Радар деректері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3607953"/>
            <a:ext cx="5589270" cy="1645920"/>
          </a:xfrm>
          <a:custGeom>
            <a:avLst/>
            <a:gdLst/>
            <a:ahLst/>
            <a:cxnLst/>
            <a:rect l="l" t="t" r="r" b="b"/>
            <a:pathLst>
              <a:path w="5589270" h="1645920">
                <a:moveTo>
                  <a:pt x="114293" y="0"/>
                </a:moveTo>
                <a:lnTo>
                  <a:pt x="5474977" y="0"/>
                </a:lnTo>
                <a:cubicBezTo>
                  <a:pt x="5538099" y="0"/>
                  <a:pt x="5589270" y="51171"/>
                  <a:pt x="5589270" y="114293"/>
                </a:cubicBezTo>
                <a:lnTo>
                  <a:pt x="5589270" y="1531627"/>
                </a:lnTo>
                <a:cubicBezTo>
                  <a:pt x="5589270" y="1594749"/>
                  <a:pt x="5538099" y="1645920"/>
                  <a:pt x="5474977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9120" y="38022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54142" y="3897511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0620" y="3897511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Өңдеу қабаты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9120" y="4411861"/>
            <a:ext cx="2543175" cy="647700"/>
          </a:xfrm>
          <a:custGeom>
            <a:avLst/>
            <a:gdLst/>
            <a:ahLst/>
            <a:cxnLst/>
            <a:rect l="l" t="t" r="r" b="b"/>
            <a:pathLst>
              <a:path w="2543175" h="6477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571498"/>
                </a:lnTo>
                <a:cubicBezTo>
                  <a:pt x="2543175" y="613583"/>
                  <a:pt x="2509058" y="647700"/>
                  <a:pt x="24669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12470" y="454521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526161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LSTM/Transformer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420" y="4792861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Орбитаны болжау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38500" y="4411861"/>
            <a:ext cx="2543175" cy="647700"/>
          </a:xfrm>
          <a:custGeom>
            <a:avLst/>
            <a:gdLst/>
            <a:ahLst/>
            <a:cxnLst/>
            <a:rect l="l" t="t" r="r" b="b"/>
            <a:pathLst>
              <a:path w="2543175" h="6477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571498"/>
                </a:lnTo>
                <a:cubicBezTo>
                  <a:pt x="2543175" y="613583"/>
                  <a:pt x="2509058" y="647700"/>
                  <a:pt x="24669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71850" y="454521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3619500" y="4526161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52800" y="4792861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Қауіпті жағдайларды анықтау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4110" y="1604010"/>
            <a:ext cx="5589270" cy="2255520"/>
          </a:xfrm>
          <a:custGeom>
            <a:avLst/>
            <a:gdLst/>
            <a:ahLst/>
            <a:cxnLst/>
            <a:rect l="l" t="t" r="r" b="b"/>
            <a:pathLst>
              <a:path w="5589270" h="2255520">
                <a:moveTo>
                  <a:pt x="114310" y="0"/>
                </a:moveTo>
                <a:lnTo>
                  <a:pt x="5474960" y="0"/>
                </a:lnTo>
                <a:cubicBezTo>
                  <a:pt x="5538092" y="0"/>
                  <a:pt x="5589270" y="51178"/>
                  <a:pt x="5589270" y="114310"/>
                </a:cubicBezTo>
                <a:lnTo>
                  <a:pt x="5589270" y="2141210"/>
                </a:lnTo>
                <a:cubicBezTo>
                  <a:pt x="5589270" y="2204342"/>
                  <a:pt x="5538092" y="2255520"/>
                  <a:pt x="5474960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8420" y="1798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80942" y="189357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79920" y="1893573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Аналитика қабаты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8420" y="2407923"/>
            <a:ext cx="5200650" cy="571500"/>
          </a:xfrm>
          <a:custGeom>
            <a:avLst/>
            <a:gdLst/>
            <a:ahLst/>
            <a:cxnLst/>
            <a:rect l="l" t="t" r="r" b="b"/>
            <a:pathLst>
              <a:path w="5200650" h="571500">
                <a:moveTo>
                  <a:pt x="76198" y="0"/>
                </a:moveTo>
                <a:lnTo>
                  <a:pt x="5124452" y="0"/>
                </a:lnTo>
                <a:cubicBezTo>
                  <a:pt x="5166535" y="0"/>
                  <a:pt x="5200650" y="34115"/>
                  <a:pt x="5200650" y="76198"/>
                </a:cubicBezTo>
                <a:lnTo>
                  <a:pt x="5200650" y="495302"/>
                </a:lnTo>
                <a:cubicBezTo>
                  <a:pt x="5200650" y="537385"/>
                  <a:pt x="5166535" y="571500"/>
                  <a:pt x="51244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46532" y="260782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6851332" y="2522223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Scoring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51332" y="2712723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Қауіптілік деңгейін есептеу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08420" y="3093602"/>
            <a:ext cx="5200650" cy="571500"/>
          </a:xfrm>
          <a:custGeom>
            <a:avLst/>
            <a:gdLst/>
            <a:ahLst/>
            <a:cxnLst/>
            <a:rect l="l" t="t" r="r" b="b"/>
            <a:pathLst>
              <a:path w="5200650" h="571500">
                <a:moveTo>
                  <a:pt x="76198" y="0"/>
                </a:moveTo>
                <a:lnTo>
                  <a:pt x="5124452" y="0"/>
                </a:lnTo>
                <a:cubicBezTo>
                  <a:pt x="5166535" y="0"/>
                  <a:pt x="5200650" y="34115"/>
                  <a:pt x="5200650" y="76198"/>
                </a:cubicBezTo>
                <a:lnTo>
                  <a:pt x="5200650" y="495302"/>
                </a:lnTo>
                <a:cubicBezTo>
                  <a:pt x="5200650" y="537385"/>
                  <a:pt x="5166535" y="571500"/>
                  <a:pt x="51244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46532" y="32935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6851332" y="3207902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Conjunction Analysis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51332" y="3398402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Соқтығысу ықтималдығы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4110" y="4019314"/>
            <a:ext cx="5589270" cy="2255520"/>
          </a:xfrm>
          <a:custGeom>
            <a:avLst/>
            <a:gdLst/>
            <a:ahLst/>
            <a:cxnLst/>
            <a:rect l="l" t="t" r="r" b="b"/>
            <a:pathLst>
              <a:path w="5589270" h="2255520">
                <a:moveTo>
                  <a:pt x="114310" y="0"/>
                </a:moveTo>
                <a:lnTo>
                  <a:pt x="5474960" y="0"/>
                </a:lnTo>
                <a:cubicBezTo>
                  <a:pt x="5538092" y="0"/>
                  <a:pt x="5589270" y="51178"/>
                  <a:pt x="5589270" y="114310"/>
                </a:cubicBezTo>
                <a:lnTo>
                  <a:pt x="5589270" y="2141210"/>
                </a:lnTo>
                <a:cubicBezTo>
                  <a:pt x="5589270" y="2204342"/>
                  <a:pt x="5538092" y="2255520"/>
                  <a:pt x="5474960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20000"/>
                </a:srgbClr>
              </a:gs>
              <a:gs pos="100000">
                <a:srgbClr val="22C55E">
                  <a:alpha val="5000"/>
                </a:srgbClr>
              </a:gs>
            </a:gsLst>
            <a:lin ang="2700000" scaled="1"/>
          </a:gradFill>
          <a:ln w="1016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8420" y="42136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581180" y="4308872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79920" y="4308872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Визуализация қабаты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8420" y="4823222"/>
            <a:ext cx="5200650" cy="571500"/>
          </a:xfrm>
          <a:custGeom>
            <a:avLst/>
            <a:gdLst/>
            <a:ahLst/>
            <a:cxnLst/>
            <a:rect l="l" t="t" r="r" b="b"/>
            <a:pathLst>
              <a:path w="5200650" h="571500">
                <a:moveTo>
                  <a:pt x="76198" y="0"/>
                </a:moveTo>
                <a:lnTo>
                  <a:pt x="5124452" y="0"/>
                </a:lnTo>
                <a:cubicBezTo>
                  <a:pt x="5166535" y="0"/>
                  <a:pt x="5200650" y="34115"/>
                  <a:pt x="5200650" y="76198"/>
                </a:cubicBezTo>
                <a:lnTo>
                  <a:pt x="5200650" y="495302"/>
                </a:lnTo>
                <a:cubicBezTo>
                  <a:pt x="5200650" y="537385"/>
                  <a:pt x="5166535" y="571500"/>
                  <a:pt x="51244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546532" y="50231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16073"/>
                </a:moveTo>
                <a:cubicBezTo>
                  <a:pt x="171450" y="12356"/>
                  <a:pt x="169541" y="8907"/>
                  <a:pt x="166360" y="6965"/>
                </a:cubicBezTo>
                <a:cubicBezTo>
                  <a:pt x="163179" y="5023"/>
                  <a:pt x="159261" y="4822"/>
                  <a:pt x="155946" y="6496"/>
                </a:cubicBezTo>
                <a:lnTo>
                  <a:pt x="117035" y="25952"/>
                </a:lnTo>
                <a:lnTo>
                  <a:pt x="56960" y="5894"/>
                </a:lnTo>
                <a:cubicBezTo>
                  <a:pt x="54248" y="4989"/>
                  <a:pt x="51335" y="5190"/>
                  <a:pt x="48790" y="6463"/>
                </a:cubicBezTo>
                <a:lnTo>
                  <a:pt x="5927" y="27894"/>
                </a:lnTo>
                <a:cubicBezTo>
                  <a:pt x="2277" y="29736"/>
                  <a:pt x="0" y="33453"/>
                  <a:pt x="0" y="37505"/>
                </a:cubicBezTo>
                <a:lnTo>
                  <a:pt x="0" y="155377"/>
                </a:lnTo>
                <a:cubicBezTo>
                  <a:pt x="0" y="159094"/>
                  <a:pt x="1909" y="162543"/>
                  <a:pt x="5090" y="164485"/>
                </a:cubicBezTo>
                <a:cubicBezTo>
                  <a:pt x="8271" y="166427"/>
                  <a:pt x="12189" y="166628"/>
                  <a:pt x="15504" y="164954"/>
                </a:cubicBezTo>
                <a:lnTo>
                  <a:pt x="54382" y="145498"/>
                </a:lnTo>
                <a:lnTo>
                  <a:pt x="114456" y="165523"/>
                </a:lnTo>
                <a:cubicBezTo>
                  <a:pt x="117169" y="166427"/>
                  <a:pt x="120082" y="166226"/>
                  <a:pt x="122627" y="164954"/>
                </a:cubicBezTo>
                <a:lnTo>
                  <a:pt x="165489" y="143522"/>
                </a:lnTo>
                <a:cubicBezTo>
                  <a:pt x="169106" y="141714"/>
                  <a:pt x="171417" y="137997"/>
                  <a:pt x="171417" y="133945"/>
                </a:cubicBezTo>
                <a:lnTo>
                  <a:pt x="171417" y="16073"/>
                </a:lnTo>
                <a:close/>
                <a:moveTo>
                  <a:pt x="64294" y="126210"/>
                </a:moveTo>
                <a:lnTo>
                  <a:pt x="64294" y="30941"/>
                </a:lnTo>
                <a:lnTo>
                  <a:pt x="107156" y="45240"/>
                </a:lnTo>
                <a:lnTo>
                  <a:pt x="107156" y="140509"/>
                </a:lnTo>
                <a:lnTo>
                  <a:pt x="64294" y="126210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1" name="Text 49"/>
          <p:cNvSpPr/>
          <p:nvPr/>
        </p:nvSpPr>
        <p:spPr>
          <a:xfrm>
            <a:off x="6851332" y="4937522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Интерактивті карта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51332" y="5128022"/>
            <a:ext cx="1781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Нақты уақыттағы визуализация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8420" y="5508906"/>
            <a:ext cx="5200650" cy="571500"/>
          </a:xfrm>
          <a:custGeom>
            <a:avLst/>
            <a:gdLst/>
            <a:ahLst/>
            <a:cxnLst/>
            <a:rect l="l" t="t" r="r" b="b"/>
            <a:pathLst>
              <a:path w="5200650" h="571500">
                <a:moveTo>
                  <a:pt x="76198" y="0"/>
                </a:moveTo>
                <a:lnTo>
                  <a:pt x="5124452" y="0"/>
                </a:lnTo>
                <a:cubicBezTo>
                  <a:pt x="5166535" y="0"/>
                  <a:pt x="5200650" y="34115"/>
                  <a:pt x="5200650" y="76198"/>
                </a:cubicBezTo>
                <a:lnTo>
                  <a:pt x="5200650" y="495302"/>
                </a:lnTo>
                <a:cubicBezTo>
                  <a:pt x="5200650" y="537385"/>
                  <a:pt x="5166535" y="571500"/>
                  <a:pt x="51244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57248" y="570881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0"/>
                </a:moveTo>
                <a:cubicBezTo>
                  <a:pt x="69082" y="0"/>
                  <a:pt x="64294" y="4789"/>
                  <a:pt x="64294" y="10716"/>
                </a:cubicBezTo>
                <a:lnTo>
                  <a:pt x="64294" y="11787"/>
                </a:lnTo>
                <a:cubicBezTo>
                  <a:pt x="39849" y="16743"/>
                  <a:pt x="21431" y="38375"/>
                  <a:pt x="21431" y="64294"/>
                </a:cubicBezTo>
                <a:lnTo>
                  <a:pt x="21431" y="71560"/>
                </a:lnTo>
                <a:cubicBezTo>
                  <a:pt x="21431" y="87667"/>
                  <a:pt x="15939" y="103305"/>
                  <a:pt x="5894" y="115896"/>
                </a:cubicBezTo>
                <a:lnTo>
                  <a:pt x="2612" y="119982"/>
                </a:lnTo>
                <a:cubicBezTo>
                  <a:pt x="904" y="122091"/>
                  <a:pt x="0" y="124703"/>
                  <a:pt x="0" y="127415"/>
                </a:cubicBezTo>
                <a:cubicBezTo>
                  <a:pt x="0" y="133979"/>
                  <a:pt x="5324" y="139303"/>
                  <a:pt x="11888" y="139303"/>
                </a:cubicBezTo>
                <a:lnTo>
                  <a:pt x="138098" y="139303"/>
                </a:lnTo>
                <a:cubicBezTo>
                  <a:pt x="144661" y="139303"/>
                  <a:pt x="149985" y="133979"/>
                  <a:pt x="149985" y="127415"/>
                </a:cubicBezTo>
                <a:cubicBezTo>
                  <a:pt x="149985" y="124703"/>
                  <a:pt x="149081" y="122091"/>
                  <a:pt x="147373" y="119982"/>
                </a:cubicBezTo>
                <a:lnTo>
                  <a:pt x="144092" y="115896"/>
                </a:lnTo>
                <a:cubicBezTo>
                  <a:pt x="134079" y="103305"/>
                  <a:pt x="128588" y="87667"/>
                  <a:pt x="128588" y="71560"/>
                </a:cubicBezTo>
                <a:lnTo>
                  <a:pt x="128588" y="64294"/>
                </a:lnTo>
                <a:cubicBezTo>
                  <a:pt x="128588" y="38375"/>
                  <a:pt x="110170" y="16743"/>
                  <a:pt x="85725" y="11787"/>
                </a:cubicBezTo>
                <a:lnTo>
                  <a:pt x="85725" y="10716"/>
                </a:lnTo>
                <a:cubicBezTo>
                  <a:pt x="85725" y="4789"/>
                  <a:pt x="80936" y="0"/>
                  <a:pt x="75009" y="0"/>
                </a:cubicBezTo>
                <a:close/>
                <a:moveTo>
                  <a:pt x="54248" y="155377"/>
                </a:moveTo>
                <a:cubicBezTo>
                  <a:pt x="56625" y="164619"/>
                  <a:pt x="65030" y="171450"/>
                  <a:pt x="75009" y="171450"/>
                </a:cubicBezTo>
                <a:cubicBezTo>
                  <a:pt x="84988" y="171450"/>
                  <a:pt x="93393" y="164619"/>
                  <a:pt x="95771" y="155377"/>
                </a:cubicBezTo>
                <a:lnTo>
                  <a:pt x="54248" y="155377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5" name="Text 53"/>
          <p:cNvSpPr/>
          <p:nvPr/>
        </p:nvSpPr>
        <p:spPr>
          <a:xfrm>
            <a:off x="6851332" y="5623206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Ескерту жүйесі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51332" y="5813706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Хабарландырулар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438775" y="64308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8" name="Shape 56"/>
          <p:cNvSpPr/>
          <p:nvPr/>
        </p:nvSpPr>
        <p:spPr>
          <a:xfrm>
            <a:off x="5829300" y="64308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Shape 57"/>
          <p:cNvSpPr/>
          <p:nvPr/>
        </p:nvSpPr>
        <p:spPr>
          <a:xfrm>
            <a:off x="6219825" y="64308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60" name="Shape 58"/>
          <p:cNvSpPr/>
          <p:nvPr/>
        </p:nvSpPr>
        <p:spPr>
          <a:xfrm>
            <a:off x="6610350" y="64308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22C55E"/>
          </a:solidFill>
          <a:ln/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138" y="339138"/>
            <a:ext cx="11573074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kern="0" spc="47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138" y="576534"/>
            <a:ext cx="11666337" cy="33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Негізгі функционалдық мүмкіндіктер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138" y="983499"/>
            <a:ext cx="11598509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SpaceAI Monitor не істей алады?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529" y="1427770"/>
            <a:ext cx="3720340" cy="2736841"/>
          </a:xfrm>
          <a:custGeom>
            <a:avLst/>
            <a:gdLst/>
            <a:ahLst/>
            <a:cxnLst/>
            <a:rect l="l" t="t" r="r" b="b"/>
            <a:pathLst>
              <a:path w="3720340" h="2736841">
                <a:moveTo>
                  <a:pt x="101728" y="0"/>
                </a:moveTo>
                <a:lnTo>
                  <a:pt x="3618612" y="0"/>
                </a:lnTo>
                <a:cubicBezTo>
                  <a:pt x="3674795" y="0"/>
                  <a:pt x="3720340" y="45545"/>
                  <a:pt x="3720340" y="101728"/>
                </a:cubicBezTo>
                <a:lnTo>
                  <a:pt x="3720340" y="2635113"/>
                </a:lnTo>
                <a:cubicBezTo>
                  <a:pt x="3720340" y="2691296"/>
                  <a:pt x="3674795" y="2736841"/>
                  <a:pt x="3618612" y="2736841"/>
                </a:cubicBezTo>
                <a:lnTo>
                  <a:pt x="101728" y="2736841"/>
                </a:lnTo>
                <a:cubicBezTo>
                  <a:pt x="45545" y="2736841"/>
                  <a:pt x="0" y="2691296"/>
                  <a:pt x="0" y="2635113"/>
                </a:cubicBezTo>
                <a:lnTo>
                  <a:pt x="0" y="101728"/>
                </a:lnTo>
                <a:cubicBezTo>
                  <a:pt x="0" y="45583"/>
                  <a:pt x="45583" y="0"/>
                  <a:pt x="10172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5489" y="1600732"/>
            <a:ext cx="474793" cy="474793"/>
          </a:xfrm>
          <a:custGeom>
            <a:avLst/>
            <a:gdLst/>
            <a:ahLst/>
            <a:cxnLst/>
            <a:rect l="l" t="t" r="r" b="b"/>
            <a:pathLst>
              <a:path w="474793" h="474793">
                <a:moveTo>
                  <a:pt x="101743" y="0"/>
                </a:moveTo>
                <a:lnTo>
                  <a:pt x="373049" y="0"/>
                </a:lnTo>
                <a:cubicBezTo>
                  <a:pt x="429203" y="0"/>
                  <a:pt x="474793" y="45590"/>
                  <a:pt x="474793" y="101743"/>
                </a:cubicBezTo>
                <a:lnTo>
                  <a:pt x="474793" y="373049"/>
                </a:lnTo>
                <a:cubicBezTo>
                  <a:pt x="474793" y="429203"/>
                  <a:pt x="429203" y="474793"/>
                  <a:pt x="373049" y="474793"/>
                </a:cubicBezTo>
                <a:lnTo>
                  <a:pt x="101743" y="474793"/>
                </a:lnTo>
                <a:cubicBezTo>
                  <a:pt x="45590" y="474793"/>
                  <a:pt x="0" y="429203"/>
                  <a:pt x="0" y="373049"/>
                </a:cubicBezTo>
                <a:lnTo>
                  <a:pt x="0" y="101743"/>
                </a:lnTo>
                <a:cubicBezTo>
                  <a:pt x="0" y="45590"/>
                  <a:pt x="45590" y="0"/>
                  <a:pt x="101743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1144" y="1736387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203483" y="38153"/>
                </a:moveTo>
                <a:cubicBezTo>
                  <a:pt x="203483" y="58104"/>
                  <a:pt x="179995" y="87871"/>
                  <a:pt x="169860" y="99754"/>
                </a:cubicBezTo>
                <a:cubicBezTo>
                  <a:pt x="168350" y="101503"/>
                  <a:pt x="166124" y="102178"/>
                  <a:pt x="164098" y="101741"/>
                </a:cubicBezTo>
                <a:lnTo>
                  <a:pt x="127177" y="101741"/>
                </a:lnTo>
                <a:cubicBezTo>
                  <a:pt x="120142" y="101741"/>
                  <a:pt x="114459" y="107425"/>
                  <a:pt x="114459" y="114459"/>
                </a:cubicBezTo>
                <a:cubicBezTo>
                  <a:pt x="114459" y="121493"/>
                  <a:pt x="120142" y="127177"/>
                  <a:pt x="127177" y="127177"/>
                </a:cubicBezTo>
                <a:lnTo>
                  <a:pt x="165330" y="127177"/>
                </a:lnTo>
                <a:cubicBezTo>
                  <a:pt x="186393" y="127177"/>
                  <a:pt x="203483" y="144266"/>
                  <a:pt x="203483" y="165330"/>
                </a:cubicBezTo>
                <a:cubicBezTo>
                  <a:pt x="203483" y="186393"/>
                  <a:pt x="186393" y="203483"/>
                  <a:pt x="165330" y="203483"/>
                </a:cubicBezTo>
                <a:lnTo>
                  <a:pt x="55481" y="203483"/>
                </a:lnTo>
                <a:cubicBezTo>
                  <a:pt x="58938" y="199548"/>
                  <a:pt x="63151" y="194501"/>
                  <a:pt x="67404" y="188857"/>
                </a:cubicBezTo>
                <a:cubicBezTo>
                  <a:pt x="69907" y="185519"/>
                  <a:pt x="72491" y="181863"/>
                  <a:pt x="74955" y="178047"/>
                </a:cubicBezTo>
                <a:lnTo>
                  <a:pt x="165330" y="178047"/>
                </a:lnTo>
                <a:cubicBezTo>
                  <a:pt x="172364" y="178047"/>
                  <a:pt x="178047" y="172364"/>
                  <a:pt x="178047" y="165330"/>
                </a:cubicBezTo>
                <a:cubicBezTo>
                  <a:pt x="178047" y="158295"/>
                  <a:pt x="172364" y="152612"/>
                  <a:pt x="165330" y="152612"/>
                </a:cubicBezTo>
                <a:lnTo>
                  <a:pt x="127177" y="152612"/>
                </a:lnTo>
                <a:cubicBezTo>
                  <a:pt x="106113" y="152612"/>
                  <a:pt x="89024" y="135523"/>
                  <a:pt x="89024" y="114459"/>
                </a:cubicBezTo>
                <a:cubicBezTo>
                  <a:pt x="89024" y="93395"/>
                  <a:pt x="106113" y="76306"/>
                  <a:pt x="127177" y="76306"/>
                </a:cubicBezTo>
                <a:lnTo>
                  <a:pt x="142994" y="76306"/>
                </a:lnTo>
                <a:cubicBezTo>
                  <a:pt x="134648" y="63787"/>
                  <a:pt x="127177" y="49400"/>
                  <a:pt x="127177" y="38153"/>
                </a:cubicBezTo>
                <a:cubicBezTo>
                  <a:pt x="127177" y="17089"/>
                  <a:pt x="144266" y="0"/>
                  <a:pt x="165330" y="0"/>
                </a:cubicBezTo>
                <a:cubicBezTo>
                  <a:pt x="186393" y="0"/>
                  <a:pt x="203483" y="17089"/>
                  <a:pt x="203483" y="38153"/>
                </a:cubicBezTo>
                <a:close/>
                <a:moveTo>
                  <a:pt x="46539" y="194382"/>
                </a:moveTo>
                <a:cubicBezTo>
                  <a:pt x="45028" y="196090"/>
                  <a:pt x="43677" y="197601"/>
                  <a:pt x="42525" y="198872"/>
                </a:cubicBezTo>
                <a:lnTo>
                  <a:pt x="41809" y="199667"/>
                </a:lnTo>
                <a:lnTo>
                  <a:pt x="41730" y="199588"/>
                </a:lnTo>
                <a:cubicBezTo>
                  <a:pt x="39345" y="201416"/>
                  <a:pt x="35927" y="201178"/>
                  <a:pt x="33781" y="198872"/>
                </a:cubicBezTo>
                <a:cubicBezTo>
                  <a:pt x="23766" y="187983"/>
                  <a:pt x="0" y="159964"/>
                  <a:pt x="0" y="139894"/>
                </a:cubicBezTo>
                <a:cubicBezTo>
                  <a:pt x="0" y="118831"/>
                  <a:pt x="17089" y="101741"/>
                  <a:pt x="38153" y="101741"/>
                </a:cubicBezTo>
                <a:cubicBezTo>
                  <a:pt x="59217" y="101741"/>
                  <a:pt x="76306" y="118831"/>
                  <a:pt x="76306" y="139894"/>
                </a:cubicBezTo>
                <a:cubicBezTo>
                  <a:pt x="76306" y="151817"/>
                  <a:pt x="67920" y="166522"/>
                  <a:pt x="59018" y="178802"/>
                </a:cubicBezTo>
                <a:cubicBezTo>
                  <a:pt x="54765" y="184645"/>
                  <a:pt x="50394" y="189930"/>
                  <a:pt x="46777" y="194103"/>
                </a:cubicBezTo>
                <a:lnTo>
                  <a:pt x="46539" y="194382"/>
                </a:lnTo>
                <a:close/>
                <a:moveTo>
                  <a:pt x="50871" y="139894"/>
                </a:moveTo>
                <a:cubicBezTo>
                  <a:pt x="50871" y="132875"/>
                  <a:pt x="45172" y="127177"/>
                  <a:pt x="38153" y="127177"/>
                </a:cubicBezTo>
                <a:cubicBezTo>
                  <a:pt x="31134" y="127177"/>
                  <a:pt x="25435" y="132875"/>
                  <a:pt x="25435" y="139894"/>
                </a:cubicBezTo>
                <a:cubicBezTo>
                  <a:pt x="25435" y="146913"/>
                  <a:pt x="31134" y="152612"/>
                  <a:pt x="38153" y="152612"/>
                </a:cubicBezTo>
                <a:cubicBezTo>
                  <a:pt x="45172" y="152612"/>
                  <a:pt x="50871" y="146913"/>
                  <a:pt x="50871" y="139894"/>
                </a:cubicBezTo>
                <a:close/>
                <a:moveTo>
                  <a:pt x="165330" y="50871"/>
                </a:moveTo>
                <a:cubicBezTo>
                  <a:pt x="172349" y="50871"/>
                  <a:pt x="178047" y="45172"/>
                  <a:pt x="178047" y="38153"/>
                </a:cubicBezTo>
                <a:cubicBezTo>
                  <a:pt x="178047" y="31134"/>
                  <a:pt x="172349" y="25435"/>
                  <a:pt x="165330" y="25435"/>
                </a:cubicBezTo>
                <a:cubicBezTo>
                  <a:pt x="158311" y="25435"/>
                  <a:pt x="152612" y="31134"/>
                  <a:pt x="152612" y="38153"/>
                </a:cubicBezTo>
                <a:cubicBezTo>
                  <a:pt x="152612" y="45172"/>
                  <a:pt x="158311" y="50871"/>
                  <a:pt x="165330" y="5087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15489" y="2211180"/>
            <a:ext cx="3459204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Орбита болжамы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5489" y="2550318"/>
            <a:ext cx="3442248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LSTM/Transformer модельдері арқылы спутниктер мен қоқыстардың траекториясын болжау.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865" y="3152287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690" y="3126852"/>
            <a:ext cx="193308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Атмосфералық кедергіні есептеу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865" y="3389684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690" y="3364248"/>
            <a:ext cx="1432857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Гравитациялық әсерлер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865" y="3627080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690" y="3601645"/>
            <a:ext cx="1441335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 күнге дейінгі болжам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7525" y="1427770"/>
            <a:ext cx="3720340" cy="2736841"/>
          </a:xfrm>
          <a:custGeom>
            <a:avLst/>
            <a:gdLst/>
            <a:ahLst/>
            <a:cxnLst/>
            <a:rect l="l" t="t" r="r" b="b"/>
            <a:pathLst>
              <a:path w="3720340" h="2736841">
                <a:moveTo>
                  <a:pt x="101728" y="0"/>
                </a:moveTo>
                <a:lnTo>
                  <a:pt x="3618612" y="0"/>
                </a:lnTo>
                <a:cubicBezTo>
                  <a:pt x="3674795" y="0"/>
                  <a:pt x="3720340" y="45545"/>
                  <a:pt x="3720340" y="101728"/>
                </a:cubicBezTo>
                <a:lnTo>
                  <a:pt x="3720340" y="2635113"/>
                </a:lnTo>
                <a:cubicBezTo>
                  <a:pt x="3720340" y="2691296"/>
                  <a:pt x="3674795" y="2736841"/>
                  <a:pt x="3618612" y="2736841"/>
                </a:cubicBezTo>
                <a:lnTo>
                  <a:pt x="101728" y="2736841"/>
                </a:lnTo>
                <a:cubicBezTo>
                  <a:pt x="45545" y="2736841"/>
                  <a:pt x="0" y="2691296"/>
                  <a:pt x="0" y="2635113"/>
                </a:cubicBezTo>
                <a:lnTo>
                  <a:pt x="0" y="101728"/>
                </a:lnTo>
                <a:cubicBezTo>
                  <a:pt x="0" y="45583"/>
                  <a:pt x="45583" y="0"/>
                  <a:pt x="10172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0486" y="1600732"/>
            <a:ext cx="474793" cy="474793"/>
          </a:xfrm>
          <a:custGeom>
            <a:avLst/>
            <a:gdLst/>
            <a:ahLst/>
            <a:cxnLst/>
            <a:rect l="l" t="t" r="r" b="b"/>
            <a:pathLst>
              <a:path w="474793" h="474793">
                <a:moveTo>
                  <a:pt x="101743" y="0"/>
                </a:moveTo>
                <a:lnTo>
                  <a:pt x="373049" y="0"/>
                </a:lnTo>
                <a:cubicBezTo>
                  <a:pt x="429203" y="0"/>
                  <a:pt x="474793" y="45590"/>
                  <a:pt x="474793" y="101743"/>
                </a:cubicBezTo>
                <a:lnTo>
                  <a:pt x="474793" y="373049"/>
                </a:lnTo>
                <a:cubicBezTo>
                  <a:pt x="474793" y="429203"/>
                  <a:pt x="429203" y="474793"/>
                  <a:pt x="373049" y="474793"/>
                </a:cubicBezTo>
                <a:lnTo>
                  <a:pt x="101743" y="474793"/>
                </a:lnTo>
                <a:cubicBezTo>
                  <a:pt x="45590" y="474793"/>
                  <a:pt x="0" y="429203"/>
                  <a:pt x="0" y="373049"/>
                </a:cubicBezTo>
                <a:lnTo>
                  <a:pt x="0" y="101743"/>
                </a:lnTo>
                <a:cubicBezTo>
                  <a:pt x="0" y="45590"/>
                  <a:pt x="45590" y="0"/>
                  <a:pt x="10174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46141" y="1736387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165330" y="82665"/>
                </a:moveTo>
                <a:cubicBezTo>
                  <a:pt x="165330" y="100907"/>
                  <a:pt x="159408" y="117758"/>
                  <a:pt x="149433" y="131429"/>
                </a:cubicBezTo>
                <a:lnTo>
                  <a:pt x="199747" y="181783"/>
                </a:lnTo>
                <a:cubicBezTo>
                  <a:pt x="204715" y="186751"/>
                  <a:pt x="204715" y="194819"/>
                  <a:pt x="199747" y="199787"/>
                </a:cubicBezTo>
                <a:cubicBezTo>
                  <a:pt x="194779" y="204754"/>
                  <a:pt x="186711" y="204754"/>
                  <a:pt x="181743" y="199787"/>
                </a:cubicBezTo>
                <a:lnTo>
                  <a:pt x="131429" y="149433"/>
                </a:lnTo>
                <a:cubicBezTo>
                  <a:pt x="117758" y="159408"/>
                  <a:pt x="100907" y="165330"/>
                  <a:pt x="82665" y="165330"/>
                </a:cubicBezTo>
                <a:cubicBezTo>
                  <a:pt x="37000" y="165330"/>
                  <a:pt x="0" y="128329"/>
                  <a:pt x="0" y="82665"/>
                </a:cubicBezTo>
                <a:cubicBezTo>
                  <a:pt x="0" y="37000"/>
                  <a:pt x="37000" y="0"/>
                  <a:pt x="82665" y="0"/>
                </a:cubicBezTo>
                <a:cubicBezTo>
                  <a:pt x="128329" y="0"/>
                  <a:pt x="165330" y="37000"/>
                  <a:pt x="165330" y="82665"/>
                </a:cubicBezTo>
                <a:close/>
                <a:moveTo>
                  <a:pt x="82665" y="139894"/>
                </a:moveTo>
                <a:cubicBezTo>
                  <a:pt x="114251" y="139894"/>
                  <a:pt x="139894" y="114251"/>
                  <a:pt x="139894" y="82665"/>
                </a:cubicBezTo>
                <a:cubicBezTo>
                  <a:pt x="139894" y="51079"/>
                  <a:pt x="114251" y="25435"/>
                  <a:pt x="82665" y="25435"/>
                </a:cubicBezTo>
                <a:cubicBezTo>
                  <a:pt x="51079" y="25435"/>
                  <a:pt x="25435" y="51079"/>
                  <a:pt x="25435" y="82665"/>
                </a:cubicBezTo>
                <a:cubicBezTo>
                  <a:pt x="25435" y="114251"/>
                  <a:pt x="51079" y="139894"/>
                  <a:pt x="82665" y="13989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410486" y="2211180"/>
            <a:ext cx="3459204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Қауіпті жұптарды табу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10486" y="2550318"/>
            <a:ext cx="3442248" cy="66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Anomaly detection алгоритмдері арқылы соқтығысуы мүмкін нысандарды автоматты анықтау.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4861" y="3372727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686" y="3347291"/>
            <a:ext cx="1458292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Нақты уақыттағы талдау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4861" y="3610123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4626686" y="3584688"/>
            <a:ext cx="1263288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Ықтималдық есептеу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4861" y="3847520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626686" y="3822084"/>
            <a:ext cx="1356551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Минималды қашықтық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2522" y="1427770"/>
            <a:ext cx="3720340" cy="2736841"/>
          </a:xfrm>
          <a:custGeom>
            <a:avLst/>
            <a:gdLst/>
            <a:ahLst/>
            <a:cxnLst/>
            <a:rect l="l" t="t" r="r" b="b"/>
            <a:pathLst>
              <a:path w="3720340" h="2736841">
                <a:moveTo>
                  <a:pt x="101728" y="0"/>
                </a:moveTo>
                <a:lnTo>
                  <a:pt x="3618612" y="0"/>
                </a:lnTo>
                <a:cubicBezTo>
                  <a:pt x="3674795" y="0"/>
                  <a:pt x="3720340" y="45545"/>
                  <a:pt x="3720340" y="101728"/>
                </a:cubicBezTo>
                <a:lnTo>
                  <a:pt x="3720340" y="2635113"/>
                </a:lnTo>
                <a:cubicBezTo>
                  <a:pt x="3720340" y="2691296"/>
                  <a:pt x="3674795" y="2736841"/>
                  <a:pt x="3618612" y="2736841"/>
                </a:cubicBezTo>
                <a:lnTo>
                  <a:pt x="101728" y="2736841"/>
                </a:lnTo>
                <a:cubicBezTo>
                  <a:pt x="45545" y="2736841"/>
                  <a:pt x="0" y="2691296"/>
                  <a:pt x="0" y="2635113"/>
                </a:cubicBezTo>
                <a:lnTo>
                  <a:pt x="0" y="101728"/>
                </a:lnTo>
                <a:cubicBezTo>
                  <a:pt x="0" y="45583"/>
                  <a:pt x="45583" y="0"/>
                  <a:pt x="10172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05482" y="1600732"/>
            <a:ext cx="474793" cy="474793"/>
          </a:xfrm>
          <a:custGeom>
            <a:avLst/>
            <a:gdLst/>
            <a:ahLst/>
            <a:cxnLst/>
            <a:rect l="l" t="t" r="r" b="b"/>
            <a:pathLst>
              <a:path w="474793" h="474793">
                <a:moveTo>
                  <a:pt x="101743" y="0"/>
                </a:moveTo>
                <a:lnTo>
                  <a:pt x="373049" y="0"/>
                </a:lnTo>
                <a:cubicBezTo>
                  <a:pt x="429203" y="0"/>
                  <a:pt x="474793" y="45590"/>
                  <a:pt x="474793" y="101743"/>
                </a:cubicBezTo>
                <a:lnTo>
                  <a:pt x="474793" y="373049"/>
                </a:lnTo>
                <a:cubicBezTo>
                  <a:pt x="474793" y="429203"/>
                  <a:pt x="429203" y="474793"/>
                  <a:pt x="373049" y="474793"/>
                </a:cubicBezTo>
                <a:lnTo>
                  <a:pt x="101743" y="474793"/>
                </a:lnTo>
                <a:cubicBezTo>
                  <a:pt x="45590" y="474793"/>
                  <a:pt x="0" y="429203"/>
                  <a:pt x="0" y="373049"/>
                </a:cubicBezTo>
                <a:lnTo>
                  <a:pt x="0" y="101743"/>
                </a:lnTo>
                <a:cubicBezTo>
                  <a:pt x="0" y="45590"/>
                  <a:pt x="45590" y="0"/>
                  <a:pt x="101743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441137" y="1736387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101741" y="0"/>
                </a:moveTo>
                <a:cubicBezTo>
                  <a:pt x="103569" y="0"/>
                  <a:pt x="105398" y="397"/>
                  <a:pt x="107067" y="1153"/>
                </a:cubicBezTo>
                <a:lnTo>
                  <a:pt x="181942" y="32907"/>
                </a:lnTo>
                <a:cubicBezTo>
                  <a:pt x="190685" y="36603"/>
                  <a:pt x="197203" y="45227"/>
                  <a:pt x="197164" y="55640"/>
                </a:cubicBezTo>
                <a:cubicBezTo>
                  <a:pt x="196965" y="95065"/>
                  <a:pt x="180750" y="167198"/>
                  <a:pt x="112273" y="199985"/>
                </a:cubicBezTo>
                <a:cubicBezTo>
                  <a:pt x="105636" y="203165"/>
                  <a:pt x="97926" y="203165"/>
                  <a:pt x="91289" y="199985"/>
                </a:cubicBezTo>
                <a:cubicBezTo>
                  <a:pt x="22773" y="167198"/>
                  <a:pt x="6597" y="95065"/>
                  <a:pt x="6399" y="55640"/>
                </a:cubicBezTo>
                <a:cubicBezTo>
                  <a:pt x="6359" y="45227"/>
                  <a:pt x="12877" y="36603"/>
                  <a:pt x="21620" y="32907"/>
                </a:cubicBezTo>
                <a:lnTo>
                  <a:pt x="96456" y="1153"/>
                </a:lnTo>
                <a:cubicBezTo>
                  <a:pt x="98125" y="397"/>
                  <a:pt x="99913" y="0"/>
                  <a:pt x="101741" y="0"/>
                </a:cubicBezTo>
                <a:close/>
                <a:moveTo>
                  <a:pt x="101741" y="26548"/>
                </a:moveTo>
                <a:lnTo>
                  <a:pt x="101741" y="176815"/>
                </a:lnTo>
                <a:cubicBezTo>
                  <a:pt x="156586" y="150267"/>
                  <a:pt x="171331" y="91448"/>
                  <a:pt x="171688" y="56236"/>
                </a:cubicBezTo>
                <a:lnTo>
                  <a:pt x="101741" y="26588"/>
                </a:lnTo>
                <a:lnTo>
                  <a:pt x="101741" y="26588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8305482" y="2211180"/>
            <a:ext cx="3459204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Scoring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05482" y="2550318"/>
            <a:ext cx="3442248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Әрбір объект үшін қауіптілік деңгейін есептеу және рейтингтеу.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29858" y="3152287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8521683" y="3126852"/>
            <a:ext cx="1560033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Төмен / Орташа / Жоғары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29858" y="3389684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8521683" y="3364248"/>
            <a:ext cx="1348072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Динамикалық жаңарту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29858" y="3627080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8521683" y="3601645"/>
            <a:ext cx="847844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Приоритеттеу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2529" y="4340963"/>
            <a:ext cx="3720340" cy="2516402"/>
          </a:xfrm>
          <a:custGeom>
            <a:avLst/>
            <a:gdLst/>
            <a:ahLst/>
            <a:cxnLst/>
            <a:rect l="l" t="t" r="r" b="b"/>
            <a:pathLst>
              <a:path w="3720340" h="2516402">
                <a:moveTo>
                  <a:pt x="101738" y="0"/>
                </a:moveTo>
                <a:lnTo>
                  <a:pt x="3618602" y="0"/>
                </a:lnTo>
                <a:cubicBezTo>
                  <a:pt x="3674791" y="0"/>
                  <a:pt x="3720340" y="45550"/>
                  <a:pt x="3720340" y="101738"/>
                </a:cubicBezTo>
                <a:lnTo>
                  <a:pt x="3720340" y="2414664"/>
                </a:lnTo>
                <a:cubicBezTo>
                  <a:pt x="3720340" y="2470852"/>
                  <a:pt x="3674791" y="2516402"/>
                  <a:pt x="3618602" y="2516402"/>
                </a:cubicBezTo>
                <a:lnTo>
                  <a:pt x="101738" y="2516402"/>
                </a:lnTo>
                <a:cubicBezTo>
                  <a:pt x="45550" y="2516402"/>
                  <a:pt x="0" y="2470852"/>
                  <a:pt x="0" y="2414664"/>
                </a:cubicBezTo>
                <a:lnTo>
                  <a:pt x="0" y="101738"/>
                </a:lnTo>
                <a:cubicBezTo>
                  <a:pt x="0" y="45587"/>
                  <a:pt x="45587" y="0"/>
                  <a:pt x="10173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5489" y="4513922"/>
            <a:ext cx="474793" cy="474793"/>
          </a:xfrm>
          <a:custGeom>
            <a:avLst/>
            <a:gdLst/>
            <a:ahLst/>
            <a:cxnLst/>
            <a:rect l="l" t="t" r="r" b="b"/>
            <a:pathLst>
              <a:path w="474793" h="474793">
                <a:moveTo>
                  <a:pt x="101743" y="0"/>
                </a:moveTo>
                <a:lnTo>
                  <a:pt x="373049" y="0"/>
                </a:lnTo>
                <a:cubicBezTo>
                  <a:pt x="429203" y="0"/>
                  <a:pt x="474793" y="45590"/>
                  <a:pt x="474793" y="101743"/>
                </a:cubicBezTo>
                <a:lnTo>
                  <a:pt x="474793" y="373049"/>
                </a:lnTo>
                <a:cubicBezTo>
                  <a:pt x="474793" y="429203"/>
                  <a:pt x="429203" y="474793"/>
                  <a:pt x="373049" y="474793"/>
                </a:cubicBezTo>
                <a:lnTo>
                  <a:pt x="101743" y="474793"/>
                </a:lnTo>
                <a:cubicBezTo>
                  <a:pt x="45590" y="474793"/>
                  <a:pt x="0" y="429203"/>
                  <a:pt x="0" y="373049"/>
                </a:cubicBezTo>
                <a:lnTo>
                  <a:pt x="0" y="101743"/>
                </a:lnTo>
                <a:cubicBezTo>
                  <a:pt x="0" y="45590"/>
                  <a:pt x="45590" y="0"/>
                  <a:pt x="101743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5709" y="4649577"/>
            <a:ext cx="254353" cy="203483"/>
          </a:xfrm>
          <a:custGeom>
            <a:avLst/>
            <a:gdLst/>
            <a:ahLst/>
            <a:cxnLst/>
            <a:rect l="l" t="t" r="r" b="b"/>
            <a:pathLst>
              <a:path w="254353" h="203483">
                <a:moveTo>
                  <a:pt x="228918" y="19076"/>
                </a:moveTo>
                <a:cubicBezTo>
                  <a:pt x="228918" y="14665"/>
                  <a:pt x="226653" y="10572"/>
                  <a:pt x="222877" y="8266"/>
                </a:cubicBezTo>
                <a:cubicBezTo>
                  <a:pt x="219101" y="5961"/>
                  <a:pt x="214452" y="5723"/>
                  <a:pt x="210517" y="7710"/>
                </a:cubicBezTo>
                <a:lnTo>
                  <a:pt x="164336" y="30801"/>
                </a:lnTo>
                <a:lnTo>
                  <a:pt x="93038" y="6995"/>
                </a:lnTo>
                <a:cubicBezTo>
                  <a:pt x="89818" y="5922"/>
                  <a:pt x="86361" y="6160"/>
                  <a:pt x="83340" y="7670"/>
                </a:cubicBezTo>
                <a:lnTo>
                  <a:pt x="32470" y="33106"/>
                </a:lnTo>
                <a:cubicBezTo>
                  <a:pt x="28138" y="35292"/>
                  <a:pt x="25435" y="39703"/>
                  <a:pt x="25435" y="44512"/>
                </a:cubicBezTo>
                <a:lnTo>
                  <a:pt x="25435" y="184406"/>
                </a:lnTo>
                <a:cubicBezTo>
                  <a:pt x="25435" y="188818"/>
                  <a:pt x="27701" y="192911"/>
                  <a:pt x="31476" y="195216"/>
                </a:cubicBezTo>
                <a:cubicBezTo>
                  <a:pt x="35252" y="197521"/>
                  <a:pt x="39902" y="197760"/>
                  <a:pt x="43836" y="195773"/>
                </a:cubicBezTo>
                <a:lnTo>
                  <a:pt x="89977" y="172682"/>
                </a:lnTo>
                <a:lnTo>
                  <a:pt x="158852" y="195653"/>
                </a:lnTo>
                <a:cubicBezTo>
                  <a:pt x="157143" y="193110"/>
                  <a:pt x="155473" y="190447"/>
                  <a:pt x="153844" y="187745"/>
                </a:cubicBezTo>
                <a:cubicBezTo>
                  <a:pt x="149472" y="180472"/>
                  <a:pt x="145140" y="172126"/>
                  <a:pt x="141921" y="163184"/>
                </a:cubicBezTo>
                <a:lnTo>
                  <a:pt x="101702" y="149790"/>
                </a:lnTo>
                <a:lnTo>
                  <a:pt x="101702" y="36722"/>
                </a:lnTo>
                <a:lnTo>
                  <a:pt x="152572" y="53692"/>
                </a:lnTo>
                <a:lnTo>
                  <a:pt x="152572" y="93157"/>
                </a:lnTo>
                <a:cubicBezTo>
                  <a:pt x="164892" y="78929"/>
                  <a:pt x="183174" y="69947"/>
                  <a:pt x="203443" y="69947"/>
                </a:cubicBezTo>
                <a:cubicBezTo>
                  <a:pt x="212425" y="69947"/>
                  <a:pt x="221009" y="71696"/>
                  <a:pt x="228878" y="74915"/>
                </a:cubicBezTo>
                <a:lnTo>
                  <a:pt x="228918" y="19076"/>
                </a:lnTo>
                <a:close/>
                <a:moveTo>
                  <a:pt x="203483" y="89024"/>
                </a:moveTo>
                <a:cubicBezTo>
                  <a:pt x="177133" y="89024"/>
                  <a:pt x="155791" y="110008"/>
                  <a:pt x="155791" y="135880"/>
                </a:cubicBezTo>
                <a:cubicBezTo>
                  <a:pt x="155791" y="163263"/>
                  <a:pt x="181266" y="195653"/>
                  <a:pt x="194978" y="211113"/>
                </a:cubicBezTo>
                <a:cubicBezTo>
                  <a:pt x="199588" y="216280"/>
                  <a:pt x="207417" y="216280"/>
                  <a:pt x="212027" y="211113"/>
                </a:cubicBezTo>
                <a:cubicBezTo>
                  <a:pt x="225739" y="195653"/>
                  <a:pt x="251214" y="163263"/>
                  <a:pt x="251214" y="135880"/>
                </a:cubicBezTo>
                <a:cubicBezTo>
                  <a:pt x="251214" y="110008"/>
                  <a:pt x="229872" y="89024"/>
                  <a:pt x="203522" y="89024"/>
                </a:cubicBezTo>
                <a:close/>
                <a:moveTo>
                  <a:pt x="187586" y="136715"/>
                </a:moveTo>
                <a:cubicBezTo>
                  <a:pt x="187586" y="127941"/>
                  <a:pt x="194709" y="120818"/>
                  <a:pt x="203483" y="120818"/>
                </a:cubicBezTo>
                <a:cubicBezTo>
                  <a:pt x="212256" y="120818"/>
                  <a:pt x="219380" y="127941"/>
                  <a:pt x="219380" y="136715"/>
                </a:cubicBezTo>
                <a:cubicBezTo>
                  <a:pt x="219380" y="145489"/>
                  <a:pt x="212256" y="152612"/>
                  <a:pt x="203483" y="152612"/>
                </a:cubicBezTo>
                <a:cubicBezTo>
                  <a:pt x="194709" y="152612"/>
                  <a:pt x="187586" y="145489"/>
                  <a:pt x="187586" y="136715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515489" y="5124370"/>
            <a:ext cx="3459204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Интерактивті карта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5489" y="5463507"/>
            <a:ext cx="3442248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Нақты уақыттағы визуализация - ғарыш нысандарын картада көру.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9865" y="6065477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731690" y="6040041"/>
            <a:ext cx="635883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көрініс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9865" y="6302873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690" y="6277438"/>
            <a:ext cx="1560033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Траекторияларды көрсету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9865" y="6540270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731690" y="6514834"/>
            <a:ext cx="1212417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Нысандарды таңдау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37525" y="4340963"/>
            <a:ext cx="3720340" cy="2516402"/>
          </a:xfrm>
          <a:custGeom>
            <a:avLst/>
            <a:gdLst/>
            <a:ahLst/>
            <a:cxnLst/>
            <a:rect l="l" t="t" r="r" b="b"/>
            <a:pathLst>
              <a:path w="3720340" h="2516402">
                <a:moveTo>
                  <a:pt x="101738" y="0"/>
                </a:moveTo>
                <a:lnTo>
                  <a:pt x="3618602" y="0"/>
                </a:lnTo>
                <a:cubicBezTo>
                  <a:pt x="3674791" y="0"/>
                  <a:pt x="3720340" y="45550"/>
                  <a:pt x="3720340" y="101738"/>
                </a:cubicBezTo>
                <a:lnTo>
                  <a:pt x="3720340" y="2414664"/>
                </a:lnTo>
                <a:cubicBezTo>
                  <a:pt x="3720340" y="2470852"/>
                  <a:pt x="3674791" y="2516402"/>
                  <a:pt x="3618602" y="2516402"/>
                </a:cubicBezTo>
                <a:lnTo>
                  <a:pt x="101738" y="2516402"/>
                </a:lnTo>
                <a:cubicBezTo>
                  <a:pt x="45550" y="2516402"/>
                  <a:pt x="0" y="2470852"/>
                  <a:pt x="0" y="2414664"/>
                </a:cubicBezTo>
                <a:lnTo>
                  <a:pt x="0" y="101738"/>
                </a:lnTo>
                <a:cubicBezTo>
                  <a:pt x="0" y="45587"/>
                  <a:pt x="45587" y="0"/>
                  <a:pt x="10173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EAB308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10486" y="4513922"/>
            <a:ext cx="474793" cy="474793"/>
          </a:xfrm>
          <a:custGeom>
            <a:avLst/>
            <a:gdLst/>
            <a:ahLst/>
            <a:cxnLst/>
            <a:rect l="l" t="t" r="r" b="b"/>
            <a:pathLst>
              <a:path w="474793" h="474793">
                <a:moveTo>
                  <a:pt x="101743" y="0"/>
                </a:moveTo>
                <a:lnTo>
                  <a:pt x="373049" y="0"/>
                </a:lnTo>
                <a:cubicBezTo>
                  <a:pt x="429203" y="0"/>
                  <a:pt x="474793" y="45590"/>
                  <a:pt x="474793" y="101743"/>
                </a:cubicBezTo>
                <a:lnTo>
                  <a:pt x="474793" y="373049"/>
                </a:lnTo>
                <a:cubicBezTo>
                  <a:pt x="474793" y="429203"/>
                  <a:pt x="429203" y="474793"/>
                  <a:pt x="373049" y="474793"/>
                </a:cubicBezTo>
                <a:lnTo>
                  <a:pt x="101743" y="474793"/>
                </a:lnTo>
                <a:cubicBezTo>
                  <a:pt x="45590" y="474793"/>
                  <a:pt x="0" y="429203"/>
                  <a:pt x="0" y="373049"/>
                </a:cubicBezTo>
                <a:lnTo>
                  <a:pt x="0" y="101743"/>
                </a:lnTo>
                <a:cubicBezTo>
                  <a:pt x="0" y="45590"/>
                  <a:pt x="45590" y="0"/>
                  <a:pt x="101743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558859" y="4649577"/>
            <a:ext cx="178047" cy="203483"/>
          </a:xfrm>
          <a:custGeom>
            <a:avLst/>
            <a:gdLst/>
            <a:ahLst/>
            <a:cxnLst/>
            <a:rect l="l" t="t" r="r" b="b"/>
            <a:pathLst>
              <a:path w="178047" h="203483">
                <a:moveTo>
                  <a:pt x="89024" y="0"/>
                </a:moveTo>
                <a:cubicBezTo>
                  <a:pt x="81989" y="0"/>
                  <a:pt x="76306" y="5683"/>
                  <a:pt x="76306" y="12718"/>
                </a:cubicBezTo>
                <a:lnTo>
                  <a:pt x="76306" y="13989"/>
                </a:lnTo>
                <a:cubicBezTo>
                  <a:pt x="47294" y="19871"/>
                  <a:pt x="25435" y="45545"/>
                  <a:pt x="25435" y="76306"/>
                </a:cubicBezTo>
                <a:lnTo>
                  <a:pt x="25435" y="84930"/>
                </a:lnTo>
                <a:cubicBezTo>
                  <a:pt x="25435" y="104046"/>
                  <a:pt x="18918" y="122606"/>
                  <a:pt x="6995" y="137549"/>
                </a:cubicBezTo>
                <a:lnTo>
                  <a:pt x="3100" y="142398"/>
                </a:lnTo>
                <a:cubicBezTo>
                  <a:pt x="1073" y="144902"/>
                  <a:pt x="0" y="148002"/>
                  <a:pt x="0" y="151221"/>
                </a:cubicBezTo>
                <a:cubicBezTo>
                  <a:pt x="0" y="159011"/>
                  <a:pt x="6319" y="165330"/>
                  <a:pt x="14109" y="165330"/>
                </a:cubicBezTo>
                <a:lnTo>
                  <a:pt x="163899" y="165330"/>
                </a:lnTo>
                <a:cubicBezTo>
                  <a:pt x="171688" y="165330"/>
                  <a:pt x="178008" y="159011"/>
                  <a:pt x="178008" y="151221"/>
                </a:cubicBezTo>
                <a:cubicBezTo>
                  <a:pt x="178008" y="148002"/>
                  <a:pt x="176934" y="144902"/>
                  <a:pt x="174908" y="142398"/>
                </a:cubicBezTo>
                <a:lnTo>
                  <a:pt x="171013" y="137549"/>
                </a:lnTo>
                <a:cubicBezTo>
                  <a:pt x="159130" y="122606"/>
                  <a:pt x="152612" y="104046"/>
                  <a:pt x="152612" y="84930"/>
                </a:cubicBezTo>
                <a:lnTo>
                  <a:pt x="152612" y="76306"/>
                </a:lnTo>
                <a:cubicBezTo>
                  <a:pt x="152612" y="45545"/>
                  <a:pt x="130753" y="19871"/>
                  <a:pt x="101741" y="13989"/>
                </a:cubicBezTo>
                <a:lnTo>
                  <a:pt x="101741" y="12718"/>
                </a:lnTo>
                <a:cubicBezTo>
                  <a:pt x="101741" y="5683"/>
                  <a:pt x="96058" y="0"/>
                  <a:pt x="89024" y="0"/>
                </a:cubicBezTo>
                <a:close/>
                <a:moveTo>
                  <a:pt x="64383" y="184406"/>
                </a:moveTo>
                <a:cubicBezTo>
                  <a:pt x="67205" y="195375"/>
                  <a:pt x="77180" y="203483"/>
                  <a:pt x="89024" y="203483"/>
                </a:cubicBezTo>
                <a:cubicBezTo>
                  <a:pt x="100867" y="203483"/>
                  <a:pt x="110842" y="195375"/>
                  <a:pt x="113664" y="184406"/>
                </a:cubicBezTo>
                <a:lnTo>
                  <a:pt x="64383" y="184406"/>
                </a:ln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52" name="Text 50"/>
          <p:cNvSpPr/>
          <p:nvPr/>
        </p:nvSpPr>
        <p:spPr>
          <a:xfrm>
            <a:off x="4410486" y="5124370"/>
            <a:ext cx="3459204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Ескерту жүйесі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410486" y="5463507"/>
            <a:ext cx="3442248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Қауіпті жағдайлар туралы автоматты хабарландыру жүйесі.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34861" y="6065477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5" name="Text 53"/>
          <p:cNvSpPr/>
          <p:nvPr/>
        </p:nvSpPr>
        <p:spPr>
          <a:xfrm>
            <a:off x="4626686" y="6040041"/>
            <a:ext cx="1407421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 хабарландырулар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34861" y="6302873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7" name="Text 55"/>
          <p:cNvSpPr/>
          <p:nvPr/>
        </p:nvSpPr>
        <p:spPr>
          <a:xfrm>
            <a:off x="4626686" y="6277438"/>
            <a:ext cx="991978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SMS ескертулер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434861" y="6540270"/>
            <a:ext cx="103861" cy="118698"/>
          </a:xfrm>
          <a:custGeom>
            <a:avLst/>
            <a:gdLst/>
            <a:ahLst/>
            <a:cxnLst/>
            <a:rect l="l" t="t" r="r" b="b"/>
            <a:pathLst>
              <a:path w="103861" h="118698">
                <a:moveTo>
                  <a:pt x="100801" y="16251"/>
                </a:moveTo>
                <a:cubicBezTo>
                  <a:pt x="104116" y="18663"/>
                  <a:pt x="104858" y="23299"/>
                  <a:pt x="102447" y="26614"/>
                </a:cubicBezTo>
                <a:lnTo>
                  <a:pt x="43098" y="108219"/>
                </a:lnTo>
                <a:cubicBezTo>
                  <a:pt x="41823" y="109981"/>
                  <a:pt x="39852" y="111071"/>
                  <a:pt x="37673" y="111256"/>
                </a:cubicBezTo>
                <a:cubicBezTo>
                  <a:pt x="35494" y="111442"/>
                  <a:pt x="33384" y="110630"/>
                  <a:pt x="31854" y="109100"/>
                </a:cubicBezTo>
                <a:lnTo>
                  <a:pt x="2179" y="79426"/>
                </a:lnTo>
                <a:cubicBezTo>
                  <a:pt x="-719" y="76528"/>
                  <a:pt x="-719" y="71822"/>
                  <a:pt x="2179" y="68924"/>
                </a:cubicBezTo>
                <a:cubicBezTo>
                  <a:pt x="5077" y="66026"/>
                  <a:pt x="9783" y="66026"/>
                  <a:pt x="12681" y="68924"/>
                </a:cubicBezTo>
                <a:lnTo>
                  <a:pt x="36212" y="92455"/>
                </a:lnTo>
                <a:lnTo>
                  <a:pt x="90461" y="17874"/>
                </a:lnTo>
                <a:cubicBezTo>
                  <a:pt x="92872" y="14559"/>
                  <a:pt x="97509" y="13817"/>
                  <a:pt x="100824" y="162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9" name="Text 57"/>
          <p:cNvSpPr/>
          <p:nvPr/>
        </p:nvSpPr>
        <p:spPr>
          <a:xfrm>
            <a:off x="4626686" y="6514834"/>
            <a:ext cx="1068284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интеграциясы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32522" y="4340963"/>
            <a:ext cx="3720340" cy="2516402"/>
          </a:xfrm>
          <a:custGeom>
            <a:avLst/>
            <a:gdLst/>
            <a:ahLst/>
            <a:cxnLst/>
            <a:rect l="l" t="t" r="r" b="b"/>
            <a:pathLst>
              <a:path w="3720340" h="2516402">
                <a:moveTo>
                  <a:pt x="101738" y="0"/>
                </a:moveTo>
                <a:lnTo>
                  <a:pt x="3618602" y="0"/>
                </a:lnTo>
                <a:cubicBezTo>
                  <a:pt x="3674791" y="0"/>
                  <a:pt x="3720340" y="45550"/>
                  <a:pt x="3720340" y="101738"/>
                </a:cubicBezTo>
                <a:lnTo>
                  <a:pt x="3720340" y="2414664"/>
                </a:lnTo>
                <a:cubicBezTo>
                  <a:pt x="3720340" y="2470852"/>
                  <a:pt x="3674791" y="2516402"/>
                  <a:pt x="3618602" y="2516402"/>
                </a:cubicBezTo>
                <a:lnTo>
                  <a:pt x="101738" y="2516402"/>
                </a:lnTo>
                <a:cubicBezTo>
                  <a:pt x="45550" y="2516402"/>
                  <a:pt x="0" y="2470852"/>
                  <a:pt x="0" y="2414664"/>
                </a:cubicBezTo>
                <a:lnTo>
                  <a:pt x="0" y="101738"/>
                </a:lnTo>
                <a:cubicBezTo>
                  <a:pt x="0" y="45587"/>
                  <a:pt x="45587" y="0"/>
                  <a:pt x="101738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839127" y="5141327"/>
            <a:ext cx="305224" cy="305224"/>
          </a:xfrm>
          <a:custGeom>
            <a:avLst/>
            <a:gdLst/>
            <a:ahLst/>
            <a:cxnLst/>
            <a:rect l="l" t="t" r="r" b="b"/>
            <a:pathLst>
              <a:path w="305224" h="305224">
                <a:moveTo>
                  <a:pt x="152612" y="305224"/>
                </a:moveTo>
                <a:cubicBezTo>
                  <a:pt x="236841" y="305224"/>
                  <a:pt x="305224" y="236841"/>
                  <a:pt x="305224" y="152612"/>
                </a:cubicBezTo>
                <a:cubicBezTo>
                  <a:pt x="305224" y="68383"/>
                  <a:pt x="236841" y="0"/>
                  <a:pt x="152612" y="0"/>
                </a:cubicBezTo>
                <a:cubicBezTo>
                  <a:pt x="68383" y="0"/>
                  <a:pt x="0" y="68383"/>
                  <a:pt x="0" y="152612"/>
                </a:cubicBezTo>
                <a:cubicBezTo>
                  <a:pt x="0" y="236841"/>
                  <a:pt x="68383" y="305224"/>
                  <a:pt x="152612" y="305224"/>
                </a:cubicBezTo>
                <a:close/>
                <a:moveTo>
                  <a:pt x="138305" y="205072"/>
                </a:moveTo>
                <a:lnTo>
                  <a:pt x="138305" y="166919"/>
                </a:lnTo>
                <a:lnTo>
                  <a:pt x="100152" y="166919"/>
                </a:lnTo>
                <a:cubicBezTo>
                  <a:pt x="92223" y="166919"/>
                  <a:pt x="85844" y="160541"/>
                  <a:pt x="85844" y="152612"/>
                </a:cubicBezTo>
                <a:cubicBezTo>
                  <a:pt x="85844" y="144683"/>
                  <a:pt x="92223" y="138305"/>
                  <a:pt x="100152" y="138305"/>
                </a:cubicBezTo>
                <a:lnTo>
                  <a:pt x="138305" y="138305"/>
                </a:lnTo>
                <a:lnTo>
                  <a:pt x="138305" y="100152"/>
                </a:lnTo>
                <a:cubicBezTo>
                  <a:pt x="138305" y="92223"/>
                  <a:pt x="144683" y="85844"/>
                  <a:pt x="152612" y="85844"/>
                </a:cubicBezTo>
                <a:cubicBezTo>
                  <a:pt x="160541" y="85844"/>
                  <a:pt x="166919" y="92223"/>
                  <a:pt x="166919" y="100152"/>
                </a:cubicBezTo>
                <a:lnTo>
                  <a:pt x="166919" y="138305"/>
                </a:lnTo>
                <a:lnTo>
                  <a:pt x="205072" y="138305"/>
                </a:lnTo>
                <a:cubicBezTo>
                  <a:pt x="213001" y="138305"/>
                  <a:pt x="219380" y="144683"/>
                  <a:pt x="219380" y="152612"/>
                </a:cubicBezTo>
                <a:cubicBezTo>
                  <a:pt x="219380" y="160541"/>
                  <a:pt x="213001" y="166919"/>
                  <a:pt x="205072" y="166919"/>
                </a:cubicBezTo>
                <a:lnTo>
                  <a:pt x="166919" y="166919"/>
                </a:lnTo>
                <a:lnTo>
                  <a:pt x="166919" y="205072"/>
                </a:lnTo>
                <a:cubicBezTo>
                  <a:pt x="166919" y="213001"/>
                  <a:pt x="160541" y="219380"/>
                  <a:pt x="152612" y="219380"/>
                </a:cubicBezTo>
                <a:cubicBezTo>
                  <a:pt x="144683" y="219380"/>
                  <a:pt x="138305" y="213001"/>
                  <a:pt x="138305" y="205072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62" name="Text 60"/>
          <p:cNvSpPr/>
          <p:nvPr/>
        </p:nvSpPr>
        <p:spPr>
          <a:xfrm>
            <a:off x="8830298" y="5548292"/>
            <a:ext cx="2323093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Және т.б.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838776" y="5853516"/>
            <a:ext cx="2306136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8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API, есептер, тарихи деректер, т.б.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ndoyaspace.no/623869674d58524bdcd81e5afa24212d6eece0a1.jp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20617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20617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Интерактивті демо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Жұмыс принципі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604010"/>
            <a:ext cx="5589270" cy="5170170"/>
          </a:xfrm>
          <a:custGeom>
            <a:avLst/>
            <a:gdLst/>
            <a:ahLst/>
            <a:cxnLst/>
            <a:rect l="l" t="t" r="r" b="b"/>
            <a:pathLst>
              <a:path w="5589270" h="5170170">
                <a:moveTo>
                  <a:pt x="114312" y="0"/>
                </a:moveTo>
                <a:lnTo>
                  <a:pt x="5474958" y="0"/>
                </a:lnTo>
                <a:cubicBezTo>
                  <a:pt x="5538091" y="0"/>
                  <a:pt x="5589270" y="51179"/>
                  <a:pt x="5589270" y="114312"/>
                </a:cubicBezTo>
                <a:lnTo>
                  <a:pt x="5589270" y="5055858"/>
                </a:lnTo>
                <a:cubicBezTo>
                  <a:pt x="5589270" y="5118991"/>
                  <a:pt x="5538091" y="5170170"/>
                  <a:pt x="5474958" y="5170170"/>
                </a:cubicBezTo>
                <a:lnTo>
                  <a:pt x="114312" y="5170170"/>
                </a:lnTo>
                <a:cubicBezTo>
                  <a:pt x="51179" y="5170170"/>
                  <a:pt x="0" y="5118991"/>
                  <a:pt x="0" y="505585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2932" y="18364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042" y="2604"/>
                </a:moveTo>
                <a:cubicBezTo>
                  <a:pt x="77539" y="-893"/>
                  <a:pt x="83195" y="-893"/>
                  <a:pt x="86655" y="2604"/>
                </a:cubicBezTo>
                <a:lnTo>
                  <a:pt x="119918" y="35868"/>
                </a:lnTo>
                <a:lnTo>
                  <a:pt x="140382" y="15404"/>
                </a:lnTo>
                <a:cubicBezTo>
                  <a:pt x="145033" y="10753"/>
                  <a:pt x="152586" y="10753"/>
                  <a:pt x="157237" y="15404"/>
                </a:cubicBezTo>
                <a:lnTo>
                  <a:pt x="175096" y="33263"/>
                </a:lnTo>
                <a:cubicBezTo>
                  <a:pt x="179747" y="37914"/>
                  <a:pt x="179747" y="45467"/>
                  <a:pt x="175096" y="50118"/>
                </a:cubicBezTo>
                <a:lnTo>
                  <a:pt x="154632" y="70582"/>
                </a:lnTo>
                <a:lnTo>
                  <a:pt x="187896" y="103845"/>
                </a:lnTo>
                <a:cubicBezTo>
                  <a:pt x="191393" y="107342"/>
                  <a:pt x="191393" y="112998"/>
                  <a:pt x="187896" y="116458"/>
                </a:cubicBezTo>
                <a:lnTo>
                  <a:pt x="152177" y="152177"/>
                </a:lnTo>
                <a:cubicBezTo>
                  <a:pt x="148679" y="155674"/>
                  <a:pt x="143024" y="155674"/>
                  <a:pt x="139564" y="152177"/>
                </a:cubicBezTo>
                <a:lnTo>
                  <a:pt x="106300" y="118914"/>
                </a:lnTo>
                <a:lnTo>
                  <a:pt x="100533" y="124681"/>
                </a:lnTo>
                <a:cubicBezTo>
                  <a:pt x="104775" y="133834"/>
                  <a:pt x="107156" y="144028"/>
                  <a:pt x="107156" y="154781"/>
                </a:cubicBezTo>
                <a:cubicBezTo>
                  <a:pt x="107156" y="166576"/>
                  <a:pt x="104291" y="177664"/>
                  <a:pt x="99268" y="187449"/>
                </a:cubicBezTo>
                <a:cubicBezTo>
                  <a:pt x="97520" y="190798"/>
                  <a:pt x="93055" y="191281"/>
                  <a:pt x="90413" y="188602"/>
                </a:cubicBezTo>
                <a:lnTo>
                  <a:pt x="54583" y="152772"/>
                </a:lnTo>
                <a:lnTo>
                  <a:pt x="32258" y="175096"/>
                </a:lnTo>
                <a:cubicBezTo>
                  <a:pt x="27608" y="179747"/>
                  <a:pt x="20055" y="179747"/>
                  <a:pt x="15404" y="175096"/>
                </a:cubicBezTo>
                <a:cubicBezTo>
                  <a:pt x="10753" y="170445"/>
                  <a:pt x="10753" y="162892"/>
                  <a:pt x="15404" y="158242"/>
                </a:cubicBezTo>
                <a:lnTo>
                  <a:pt x="37728" y="135917"/>
                </a:lnTo>
                <a:lnTo>
                  <a:pt x="1898" y="100087"/>
                </a:lnTo>
                <a:cubicBezTo>
                  <a:pt x="-781" y="97408"/>
                  <a:pt x="-298" y="92943"/>
                  <a:pt x="3051" y="91232"/>
                </a:cubicBezTo>
                <a:cubicBezTo>
                  <a:pt x="12836" y="86171"/>
                  <a:pt x="23961" y="83344"/>
                  <a:pt x="35719" y="83344"/>
                </a:cubicBezTo>
                <a:cubicBezTo>
                  <a:pt x="46472" y="83344"/>
                  <a:pt x="56666" y="85725"/>
                  <a:pt x="65819" y="89967"/>
                </a:cubicBezTo>
                <a:lnTo>
                  <a:pt x="71586" y="84200"/>
                </a:lnTo>
                <a:lnTo>
                  <a:pt x="38323" y="50974"/>
                </a:lnTo>
                <a:cubicBezTo>
                  <a:pt x="34826" y="47476"/>
                  <a:pt x="34826" y="41821"/>
                  <a:pt x="38323" y="38360"/>
                </a:cubicBezTo>
                <a:lnTo>
                  <a:pt x="74042" y="2604"/>
                </a:lnTo>
                <a:close/>
                <a:moveTo>
                  <a:pt x="80367" y="21543"/>
                </a:moveTo>
                <a:lnTo>
                  <a:pt x="57262" y="44648"/>
                </a:lnTo>
                <a:lnTo>
                  <a:pt x="84200" y="71586"/>
                </a:lnTo>
                <a:lnTo>
                  <a:pt x="107305" y="48481"/>
                </a:lnTo>
                <a:lnTo>
                  <a:pt x="80367" y="21543"/>
                </a:lnTo>
                <a:close/>
                <a:moveTo>
                  <a:pt x="145852" y="133238"/>
                </a:moveTo>
                <a:lnTo>
                  <a:pt x="168957" y="110133"/>
                </a:lnTo>
                <a:lnTo>
                  <a:pt x="142019" y="83195"/>
                </a:lnTo>
                <a:lnTo>
                  <a:pt x="118914" y="106300"/>
                </a:lnTo>
                <a:lnTo>
                  <a:pt x="145852" y="133238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817245" y="1798323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 картасындағы объектілер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2930" y="2221233"/>
            <a:ext cx="5198745" cy="998220"/>
          </a:xfrm>
          <a:custGeom>
            <a:avLst/>
            <a:gdLst/>
            <a:ahLst/>
            <a:cxnLst/>
            <a:rect l="l" t="t" r="r" b="b"/>
            <a:pathLst>
              <a:path w="5198745" h="998220">
                <a:moveTo>
                  <a:pt x="76204" y="0"/>
                </a:moveTo>
                <a:lnTo>
                  <a:pt x="5122541" y="0"/>
                </a:lnTo>
                <a:cubicBezTo>
                  <a:pt x="5164627" y="0"/>
                  <a:pt x="5198745" y="34118"/>
                  <a:pt x="5198745" y="76204"/>
                </a:cubicBezTo>
                <a:lnTo>
                  <a:pt x="5198745" y="922016"/>
                </a:lnTo>
                <a:cubicBezTo>
                  <a:pt x="5198745" y="964102"/>
                  <a:pt x="5164627" y="998220"/>
                  <a:pt x="512254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9140" y="23964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43915" y="251079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6164" y="3423"/>
                </a:moveTo>
                <a:cubicBezTo>
                  <a:pt x="22800" y="1369"/>
                  <a:pt x="18395" y="2471"/>
                  <a:pt x="16341" y="5834"/>
                </a:cubicBezTo>
                <a:cubicBezTo>
                  <a:pt x="8959" y="18038"/>
                  <a:pt x="4733" y="32355"/>
                  <a:pt x="4733" y="47625"/>
                </a:cubicBezTo>
                <a:cubicBezTo>
                  <a:pt x="4733" y="62895"/>
                  <a:pt x="8959" y="77212"/>
                  <a:pt x="16341" y="89416"/>
                </a:cubicBezTo>
                <a:cubicBezTo>
                  <a:pt x="18395" y="92779"/>
                  <a:pt x="22771" y="93881"/>
                  <a:pt x="26164" y="91827"/>
                </a:cubicBezTo>
                <a:cubicBezTo>
                  <a:pt x="29557" y="89773"/>
                  <a:pt x="30629" y="85398"/>
                  <a:pt x="28575" y="82004"/>
                </a:cubicBezTo>
                <a:cubicBezTo>
                  <a:pt x="22533" y="72003"/>
                  <a:pt x="19050" y="60216"/>
                  <a:pt x="19050" y="47625"/>
                </a:cubicBezTo>
                <a:cubicBezTo>
                  <a:pt x="19050" y="35034"/>
                  <a:pt x="22533" y="23247"/>
                  <a:pt x="28605" y="13216"/>
                </a:cubicBezTo>
                <a:cubicBezTo>
                  <a:pt x="30659" y="9852"/>
                  <a:pt x="29557" y="5447"/>
                  <a:pt x="26194" y="3393"/>
                </a:cubicBezTo>
                <a:close/>
                <a:moveTo>
                  <a:pt x="145256" y="3423"/>
                </a:moveTo>
                <a:cubicBezTo>
                  <a:pt x="141893" y="5477"/>
                  <a:pt x="140791" y="9852"/>
                  <a:pt x="142845" y="13246"/>
                </a:cubicBezTo>
                <a:cubicBezTo>
                  <a:pt x="148917" y="23277"/>
                  <a:pt x="152400" y="35064"/>
                  <a:pt x="152400" y="47655"/>
                </a:cubicBezTo>
                <a:cubicBezTo>
                  <a:pt x="152400" y="60246"/>
                  <a:pt x="148917" y="72033"/>
                  <a:pt x="142845" y="82064"/>
                </a:cubicBezTo>
                <a:cubicBezTo>
                  <a:pt x="140791" y="85427"/>
                  <a:pt x="141893" y="89833"/>
                  <a:pt x="145256" y="91886"/>
                </a:cubicBezTo>
                <a:cubicBezTo>
                  <a:pt x="148620" y="93940"/>
                  <a:pt x="153025" y="92839"/>
                  <a:pt x="155079" y="89475"/>
                </a:cubicBezTo>
                <a:cubicBezTo>
                  <a:pt x="162461" y="77272"/>
                  <a:pt x="166688" y="62954"/>
                  <a:pt x="166688" y="47685"/>
                </a:cubicBezTo>
                <a:cubicBezTo>
                  <a:pt x="166688" y="32415"/>
                  <a:pt x="162461" y="18038"/>
                  <a:pt x="155079" y="5834"/>
                </a:cubicBezTo>
                <a:cubicBezTo>
                  <a:pt x="153025" y="2471"/>
                  <a:pt x="148650" y="1369"/>
                  <a:pt x="145256" y="3423"/>
                </a:cubicBezTo>
                <a:close/>
                <a:moveTo>
                  <a:pt x="95250" y="64115"/>
                </a:moveTo>
                <a:cubicBezTo>
                  <a:pt x="100935" y="60811"/>
                  <a:pt x="104775" y="54679"/>
                  <a:pt x="104775" y="47625"/>
                </a:cubicBezTo>
                <a:cubicBezTo>
                  <a:pt x="104775" y="37118"/>
                  <a:pt x="96232" y="28575"/>
                  <a:pt x="85725" y="28575"/>
                </a:cubicBezTo>
                <a:cubicBezTo>
                  <a:pt x="75218" y="28575"/>
                  <a:pt x="66675" y="37118"/>
                  <a:pt x="66675" y="47625"/>
                </a:cubicBezTo>
                <a:cubicBezTo>
                  <a:pt x="66675" y="54679"/>
                  <a:pt x="70515" y="60841"/>
                  <a:pt x="76200" y="64115"/>
                </a:cubicBezTo>
                <a:lnTo>
                  <a:pt x="76200" y="142875"/>
                </a:lnTo>
                <a:cubicBezTo>
                  <a:pt x="76200" y="148144"/>
                  <a:pt x="80456" y="152400"/>
                  <a:pt x="85725" y="152400"/>
                </a:cubicBezTo>
                <a:cubicBezTo>
                  <a:pt x="90994" y="152400"/>
                  <a:pt x="95250" y="148144"/>
                  <a:pt x="95250" y="142875"/>
                </a:cubicBezTo>
                <a:lnTo>
                  <a:pt x="95250" y="64115"/>
                </a:lnTo>
                <a:close/>
                <a:moveTo>
                  <a:pt x="53638" y="27087"/>
                </a:moveTo>
                <a:cubicBezTo>
                  <a:pt x="55781" y="23753"/>
                  <a:pt x="54799" y="19348"/>
                  <a:pt x="51495" y="17205"/>
                </a:cubicBezTo>
                <a:cubicBezTo>
                  <a:pt x="48191" y="15061"/>
                  <a:pt x="43755" y="16044"/>
                  <a:pt x="41612" y="19348"/>
                </a:cubicBezTo>
                <a:cubicBezTo>
                  <a:pt x="36374" y="27503"/>
                  <a:pt x="33338" y="37207"/>
                  <a:pt x="33338" y="47625"/>
                </a:cubicBezTo>
                <a:cubicBezTo>
                  <a:pt x="33338" y="58043"/>
                  <a:pt x="36374" y="67747"/>
                  <a:pt x="41612" y="75902"/>
                </a:cubicBezTo>
                <a:cubicBezTo>
                  <a:pt x="43755" y="79236"/>
                  <a:pt x="48161" y="80189"/>
                  <a:pt x="51495" y="78045"/>
                </a:cubicBezTo>
                <a:cubicBezTo>
                  <a:pt x="54828" y="75902"/>
                  <a:pt x="55781" y="71497"/>
                  <a:pt x="53638" y="68163"/>
                </a:cubicBezTo>
                <a:cubicBezTo>
                  <a:pt x="49828" y="62240"/>
                  <a:pt x="47625" y="55185"/>
                  <a:pt x="47625" y="47625"/>
                </a:cubicBezTo>
                <a:cubicBezTo>
                  <a:pt x="47625" y="40065"/>
                  <a:pt x="49828" y="33010"/>
                  <a:pt x="53638" y="27087"/>
                </a:cubicBezTo>
                <a:close/>
                <a:moveTo>
                  <a:pt x="129838" y="19348"/>
                </a:moveTo>
                <a:cubicBezTo>
                  <a:pt x="127695" y="16014"/>
                  <a:pt x="123289" y="15061"/>
                  <a:pt x="119955" y="17205"/>
                </a:cubicBezTo>
                <a:cubicBezTo>
                  <a:pt x="116622" y="19348"/>
                  <a:pt x="115669" y="23753"/>
                  <a:pt x="117812" y="27087"/>
                </a:cubicBezTo>
                <a:cubicBezTo>
                  <a:pt x="121622" y="33010"/>
                  <a:pt x="123825" y="40065"/>
                  <a:pt x="123825" y="47625"/>
                </a:cubicBezTo>
                <a:cubicBezTo>
                  <a:pt x="123825" y="55185"/>
                  <a:pt x="121622" y="62240"/>
                  <a:pt x="117812" y="68163"/>
                </a:cubicBezTo>
                <a:cubicBezTo>
                  <a:pt x="115669" y="71497"/>
                  <a:pt x="116651" y="75902"/>
                  <a:pt x="119955" y="78045"/>
                </a:cubicBezTo>
                <a:cubicBezTo>
                  <a:pt x="123259" y="80189"/>
                  <a:pt x="127695" y="79206"/>
                  <a:pt x="129838" y="75902"/>
                </a:cubicBezTo>
                <a:cubicBezTo>
                  <a:pt x="135076" y="67747"/>
                  <a:pt x="138113" y="58043"/>
                  <a:pt x="138113" y="47625"/>
                </a:cubicBezTo>
                <a:cubicBezTo>
                  <a:pt x="138113" y="37207"/>
                  <a:pt x="135076" y="27503"/>
                  <a:pt x="129838" y="1934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2377441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KazSat-AI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2606041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Байланыс спутнигі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95386" y="2453641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995386" y="2453641"/>
            <a:ext cx="695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Төмен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9140" y="2872741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Геостационарлық орбита (GEO)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82930" y="3341369"/>
            <a:ext cx="5198745" cy="998220"/>
          </a:xfrm>
          <a:custGeom>
            <a:avLst/>
            <a:gdLst/>
            <a:ahLst/>
            <a:cxnLst/>
            <a:rect l="l" t="t" r="r" b="b"/>
            <a:pathLst>
              <a:path w="5198745" h="998220">
                <a:moveTo>
                  <a:pt x="76204" y="0"/>
                </a:moveTo>
                <a:lnTo>
                  <a:pt x="5122541" y="0"/>
                </a:lnTo>
                <a:cubicBezTo>
                  <a:pt x="5164627" y="0"/>
                  <a:pt x="5198745" y="34118"/>
                  <a:pt x="5198745" y="76204"/>
                </a:cubicBezTo>
                <a:lnTo>
                  <a:pt x="5198745" y="922016"/>
                </a:lnTo>
                <a:cubicBezTo>
                  <a:pt x="5198745" y="964102"/>
                  <a:pt x="5164627" y="998220"/>
                  <a:pt x="512254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9140" y="35166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53440" y="363093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3497582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ResearchCube-1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34440" y="3726182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CubeSat (ғылыми)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894064" y="3573782"/>
            <a:ext cx="733425" cy="266700"/>
          </a:xfrm>
          <a:custGeom>
            <a:avLst/>
            <a:gdLst/>
            <a:ahLst/>
            <a:cxnLst/>
            <a:rect l="l" t="t" r="r" b="b"/>
            <a:pathLst>
              <a:path w="733425" h="266700">
                <a:moveTo>
                  <a:pt x="133350" y="0"/>
                </a:moveTo>
                <a:lnTo>
                  <a:pt x="600075" y="0"/>
                </a:lnTo>
                <a:cubicBezTo>
                  <a:pt x="673673" y="0"/>
                  <a:pt x="733425" y="59752"/>
                  <a:pt x="733425" y="133350"/>
                </a:cubicBezTo>
                <a:lnTo>
                  <a:pt x="733425" y="133350"/>
                </a:lnTo>
                <a:cubicBezTo>
                  <a:pt x="733425" y="206948"/>
                  <a:pt x="673673" y="266700"/>
                  <a:pt x="600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894064" y="3573782"/>
            <a:ext cx="800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AB30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Орташа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39140" y="3992882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LEO, 500 км, 97°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82930" y="4461510"/>
            <a:ext cx="5198745" cy="998220"/>
          </a:xfrm>
          <a:custGeom>
            <a:avLst/>
            <a:gdLst/>
            <a:ahLst/>
            <a:cxnLst/>
            <a:rect l="l" t="t" r="r" b="b"/>
            <a:pathLst>
              <a:path w="5198745" h="998220">
                <a:moveTo>
                  <a:pt x="76204" y="0"/>
                </a:moveTo>
                <a:lnTo>
                  <a:pt x="5122541" y="0"/>
                </a:lnTo>
                <a:cubicBezTo>
                  <a:pt x="5164627" y="0"/>
                  <a:pt x="5198745" y="34118"/>
                  <a:pt x="5198745" y="76204"/>
                </a:cubicBezTo>
                <a:lnTo>
                  <a:pt x="5198745" y="922016"/>
                </a:lnTo>
                <a:cubicBezTo>
                  <a:pt x="5198745" y="964102"/>
                  <a:pt x="5164627" y="998220"/>
                  <a:pt x="512254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016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9140" y="463676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853440" y="47510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9" name="Text 26"/>
          <p:cNvSpPr/>
          <p:nvPr/>
        </p:nvSpPr>
        <p:spPr>
          <a:xfrm>
            <a:off x="1234440" y="4617718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Debris-Fragment-2026-01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234440" y="4846318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 қоқысы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865370" y="4693918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865370" y="4693918"/>
            <a:ext cx="828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Жоғары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39140" y="5113018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LEO, 780 км, 98° - CubeSat-тар үшін қауіпті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82930" y="5581656"/>
            <a:ext cx="5198745" cy="998220"/>
          </a:xfrm>
          <a:custGeom>
            <a:avLst/>
            <a:gdLst/>
            <a:ahLst/>
            <a:cxnLst/>
            <a:rect l="l" t="t" r="r" b="b"/>
            <a:pathLst>
              <a:path w="5198745" h="998220">
                <a:moveTo>
                  <a:pt x="76204" y="0"/>
                </a:moveTo>
                <a:lnTo>
                  <a:pt x="5122541" y="0"/>
                </a:lnTo>
                <a:cubicBezTo>
                  <a:pt x="5164627" y="0"/>
                  <a:pt x="5198745" y="34118"/>
                  <a:pt x="5198745" y="76204"/>
                </a:cubicBezTo>
                <a:lnTo>
                  <a:pt x="5198745" y="922016"/>
                </a:lnTo>
                <a:cubicBezTo>
                  <a:pt x="5198745" y="964102"/>
                  <a:pt x="5164627" y="998220"/>
                  <a:pt x="512254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97316">
              <a:alpha val="10196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9140" y="57569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853440" y="58712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1234440" y="5737864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UpperStage-Old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234440" y="5966464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Ракетаның соңғы сатысы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894064" y="5814064"/>
            <a:ext cx="733425" cy="266700"/>
          </a:xfrm>
          <a:custGeom>
            <a:avLst/>
            <a:gdLst/>
            <a:ahLst/>
            <a:cxnLst/>
            <a:rect l="l" t="t" r="r" b="b"/>
            <a:pathLst>
              <a:path w="733425" h="266700">
                <a:moveTo>
                  <a:pt x="133350" y="0"/>
                </a:moveTo>
                <a:lnTo>
                  <a:pt x="600075" y="0"/>
                </a:lnTo>
                <a:cubicBezTo>
                  <a:pt x="673673" y="0"/>
                  <a:pt x="733425" y="59752"/>
                  <a:pt x="733425" y="133350"/>
                </a:cubicBezTo>
                <a:lnTo>
                  <a:pt x="733425" y="133350"/>
                </a:lnTo>
                <a:cubicBezTo>
                  <a:pt x="733425" y="206948"/>
                  <a:pt x="673673" y="266700"/>
                  <a:pt x="600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4894064" y="5814064"/>
            <a:ext cx="800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AB30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Орташа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39140" y="6233164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MEO, эллипстік орбита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214110" y="1604010"/>
            <a:ext cx="5589270" cy="3589020"/>
          </a:xfrm>
          <a:custGeom>
            <a:avLst/>
            <a:gdLst/>
            <a:ahLst/>
            <a:cxnLst/>
            <a:rect l="l" t="t" r="r" b="b"/>
            <a:pathLst>
              <a:path w="5589270" h="3589020">
                <a:moveTo>
                  <a:pt x="114310" y="0"/>
                </a:moveTo>
                <a:lnTo>
                  <a:pt x="5474960" y="0"/>
                </a:lnTo>
                <a:cubicBezTo>
                  <a:pt x="5538092" y="0"/>
                  <a:pt x="5589270" y="51178"/>
                  <a:pt x="5589270" y="114310"/>
                </a:cubicBezTo>
                <a:lnTo>
                  <a:pt x="5589270" y="3474710"/>
                </a:lnTo>
                <a:cubicBezTo>
                  <a:pt x="5589270" y="3537842"/>
                  <a:pt x="5538092" y="3589020"/>
                  <a:pt x="5474960" y="3589020"/>
                </a:cubicBezTo>
                <a:lnTo>
                  <a:pt x="114310" y="3589020"/>
                </a:lnTo>
                <a:cubicBezTo>
                  <a:pt x="51178" y="3589020"/>
                  <a:pt x="0" y="3537842"/>
                  <a:pt x="0" y="347471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32232" y="18364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4" name="Text 41"/>
          <p:cNvSpPr/>
          <p:nvPr/>
        </p:nvSpPr>
        <p:spPr>
          <a:xfrm>
            <a:off x="6646545" y="1798323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Әрбір объект үшін ақпарат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408420" y="2217423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76200" y="0"/>
                </a:moveTo>
                <a:lnTo>
                  <a:pt x="5124450" y="0"/>
                </a:lnTo>
                <a:cubicBezTo>
                  <a:pt x="5166506" y="0"/>
                  <a:pt x="5200650" y="34144"/>
                  <a:pt x="5200650" y="76200"/>
                </a:cubicBezTo>
                <a:lnTo>
                  <a:pt x="5200650" y="533400"/>
                </a:lnTo>
                <a:cubicBezTo>
                  <a:pt x="5200650" y="575456"/>
                  <a:pt x="5166506" y="609600"/>
                  <a:pt x="5124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541770" y="24460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674" y="28575"/>
                </a:moveTo>
                <a:lnTo>
                  <a:pt x="9674" y="73075"/>
                </a:lnTo>
                <a:cubicBezTo>
                  <a:pt x="9674" y="78135"/>
                  <a:pt x="11668" y="82987"/>
                  <a:pt x="15240" y="86558"/>
                </a:cubicBezTo>
                <a:lnTo>
                  <a:pt x="72390" y="143708"/>
                </a:lnTo>
                <a:cubicBezTo>
                  <a:pt x="79831" y="151150"/>
                  <a:pt x="91886" y="151150"/>
                  <a:pt x="99328" y="143708"/>
                </a:cubicBezTo>
                <a:lnTo>
                  <a:pt x="143828" y="99209"/>
                </a:lnTo>
                <a:cubicBezTo>
                  <a:pt x="151269" y="91767"/>
                  <a:pt x="151269" y="79712"/>
                  <a:pt x="143828" y="72271"/>
                </a:cubicBezTo>
                <a:lnTo>
                  <a:pt x="86678" y="15121"/>
                </a:lnTo>
                <a:cubicBezTo>
                  <a:pt x="83106" y="11519"/>
                  <a:pt x="78284" y="9525"/>
                  <a:pt x="73223" y="9525"/>
                </a:cubicBezTo>
                <a:lnTo>
                  <a:pt x="28724" y="9525"/>
                </a:lnTo>
                <a:cubicBezTo>
                  <a:pt x="18217" y="9525"/>
                  <a:pt x="9674" y="18068"/>
                  <a:pt x="9674" y="28575"/>
                </a:cubicBezTo>
                <a:close/>
                <a:moveTo>
                  <a:pt x="43011" y="33338"/>
                </a:moveTo>
                <a:cubicBezTo>
                  <a:pt x="48268" y="33338"/>
                  <a:pt x="52536" y="37606"/>
                  <a:pt x="52536" y="42863"/>
                </a:cubicBezTo>
                <a:cubicBezTo>
                  <a:pt x="52536" y="48119"/>
                  <a:pt x="48268" y="52388"/>
                  <a:pt x="43011" y="52388"/>
                </a:cubicBezTo>
                <a:cubicBezTo>
                  <a:pt x="37754" y="52388"/>
                  <a:pt x="33486" y="48119"/>
                  <a:pt x="33486" y="42863"/>
                </a:cubicBezTo>
                <a:cubicBezTo>
                  <a:pt x="33486" y="37606"/>
                  <a:pt x="37754" y="33338"/>
                  <a:pt x="43011" y="3333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7" name="Text 44"/>
          <p:cNvSpPr/>
          <p:nvPr/>
        </p:nvSpPr>
        <p:spPr>
          <a:xfrm>
            <a:off x="6827520" y="2331723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Түрі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827520" y="2522223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Спутник / Қоқыс / Ракета сатысы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408420" y="2941323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76200" y="0"/>
                </a:moveTo>
                <a:lnTo>
                  <a:pt x="5124450" y="0"/>
                </a:lnTo>
                <a:cubicBezTo>
                  <a:pt x="5166506" y="0"/>
                  <a:pt x="5200650" y="34144"/>
                  <a:pt x="5200650" y="76200"/>
                </a:cubicBezTo>
                <a:lnTo>
                  <a:pt x="5200650" y="533400"/>
                </a:lnTo>
                <a:cubicBezTo>
                  <a:pt x="5200650" y="575456"/>
                  <a:pt x="5166506" y="609600"/>
                  <a:pt x="5124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541770" y="3169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8"/>
          <p:cNvSpPr/>
          <p:nvPr/>
        </p:nvSpPr>
        <p:spPr>
          <a:xfrm>
            <a:off x="6827520" y="3055623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Орбитасы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827520" y="3246123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Биіктік, еңкейіс, эксцентриситет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408420" y="3665223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76200" y="0"/>
                </a:moveTo>
                <a:lnTo>
                  <a:pt x="5124450" y="0"/>
                </a:lnTo>
                <a:cubicBezTo>
                  <a:pt x="5166506" y="0"/>
                  <a:pt x="5200650" y="34144"/>
                  <a:pt x="5200650" y="76200"/>
                </a:cubicBezTo>
                <a:lnTo>
                  <a:pt x="5200650" y="533400"/>
                </a:lnTo>
                <a:cubicBezTo>
                  <a:pt x="5200650" y="575456"/>
                  <a:pt x="5166506" y="609600"/>
                  <a:pt x="5124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541770" y="38938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5" name="Text 52"/>
          <p:cNvSpPr/>
          <p:nvPr/>
        </p:nvSpPr>
        <p:spPr>
          <a:xfrm>
            <a:off x="6827520" y="3779523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Қауіптілік деңгейі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6827520" y="3970023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Төмен / Орташа / Жоғары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408420" y="4389118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76200" y="0"/>
                </a:moveTo>
                <a:lnTo>
                  <a:pt x="5124450" y="0"/>
                </a:lnTo>
                <a:cubicBezTo>
                  <a:pt x="5166506" y="0"/>
                  <a:pt x="5200650" y="34144"/>
                  <a:pt x="5200650" y="76200"/>
                </a:cubicBezTo>
                <a:lnTo>
                  <a:pt x="5200650" y="533400"/>
                </a:lnTo>
                <a:cubicBezTo>
                  <a:pt x="5200650" y="575456"/>
                  <a:pt x="5166506" y="609600"/>
                  <a:pt x="5124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551295" y="461771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19050"/>
                </a:moveTo>
                <a:cubicBezTo>
                  <a:pt x="85725" y="24319"/>
                  <a:pt x="81469" y="28575"/>
                  <a:pt x="76200" y="28575"/>
                </a:cubicBezTo>
                <a:lnTo>
                  <a:pt x="9525" y="28575"/>
                </a:lnTo>
                <a:cubicBezTo>
                  <a:pt x="4256" y="28575"/>
                  <a:pt x="0" y="24319"/>
                  <a:pt x="0" y="19050"/>
                </a:cubicBezTo>
                <a:cubicBezTo>
                  <a:pt x="0" y="13781"/>
                  <a:pt x="4256" y="9525"/>
                  <a:pt x="9525" y="9525"/>
                </a:cubicBezTo>
                <a:lnTo>
                  <a:pt x="76200" y="9525"/>
                </a:lnTo>
                <a:cubicBezTo>
                  <a:pt x="81469" y="9525"/>
                  <a:pt x="85725" y="13781"/>
                  <a:pt x="85725" y="19050"/>
                </a:cubicBezTo>
                <a:close/>
                <a:moveTo>
                  <a:pt x="85725" y="95250"/>
                </a:moveTo>
                <a:cubicBezTo>
                  <a:pt x="85725" y="100519"/>
                  <a:pt x="81469" y="104775"/>
                  <a:pt x="76200" y="104775"/>
                </a:cubicBezTo>
                <a:lnTo>
                  <a:pt x="9525" y="104775"/>
                </a:lnTo>
                <a:cubicBezTo>
                  <a:pt x="4256" y="104775"/>
                  <a:pt x="0" y="100519"/>
                  <a:pt x="0" y="95250"/>
                </a:cubicBezTo>
                <a:cubicBezTo>
                  <a:pt x="0" y="89981"/>
                  <a:pt x="4256" y="85725"/>
                  <a:pt x="9525" y="85725"/>
                </a:cubicBezTo>
                <a:lnTo>
                  <a:pt x="76200" y="85725"/>
                </a:lnTo>
                <a:cubicBezTo>
                  <a:pt x="81469" y="85725"/>
                  <a:pt x="85725" y="89981"/>
                  <a:pt x="85725" y="95250"/>
                </a:cubicBezTo>
                <a:close/>
                <a:moveTo>
                  <a:pt x="0" y="57150"/>
                </a:moveTo>
                <a:cubicBezTo>
                  <a:pt x="0" y="51881"/>
                  <a:pt x="4256" y="47625"/>
                  <a:pt x="9525" y="47625"/>
                </a:cubicBezTo>
                <a:lnTo>
                  <a:pt x="123825" y="47625"/>
                </a:lnTo>
                <a:cubicBezTo>
                  <a:pt x="129094" y="47625"/>
                  <a:pt x="133350" y="51881"/>
                  <a:pt x="133350" y="57150"/>
                </a:cubicBezTo>
                <a:cubicBezTo>
                  <a:pt x="133350" y="62419"/>
                  <a:pt x="129094" y="66675"/>
                  <a:pt x="123825" y="66675"/>
                </a:cubicBezTo>
                <a:lnTo>
                  <a:pt x="9525" y="66675"/>
                </a:lnTo>
                <a:cubicBezTo>
                  <a:pt x="4256" y="66675"/>
                  <a:pt x="0" y="62419"/>
                  <a:pt x="0" y="57150"/>
                </a:cubicBezTo>
                <a:close/>
                <a:moveTo>
                  <a:pt x="133350" y="133350"/>
                </a:moveTo>
                <a:cubicBezTo>
                  <a:pt x="133350" y="138619"/>
                  <a:pt x="129094" y="142875"/>
                  <a:pt x="12382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cubicBezTo>
                  <a:pt x="0" y="128081"/>
                  <a:pt x="4256" y="123825"/>
                  <a:pt x="9525" y="123825"/>
                </a:cubicBezTo>
                <a:lnTo>
                  <a:pt x="123825" y="123825"/>
                </a:lnTo>
                <a:cubicBezTo>
                  <a:pt x="129094" y="123825"/>
                  <a:pt x="133350" y="128081"/>
                  <a:pt x="133350" y="13335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9" name="Text 56"/>
          <p:cNvSpPr/>
          <p:nvPr/>
        </p:nvSpPr>
        <p:spPr>
          <a:xfrm>
            <a:off x="6827520" y="4503418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Сипаттамасы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827520" y="4693918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Толық ақпарат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214110" y="5391156"/>
            <a:ext cx="5589270" cy="1150620"/>
          </a:xfrm>
          <a:custGeom>
            <a:avLst/>
            <a:gdLst/>
            <a:ahLst/>
            <a:cxnLst/>
            <a:rect l="l" t="t" r="r" b="b"/>
            <a:pathLst>
              <a:path w="5589270" h="11506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1036317"/>
                </a:lnTo>
                <a:cubicBezTo>
                  <a:pt x="5589270" y="1099445"/>
                  <a:pt x="5538095" y="1150620"/>
                  <a:pt x="54749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435804" y="582358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3142" y="1395"/>
                </a:moveTo>
                <a:cubicBezTo>
                  <a:pt x="47662" y="-893"/>
                  <a:pt x="53132" y="-391"/>
                  <a:pt x="57150" y="2679"/>
                </a:cubicBezTo>
                <a:lnTo>
                  <a:pt x="235744" y="136568"/>
                </a:lnTo>
                <a:cubicBezTo>
                  <a:pt x="240376" y="140029"/>
                  <a:pt x="242218" y="146056"/>
                  <a:pt x="240432" y="151526"/>
                </a:cubicBezTo>
                <a:cubicBezTo>
                  <a:pt x="238646" y="156995"/>
                  <a:pt x="233511" y="160679"/>
                  <a:pt x="227707" y="160679"/>
                </a:cubicBezTo>
                <a:lnTo>
                  <a:pt x="142708" y="160679"/>
                </a:lnTo>
                <a:lnTo>
                  <a:pt x="192323" y="259854"/>
                </a:lnTo>
                <a:cubicBezTo>
                  <a:pt x="196732" y="268672"/>
                  <a:pt x="193160" y="279388"/>
                  <a:pt x="184342" y="283797"/>
                </a:cubicBezTo>
                <a:cubicBezTo>
                  <a:pt x="175524" y="288206"/>
                  <a:pt x="164809" y="284634"/>
                  <a:pt x="160400" y="275816"/>
                </a:cubicBezTo>
                <a:lnTo>
                  <a:pt x="110784" y="176640"/>
                </a:lnTo>
                <a:lnTo>
                  <a:pt x="59829" y="244618"/>
                </a:lnTo>
                <a:cubicBezTo>
                  <a:pt x="56369" y="249250"/>
                  <a:pt x="50341" y="251092"/>
                  <a:pt x="44872" y="249306"/>
                </a:cubicBezTo>
                <a:cubicBezTo>
                  <a:pt x="39402" y="247520"/>
                  <a:pt x="35719" y="242385"/>
                  <a:pt x="35719" y="236637"/>
                </a:cubicBezTo>
                <a:lnTo>
                  <a:pt x="35719" y="13395"/>
                </a:lnTo>
                <a:cubicBezTo>
                  <a:pt x="35719" y="8316"/>
                  <a:pt x="38565" y="3683"/>
                  <a:pt x="43142" y="1395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63" name="Text 60"/>
          <p:cNvSpPr/>
          <p:nvPr/>
        </p:nvSpPr>
        <p:spPr>
          <a:xfrm>
            <a:off x="6862167" y="5585464"/>
            <a:ext cx="484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Интерактивтілік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6862167" y="5890264"/>
            <a:ext cx="4829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Картадан немесе тізімнен объектіні таңдап, оның сипаттамасын көре аласыз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Нарықтық мүмкіндіктер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Өсу әлеуеті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5589270" cy="2522220"/>
          </a:xfrm>
          <a:custGeom>
            <a:avLst/>
            <a:gdLst/>
            <a:ahLst/>
            <a:cxnLst/>
            <a:rect l="l" t="t" r="r" b="b"/>
            <a:pathLst>
              <a:path w="5589270" h="2522220">
                <a:moveTo>
                  <a:pt x="114307" y="0"/>
                </a:moveTo>
                <a:lnTo>
                  <a:pt x="5474963" y="0"/>
                </a:lnTo>
                <a:cubicBezTo>
                  <a:pt x="5538093" y="0"/>
                  <a:pt x="5589270" y="51177"/>
                  <a:pt x="5589270" y="114307"/>
                </a:cubicBezTo>
                <a:lnTo>
                  <a:pt x="5589270" y="2407913"/>
                </a:lnTo>
                <a:cubicBezTo>
                  <a:pt x="5589270" y="2471043"/>
                  <a:pt x="5538093" y="2522220"/>
                  <a:pt x="5474963" y="2522220"/>
                </a:cubicBezTo>
                <a:lnTo>
                  <a:pt x="114307" y="2522220"/>
                </a:lnTo>
                <a:cubicBezTo>
                  <a:pt x="51219" y="2522220"/>
                  <a:pt x="0" y="2471001"/>
                  <a:pt x="0" y="24079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2932" y="18364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17245" y="1798318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 индустриясының өсуі</a:t>
            </a:r>
            <a:endParaRPr lang="en-US" sz="1600" dirty="0"/>
          </a:p>
        </p:txBody>
      </p:sp>
      <p:pic>
        <p:nvPicPr>
          <p:cNvPr id="8" name="Image 0" descr="https://kimi-img.moonshot.cn/pub/slides/26-02-27-16:11:02-d6gl35mdcmoppn29u2gg.png"/>
          <p:cNvPicPr>
            <a:picLocks noChangeAspect="1"/>
          </p:cNvPicPr>
          <p:nvPr/>
        </p:nvPicPr>
        <p:blipFill>
          <a:blip r:embed="rId3"/>
          <a:srcRect t="37" b="37"/>
          <a:stretch/>
        </p:blipFill>
        <p:spPr>
          <a:xfrm>
            <a:off x="579120" y="2217418"/>
            <a:ext cx="5200650" cy="171450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384810" y="4324356"/>
            <a:ext cx="5589270" cy="1684020"/>
          </a:xfrm>
          <a:custGeom>
            <a:avLst/>
            <a:gdLst/>
            <a:ahLst/>
            <a:cxnLst/>
            <a:rect l="l" t="t" r="r" b="b"/>
            <a:pathLst>
              <a:path w="5589270" h="168402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569726"/>
                </a:lnTo>
                <a:cubicBezTo>
                  <a:pt x="5589270" y="1632849"/>
                  <a:pt x="5538099" y="1684020"/>
                  <a:pt x="547497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651" y="4556764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817245" y="4518664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Нарық көлемі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9120" y="4937764"/>
            <a:ext cx="2524125" cy="876300"/>
          </a:xfrm>
          <a:custGeom>
            <a:avLst/>
            <a:gdLst/>
            <a:ahLst/>
            <a:cxnLst/>
            <a:rect l="l" t="t" r="r" b="b"/>
            <a:pathLst>
              <a:path w="2524125" h="876300">
                <a:moveTo>
                  <a:pt x="76203" y="0"/>
                </a:moveTo>
                <a:lnTo>
                  <a:pt x="2447922" y="0"/>
                </a:lnTo>
                <a:cubicBezTo>
                  <a:pt x="2490008" y="0"/>
                  <a:pt x="2524125" y="34117"/>
                  <a:pt x="2524125" y="76203"/>
                </a:cubicBezTo>
                <a:lnTo>
                  <a:pt x="2524125" y="800097"/>
                </a:lnTo>
                <a:cubicBezTo>
                  <a:pt x="2524125" y="842183"/>
                  <a:pt x="2490008" y="876300"/>
                  <a:pt x="24479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60083" y="5090164"/>
            <a:ext cx="236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$14.7B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8183" y="5471164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2030 жылға дейін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57550" y="4937764"/>
            <a:ext cx="2524125" cy="876300"/>
          </a:xfrm>
          <a:custGeom>
            <a:avLst/>
            <a:gdLst/>
            <a:ahLst/>
            <a:cxnLst/>
            <a:rect l="l" t="t" r="r" b="b"/>
            <a:pathLst>
              <a:path w="2524125" h="876300">
                <a:moveTo>
                  <a:pt x="76203" y="0"/>
                </a:moveTo>
                <a:lnTo>
                  <a:pt x="2447922" y="0"/>
                </a:lnTo>
                <a:cubicBezTo>
                  <a:pt x="2490008" y="0"/>
                  <a:pt x="2524125" y="34117"/>
                  <a:pt x="2524125" y="76203"/>
                </a:cubicBezTo>
                <a:lnTo>
                  <a:pt x="2524125" y="800097"/>
                </a:lnTo>
                <a:cubicBezTo>
                  <a:pt x="2524125" y="842183"/>
                  <a:pt x="2490008" y="876300"/>
                  <a:pt x="24479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338513" y="5090164"/>
            <a:ext cx="236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CAGR 8.5%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376613" y="5471164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Өсу қарқыны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14110" y="1604010"/>
            <a:ext cx="5589270" cy="3093720"/>
          </a:xfrm>
          <a:custGeom>
            <a:avLst/>
            <a:gdLst/>
            <a:ahLst/>
            <a:cxnLst/>
            <a:rect l="l" t="t" r="r" b="b"/>
            <a:pathLst>
              <a:path w="5589270" h="3093720">
                <a:moveTo>
                  <a:pt x="114313" y="0"/>
                </a:moveTo>
                <a:lnTo>
                  <a:pt x="5474957" y="0"/>
                </a:lnTo>
                <a:cubicBezTo>
                  <a:pt x="5538090" y="0"/>
                  <a:pt x="5589270" y="51180"/>
                  <a:pt x="5589270" y="114313"/>
                </a:cubicBezTo>
                <a:lnTo>
                  <a:pt x="5589270" y="2979407"/>
                </a:lnTo>
                <a:cubicBezTo>
                  <a:pt x="5589270" y="3042540"/>
                  <a:pt x="5538090" y="3093720"/>
                  <a:pt x="5474957" y="3093720"/>
                </a:cubicBezTo>
                <a:lnTo>
                  <a:pt x="114313" y="3093720"/>
                </a:lnTo>
                <a:cubicBezTo>
                  <a:pt x="51180" y="3093720"/>
                  <a:pt x="0" y="3042540"/>
                  <a:pt x="0" y="2979407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32232" y="18364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042" y="2604"/>
                </a:moveTo>
                <a:cubicBezTo>
                  <a:pt x="77539" y="-893"/>
                  <a:pt x="83195" y="-893"/>
                  <a:pt x="86655" y="2604"/>
                </a:cubicBezTo>
                <a:lnTo>
                  <a:pt x="119918" y="35868"/>
                </a:lnTo>
                <a:lnTo>
                  <a:pt x="140382" y="15404"/>
                </a:lnTo>
                <a:cubicBezTo>
                  <a:pt x="145033" y="10753"/>
                  <a:pt x="152586" y="10753"/>
                  <a:pt x="157237" y="15404"/>
                </a:cubicBezTo>
                <a:lnTo>
                  <a:pt x="175096" y="33263"/>
                </a:lnTo>
                <a:cubicBezTo>
                  <a:pt x="179747" y="37914"/>
                  <a:pt x="179747" y="45467"/>
                  <a:pt x="175096" y="50118"/>
                </a:cubicBezTo>
                <a:lnTo>
                  <a:pt x="154632" y="70582"/>
                </a:lnTo>
                <a:lnTo>
                  <a:pt x="187896" y="103845"/>
                </a:lnTo>
                <a:cubicBezTo>
                  <a:pt x="191393" y="107342"/>
                  <a:pt x="191393" y="112998"/>
                  <a:pt x="187896" y="116458"/>
                </a:cubicBezTo>
                <a:lnTo>
                  <a:pt x="152177" y="152177"/>
                </a:lnTo>
                <a:cubicBezTo>
                  <a:pt x="148679" y="155674"/>
                  <a:pt x="143024" y="155674"/>
                  <a:pt x="139564" y="152177"/>
                </a:cubicBezTo>
                <a:lnTo>
                  <a:pt x="106300" y="118914"/>
                </a:lnTo>
                <a:lnTo>
                  <a:pt x="100533" y="124681"/>
                </a:lnTo>
                <a:cubicBezTo>
                  <a:pt x="104775" y="133834"/>
                  <a:pt x="107156" y="144028"/>
                  <a:pt x="107156" y="154781"/>
                </a:cubicBezTo>
                <a:cubicBezTo>
                  <a:pt x="107156" y="166576"/>
                  <a:pt x="104291" y="177664"/>
                  <a:pt x="99268" y="187449"/>
                </a:cubicBezTo>
                <a:cubicBezTo>
                  <a:pt x="97520" y="190798"/>
                  <a:pt x="93055" y="191281"/>
                  <a:pt x="90413" y="188602"/>
                </a:cubicBezTo>
                <a:lnTo>
                  <a:pt x="54583" y="152772"/>
                </a:lnTo>
                <a:lnTo>
                  <a:pt x="32258" y="175096"/>
                </a:lnTo>
                <a:cubicBezTo>
                  <a:pt x="27608" y="179747"/>
                  <a:pt x="20055" y="179747"/>
                  <a:pt x="15404" y="175096"/>
                </a:cubicBezTo>
                <a:cubicBezTo>
                  <a:pt x="10753" y="170445"/>
                  <a:pt x="10753" y="162892"/>
                  <a:pt x="15404" y="158242"/>
                </a:cubicBezTo>
                <a:lnTo>
                  <a:pt x="37728" y="135917"/>
                </a:lnTo>
                <a:lnTo>
                  <a:pt x="1898" y="100087"/>
                </a:lnTo>
                <a:cubicBezTo>
                  <a:pt x="-781" y="97408"/>
                  <a:pt x="-298" y="92943"/>
                  <a:pt x="3051" y="91232"/>
                </a:cubicBezTo>
                <a:cubicBezTo>
                  <a:pt x="12836" y="86171"/>
                  <a:pt x="23961" y="83344"/>
                  <a:pt x="35719" y="83344"/>
                </a:cubicBezTo>
                <a:cubicBezTo>
                  <a:pt x="46472" y="83344"/>
                  <a:pt x="56666" y="85725"/>
                  <a:pt x="65819" y="89967"/>
                </a:cubicBezTo>
                <a:lnTo>
                  <a:pt x="71586" y="84200"/>
                </a:lnTo>
                <a:lnTo>
                  <a:pt x="38323" y="50974"/>
                </a:lnTo>
                <a:cubicBezTo>
                  <a:pt x="34826" y="47476"/>
                  <a:pt x="34826" y="41821"/>
                  <a:pt x="38323" y="38360"/>
                </a:cubicBezTo>
                <a:lnTo>
                  <a:pt x="74042" y="2604"/>
                </a:lnTo>
                <a:close/>
                <a:moveTo>
                  <a:pt x="80367" y="21543"/>
                </a:moveTo>
                <a:lnTo>
                  <a:pt x="57262" y="44648"/>
                </a:lnTo>
                <a:lnTo>
                  <a:pt x="84200" y="71586"/>
                </a:lnTo>
                <a:lnTo>
                  <a:pt x="107305" y="48481"/>
                </a:lnTo>
                <a:lnTo>
                  <a:pt x="80367" y="21543"/>
                </a:lnTo>
                <a:close/>
                <a:moveTo>
                  <a:pt x="145852" y="133238"/>
                </a:moveTo>
                <a:lnTo>
                  <a:pt x="168957" y="110133"/>
                </a:lnTo>
                <a:lnTo>
                  <a:pt x="142019" y="83195"/>
                </a:lnTo>
                <a:lnTo>
                  <a:pt x="118914" y="106300"/>
                </a:lnTo>
                <a:lnTo>
                  <a:pt x="145852" y="13323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7"/>
          <p:cNvSpPr/>
          <p:nvPr/>
        </p:nvSpPr>
        <p:spPr>
          <a:xfrm>
            <a:off x="6646545" y="1798318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 мега-констелляциялары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8420" y="2217418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522720" y="2331718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SpaceX Starlink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896720" y="2331718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40,000+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22720" y="2598418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Жоспарланған спутниктер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08420" y="3017518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522720" y="313181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Amazon Kuiper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103530" y="3131818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3,236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22720" y="3398518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Жоспарланған спутниктер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408420" y="3817618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522720" y="393191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OneWeb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268075" y="3931918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716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22720" y="4198618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Жоспарланған спутниктер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14110" y="4895856"/>
            <a:ext cx="5589270" cy="1150620"/>
          </a:xfrm>
          <a:custGeom>
            <a:avLst/>
            <a:gdLst/>
            <a:ahLst/>
            <a:cxnLst/>
            <a:rect l="l" t="t" r="r" b="b"/>
            <a:pathLst>
              <a:path w="5589270" h="11506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1036317"/>
                </a:lnTo>
                <a:cubicBezTo>
                  <a:pt x="5589270" y="1099445"/>
                  <a:pt x="5538095" y="1150620"/>
                  <a:pt x="54749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8420" y="532828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5" name="Text 32"/>
          <p:cNvSpPr/>
          <p:nvPr/>
        </p:nvSpPr>
        <p:spPr>
          <a:xfrm>
            <a:off x="6844427" y="5090164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Мега-тренд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844427" y="5394964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2030 жылы 50,000+ спутник болжанып отыр. Бақылау жүйелеріне сұраныс өседі.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Мақсатты аудитория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Кімдер үшін пайдалы?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5608320" cy="1893570"/>
          </a:xfrm>
          <a:custGeom>
            <a:avLst/>
            <a:gdLst/>
            <a:ahLst/>
            <a:cxnLst/>
            <a:rect l="l" t="t" r="r" b="b"/>
            <a:pathLst>
              <a:path w="5608320" h="1893570">
                <a:moveTo>
                  <a:pt x="114296" y="0"/>
                </a:moveTo>
                <a:lnTo>
                  <a:pt x="5494024" y="0"/>
                </a:lnTo>
                <a:cubicBezTo>
                  <a:pt x="5557148" y="0"/>
                  <a:pt x="5608320" y="51172"/>
                  <a:pt x="5608320" y="114296"/>
                </a:cubicBezTo>
                <a:lnTo>
                  <a:pt x="5608320" y="1779274"/>
                </a:lnTo>
                <a:cubicBezTo>
                  <a:pt x="5608320" y="1842398"/>
                  <a:pt x="5557148" y="1893570"/>
                  <a:pt x="5494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7983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507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84" y="0"/>
                </a:moveTo>
                <a:cubicBezTo>
                  <a:pt x="172611" y="0"/>
                  <a:pt x="228600" y="55989"/>
                  <a:pt x="228600" y="125016"/>
                </a:cubicBezTo>
                <a:cubicBezTo>
                  <a:pt x="228600" y="130954"/>
                  <a:pt x="223823" y="135731"/>
                  <a:pt x="217884" y="135731"/>
                </a:cubicBezTo>
                <a:cubicBezTo>
                  <a:pt x="211946" y="135731"/>
                  <a:pt x="207169" y="130954"/>
                  <a:pt x="207169" y="125016"/>
                </a:cubicBezTo>
                <a:cubicBezTo>
                  <a:pt x="207169" y="67821"/>
                  <a:pt x="160779" y="21431"/>
                  <a:pt x="103584" y="21431"/>
                </a:cubicBezTo>
                <a:cubicBezTo>
                  <a:pt x="97646" y="21431"/>
                  <a:pt x="92869" y="16654"/>
                  <a:pt x="92869" y="10716"/>
                </a:cubicBezTo>
                <a:cubicBezTo>
                  <a:pt x="92869" y="4777"/>
                  <a:pt x="97646" y="0"/>
                  <a:pt x="103584" y="0"/>
                </a:cubicBezTo>
                <a:close/>
                <a:moveTo>
                  <a:pt x="92869" y="53578"/>
                </a:moveTo>
                <a:cubicBezTo>
                  <a:pt x="92869" y="47640"/>
                  <a:pt x="97646" y="42863"/>
                  <a:pt x="103584" y="42863"/>
                </a:cubicBezTo>
                <a:cubicBezTo>
                  <a:pt x="148947" y="42863"/>
                  <a:pt x="185738" y="79653"/>
                  <a:pt x="185738" y="125016"/>
                </a:cubicBezTo>
                <a:cubicBezTo>
                  <a:pt x="185738" y="130954"/>
                  <a:pt x="180960" y="135731"/>
                  <a:pt x="175022" y="135731"/>
                </a:cubicBezTo>
                <a:cubicBezTo>
                  <a:pt x="169084" y="135731"/>
                  <a:pt x="164306" y="130954"/>
                  <a:pt x="164306" y="125016"/>
                </a:cubicBezTo>
                <a:cubicBezTo>
                  <a:pt x="164306" y="91485"/>
                  <a:pt x="137115" y="64294"/>
                  <a:pt x="103584" y="64294"/>
                </a:cubicBezTo>
                <a:cubicBezTo>
                  <a:pt x="97646" y="64294"/>
                  <a:pt x="92869" y="59516"/>
                  <a:pt x="92869" y="53578"/>
                </a:cubicBezTo>
                <a:close/>
                <a:moveTo>
                  <a:pt x="11787" y="63713"/>
                </a:moveTo>
                <a:cubicBezTo>
                  <a:pt x="15716" y="55721"/>
                  <a:pt x="26253" y="54828"/>
                  <a:pt x="32549" y="61124"/>
                </a:cubicBezTo>
                <a:lnTo>
                  <a:pt x="89922" y="118497"/>
                </a:lnTo>
                <a:lnTo>
                  <a:pt x="104209" y="104209"/>
                </a:lnTo>
                <a:cubicBezTo>
                  <a:pt x="109791" y="98628"/>
                  <a:pt x="118854" y="98628"/>
                  <a:pt x="124435" y="104209"/>
                </a:cubicBezTo>
                <a:cubicBezTo>
                  <a:pt x="130016" y="109791"/>
                  <a:pt x="130016" y="118854"/>
                  <a:pt x="124435" y="124435"/>
                </a:cubicBezTo>
                <a:lnTo>
                  <a:pt x="110148" y="138723"/>
                </a:lnTo>
                <a:lnTo>
                  <a:pt x="167521" y="196096"/>
                </a:lnTo>
                <a:cubicBezTo>
                  <a:pt x="173816" y="202391"/>
                  <a:pt x="172879" y="212884"/>
                  <a:pt x="164931" y="216857"/>
                </a:cubicBezTo>
                <a:cubicBezTo>
                  <a:pt x="149662" y="224403"/>
                  <a:pt x="132517" y="228645"/>
                  <a:pt x="114345" y="228645"/>
                </a:cubicBezTo>
                <a:cubicBezTo>
                  <a:pt x="51212" y="228645"/>
                  <a:pt x="45" y="177478"/>
                  <a:pt x="45" y="114345"/>
                </a:cubicBezTo>
                <a:cubicBezTo>
                  <a:pt x="45" y="96173"/>
                  <a:pt x="4286" y="78983"/>
                  <a:pt x="11832" y="6375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264920" y="1798318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Спутник операторлары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4920" y="2179318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Жұмыс істеп тұрған спутниктерді соқтығысу қаупінен қорғау.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92304" y="26079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7808" y="2579368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Қызмет мерзімін ұзарту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92304" y="28746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507808" y="2846068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Апаттарды болдырмау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92304" y="31413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507808" y="3112768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Экономикалық шығындарды азайту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5060" y="1604010"/>
            <a:ext cx="5608320" cy="1893570"/>
          </a:xfrm>
          <a:custGeom>
            <a:avLst/>
            <a:gdLst/>
            <a:ahLst/>
            <a:cxnLst/>
            <a:rect l="l" t="t" r="r" b="b"/>
            <a:pathLst>
              <a:path w="5608320" h="1893570">
                <a:moveTo>
                  <a:pt x="114296" y="0"/>
                </a:moveTo>
                <a:lnTo>
                  <a:pt x="5494024" y="0"/>
                </a:lnTo>
                <a:cubicBezTo>
                  <a:pt x="5557148" y="0"/>
                  <a:pt x="5608320" y="51172"/>
                  <a:pt x="5608320" y="114296"/>
                </a:cubicBezTo>
                <a:lnTo>
                  <a:pt x="5608320" y="1779274"/>
                </a:lnTo>
                <a:cubicBezTo>
                  <a:pt x="5608320" y="1842398"/>
                  <a:pt x="5557148" y="1893570"/>
                  <a:pt x="5494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9370" y="17983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56057" y="195071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075170" y="1798318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Ғылыми ұйымдар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75170" y="2179318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Зерттеу аппараттарының қауіпсіздігін арттыру.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02554" y="26079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8057" y="2579368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Деректер жоғалту тәуекелін азайту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02554" y="28746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8057" y="2846068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Миссияларды қорғау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02554" y="31413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7318057" y="3112768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Ғылыми инвестицияларды сақтау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810" y="3695706"/>
            <a:ext cx="5608320" cy="1893570"/>
          </a:xfrm>
          <a:custGeom>
            <a:avLst/>
            <a:gdLst/>
            <a:ahLst/>
            <a:cxnLst/>
            <a:rect l="l" t="t" r="r" b="b"/>
            <a:pathLst>
              <a:path w="5608320" h="1893570">
                <a:moveTo>
                  <a:pt x="114296" y="0"/>
                </a:moveTo>
                <a:lnTo>
                  <a:pt x="5494024" y="0"/>
                </a:lnTo>
                <a:cubicBezTo>
                  <a:pt x="5557148" y="0"/>
                  <a:pt x="5608320" y="51172"/>
                  <a:pt x="5608320" y="114296"/>
                </a:cubicBezTo>
                <a:lnTo>
                  <a:pt x="5608320" y="1779274"/>
                </a:lnTo>
                <a:cubicBezTo>
                  <a:pt x="5608320" y="1842398"/>
                  <a:pt x="5557148" y="1893570"/>
                  <a:pt x="5494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9120" y="389001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04241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6576" y="2277"/>
                </a:moveTo>
                <a:cubicBezTo>
                  <a:pt x="111264" y="-759"/>
                  <a:pt x="117336" y="-759"/>
                  <a:pt x="122024" y="2277"/>
                </a:cubicBezTo>
                <a:lnTo>
                  <a:pt x="222037" y="66571"/>
                </a:lnTo>
                <a:cubicBezTo>
                  <a:pt x="227350" y="70009"/>
                  <a:pt x="229806" y="76527"/>
                  <a:pt x="228020" y="82600"/>
                </a:cubicBezTo>
                <a:cubicBezTo>
                  <a:pt x="226234" y="88672"/>
                  <a:pt x="220653" y="92869"/>
                  <a:pt x="214313" y="92869"/>
                </a:cubicBezTo>
                <a:lnTo>
                  <a:pt x="200025" y="92869"/>
                </a:lnTo>
                <a:lnTo>
                  <a:pt x="200025" y="185738"/>
                </a:lnTo>
                <a:lnTo>
                  <a:pt x="222885" y="202883"/>
                </a:lnTo>
                <a:cubicBezTo>
                  <a:pt x="226502" y="205561"/>
                  <a:pt x="228600" y="209803"/>
                  <a:pt x="228600" y="214313"/>
                </a:cubicBezTo>
                <a:cubicBezTo>
                  <a:pt x="228600" y="222215"/>
                  <a:pt x="222215" y="228600"/>
                  <a:pt x="214313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ubicBezTo>
                  <a:pt x="0" y="209803"/>
                  <a:pt x="2098" y="205561"/>
                  <a:pt x="5715" y="202883"/>
                </a:cubicBezTo>
                <a:lnTo>
                  <a:pt x="28575" y="185738"/>
                </a:lnTo>
                <a:lnTo>
                  <a:pt x="28575" y="185738"/>
                </a:lnTo>
                <a:lnTo>
                  <a:pt x="28575" y="92869"/>
                </a:lnTo>
                <a:lnTo>
                  <a:pt x="14288" y="92869"/>
                </a:lnTo>
                <a:cubicBezTo>
                  <a:pt x="7947" y="92869"/>
                  <a:pt x="2366" y="88672"/>
                  <a:pt x="580" y="82600"/>
                </a:cubicBezTo>
                <a:cubicBezTo>
                  <a:pt x="-1206" y="76527"/>
                  <a:pt x="1250" y="69964"/>
                  <a:pt x="6563" y="66571"/>
                </a:cubicBezTo>
                <a:lnTo>
                  <a:pt x="106576" y="2277"/>
                </a:lnTo>
                <a:close/>
                <a:moveTo>
                  <a:pt x="150019" y="92869"/>
                </a:moveTo>
                <a:lnTo>
                  <a:pt x="150019" y="185738"/>
                </a:lnTo>
                <a:lnTo>
                  <a:pt x="178594" y="185738"/>
                </a:lnTo>
                <a:lnTo>
                  <a:pt x="178594" y="92869"/>
                </a:lnTo>
                <a:lnTo>
                  <a:pt x="150019" y="92869"/>
                </a:lnTo>
                <a:close/>
                <a:moveTo>
                  <a:pt x="100013" y="185738"/>
                </a:moveTo>
                <a:lnTo>
                  <a:pt x="128588" y="185738"/>
                </a:lnTo>
                <a:lnTo>
                  <a:pt x="128588" y="92869"/>
                </a:lnTo>
                <a:lnTo>
                  <a:pt x="100013" y="92869"/>
                </a:lnTo>
                <a:lnTo>
                  <a:pt x="100013" y="185738"/>
                </a:lnTo>
                <a:close/>
                <a:moveTo>
                  <a:pt x="50006" y="92869"/>
                </a:moveTo>
                <a:lnTo>
                  <a:pt x="50006" y="185738"/>
                </a:lnTo>
                <a:lnTo>
                  <a:pt x="78581" y="185738"/>
                </a:lnTo>
                <a:lnTo>
                  <a:pt x="78581" y="92869"/>
                </a:lnTo>
                <a:lnTo>
                  <a:pt x="50006" y="9286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1264920" y="3890014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Мемлекеттік агенттіктер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64920" y="4271014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 sustainability саясатын қолдау.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92304" y="469963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1507808" y="4671064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Ұлттық стратегияларды негіздеу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92304" y="496633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1507808" y="4937764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Халықаралық ынтымақтастық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92304" y="523303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1507808" y="5204464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Ғарыштық қауіпсіздік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5060" y="3695706"/>
            <a:ext cx="5608320" cy="1893570"/>
          </a:xfrm>
          <a:custGeom>
            <a:avLst/>
            <a:gdLst/>
            <a:ahLst/>
            <a:cxnLst/>
            <a:rect l="l" t="t" r="r" b="b"/>
            <a:pathLst>
              <a:path w="5608320" h="1893570">
                <a:moveTo>
                  <a:pt x="114296" y="0"/>
                </a:moveTo>
                <a:lnTo>
                  <a:pt x="5494024" y="0"/>
                </a:lnTo>
                <a:cubicBezTo>
                  <a:pt x="5557148" y="0"/>
                  <a:pt x="5608320" y="51172"/>
                  <a:pt x="5608320" y="114296"/>
                </a:cubicBezTo>
                <a:lnTo>
                  <a:pt x="5608320" y="1779274"/>
                </a:lnTo>
                <a:cubicBezTo>
                  <a:pt x="5608320" y="1842398"/>
                  <a:pt x="5557148" y="1893570"/>
                  <a:pt x="549402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89370" y="389001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27482" y="404241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7075170" y="3890014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Қаржы компаниялары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75170" y="4271014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Сақтандыру және тәуекелдерді басқару.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02554" y="469963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7318057" y="4671064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Тәуекелдерді бағалау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02554" y="496633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8057" y="4937764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Сақтандыру полистерін оптимизациялау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102554" y="523303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7318057" y="5204464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Инвестициялық шешімдер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4810" y="5749292"/>
            <a:ext cx="11418570" cy="731520"/>
          </a:xfrm>
          <a:custGeom>
            <a:avLst/>
            <a:gdLst/>
            <a:ahLst/>
            <a:cxnLst/>
            <a:rect l="l" t="t" r="r" b="b"/>
            <a:pathLst>
              <a:path w="11418570" h="731520">
                <a:moveTo>
                  <a:pt x="114300" y="0"/>
                </a:moveTo>
                <a:lnTo>
                  <a:pt x="11304270" y="0"/>
                </a:lnTo>
                <a:cubicBezTo>
                  <a:pt x="11367354" y="0"/>
                  <a:pt x="11418570" y="51216"/>
                  <a:pt x="11418570" y="114300"/>
                </a:cubicBezTo>
                <a:lnTo>
                  <a:pt x="11418570" y="617220"/>
                </a:lnTo>
                <a:cubicBezTo>
                  <a:pt x="11418570" y="680346"/>
                  <a:pt x="11367396" y="731520"/>
                  <a:pt x="113042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50000">
                <a:srgbClr val="6366F1">
                  <a:alpha val="20000"/>
                </a:srgbClr>
              </a:gs>
              <a:gs pos="100000">
                <a:srgbClr val="F97316">
                  <a:alpha val="20000"/>
                </a:srgbClr>
              </a:gs>
            </a:gsLst>
            <a:lin ang="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1020" y="600062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1" name="Text 49"/>
          <p:cNvSpPr/>
          <p:nvPr/>
        </p:nvSpPr>
        <p:spPr>
          <a:xfrm>
            <a:off x="941070" y="6000629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Кең ауқымды мақсатты аудитория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005417" y="5905500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024467" y="6172200"/>
            <a:ext cx="866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негізгі сегмент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045548" y="5905500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064598" y="6172200"/>
            <a:ext cx="61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нарық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755" y="331755"/>
            <a:ext cx="1158654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kern="0" spc="46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755" y="563984"/>
            <a:ext cx="1167778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Бәсекелестік артықшылықтар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1755" y="962090"/>
            <a:ext cx="11611429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Неліктен біздің шешім жақсырақ?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073" y="1396689"/>
            <a:ext cx="3722292" cy="2328921"/>
          </a:xfrm>
          <a:custGeom>
            <a:avLst/>
            <a:gdLst/>
            <a:ahLst/>
            <a:cxnLst/>
            <a:rect l="l" t="t" r="r" b="b"/>
            <a:pathLst>
              <a:path w="3722292" h="2328921">
                <a:moveTo>
                  <a:pt x="99538" y="0"/>
                </a:moveTo>
                <a:lnTo>
                  <a:pt x="3622754" y="0"/>
                </a:lnTo>
                <a:cubicBezTo>
                  <a:pt x="3677728" y="0"/>
                  <a:pt x="3722292" y="44565"/>
                  <a:pt x="3722292" y="99538"/>
                </a:cubicBezTo>
                <a:lnTo>
                  <a:pt x="3722292" y="2229383"/>
                </a:lnTo>
                <a:cubicBezTo>
                  <a:pt x="3722292" y="2284356"/>
                  <a:pt x="3677728" y="2328921"/>
                  <a:pt x="3622754" y="2328921"/>
                </a:cubicBezTo>
                <a:lnTo>
                  <a:pt x="99538" y="2328921"/>
                </a:lnTo>
                <a:cubicBezTo>
                  <a:pt x="44565" y="2328921"/>
                  <a:pt x="0" y="2284356"/>
                  <a:pt x="0" y="2229383"/>
                </a:cubicBezTo>
                <a:lnTo>
                  <a:pt x="0" y="99538"/>
                </a:lnTo>
                <a:cubicBezTo>
                  <a:pt x="0" y="44565"/>
                  <a:pt x="44565" y="0"/>
                  <a:pt x="99538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4268" y="1565882"/>
            <a:ext cx="464457" cy="464457"/>
          </a:xfrm>
          <a:custGeom>
            <a:avLst/>
            <a:gdLst/>
            <a:ahLst/>
            <a:cxnLst/>
            <a:rect l="l" t="t" r="r" b="b"/>
            <a:pathLst>
              <a:path w="464457" h="464457">
                <a:moveTo>
                  <a:pt x="99529" y="0"/>
                </a:moveTo>
                <a:lnTo>
                  <a:pt x="364929" y="0"/>
                </a:lnTo>
                <a:cubicBezTo>
                  <a:pt x="419897" y="0"/>
                  <a:pt x="464457" y="44560"/>
                  <a:pt x="464457" y="99529"/>
                </a:cubicBezTo>
                <a:lnTo>
                  <a:pt x="464457" y="364929"/>
                </a:lnTo>
                <a:cubicBezTo>
                  <a:pt x="464457" y="419897"/>
                  <a:pt x="419897" y="464457"/>
                  <a:pt x="364929" y="464457"/>
                </a:cubicBezTo>
                <a:lnTo>
                  <a:pt x="99529" y="464457"/>
                </a:lnTo>
                <a:cubicBezTo>
                  <a:pt x="44560" y="464457"/>
                  <a:pt x="0" y="419897"/>
                  <a:pt x="0" y="364929"/>
                </a:cubicBezTo>
                <a:lnTo>
                  <a:pt x="0" y="99529"/>
                </a:lnTo>
                <a:cubicBezTo>
                  <a:pt x="0" y="44560"/>
                  <a:pt x="44560" y="0"/>
                  <a:pt x="99529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6970" y="1698585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46653" y="21771"/>
                </a:moveTo>
                <a:cubicBezTo>
                  <a:pt x="46653" y="9758"/>
                  <a:pt x="56411" y="0"/>
                  <a:pt x="68424" y="0"/>
                </a:cubicBezTo>
                <a:lnTo>
                  <a:pt x="77755" y="0"/>
                </a:lnTo>
                <a:cubicBezTo>
                  <a:pt x="84636" y="0"/>
                  <a:pt x="90196" y="5559"/>
                  <a:pt x="90196" y="12441"/>
                </a:cubicBezTo>
                <a:lnTo>
                  <a:pt x="90196" y="186612"/>
                </a:lnTo>
                <a:cubicBezTo>
                  <a:pt x="90196" y="193494"/>
                  <a:pt x="84636" y="199053"/>
                  <a:pt x="77755" y="199053"/>
                </a:cubicBezTo>
                <a:lnTo>
                  <a:pt x="65314" y="199053"/>
                </a:lnTo>
                <a:cubicBezTo>
                  <a:pt x="53729" y="199053"/>
                  <a:pt x="43971" y="191122"/>
                  <a:pt x="41210" y="180392"/>
                </a:cubicBezTo>
                <a:cubicBezTo>
                  <a:pt x="40938" y="180392"/>
                  <a:pt x="40705" y="180392"/>
                  <a:pt x="40433" y="180392"/>
                </a:cubicBezTo>
                <a:cubicBezTo>
                  <a:pt x="23249" y="180392"/>
                  <a:pt x="9331" y="166474"/>
                  <a:pt x="9331" y="149290"/>
                </a:cubicBezTo>
                <a:cubicBezTo>
                  <a:pt x="9331" y="142292"/>
                  <a:pt x="11663" y="135838"/>
                  <a:pt x="15551" y="130629"/>
                </a:cubicBezTo>
                <a:cubicBezTo>
                  <a:pt x="8009" y="124952"/>
                  <a:pt x="3110" y="115933"/>
                  <a:pt x="3110" y="105747"/>
                </a:cubicBezTo>
                <a:cubicBezTo>
                  <a:pt x="3110" y="93734"/>
                  <a:pt x="9953" y="83276"/>
                  <a:pt x="19905" y="78105"/>
                </a:cubicBezTo>
                <a:cubicBezTo>
                  <a:pt x="17145" y="73440"/>
                  <a:pt x="15551" y="67997"/>
                  <a:pt x="15551" y="62204"/>
                </a:cubicBezTo>
                <a:cubicBezTo>
                  <a:pt x="15551" y="45020"/>
                  <a:pt x="29469" y="31102"/>
                  <a:pt x="46653" y="31102"/>
                </a:cubicBezTo>
                <a:lnTo>
                  <a:pt x="46653" y="21771"/>
                </a:lnTo>
                <a:close/>
                <a:moveTo>
                  <a:pt x="152400" y="21771"/>
                </a:moveTo>
                <a:lnTo>
                  <a:pt x="152400" y="31102"/>
                </a:lnTo>
                <a:cubicBezTo>
                  <a:pt x="169584" y="31102"/>
                  <a:pt x="183502" y="45020"/>
                  <a:pt x="183502" y="62204"/>
                </a:cubicBezTo>
                <a:cubicBezTo>
                  <a:pt x="183502" y="68036"/>
                  <a:pt x="181908" y="73479"/>
                  <a:pt x="179148" y="78105"/>
                </a:cubicBezTo>
                <a:cubicBezTo>
                  <a:pt x="189139" y="83276"/>
                  <a:pt x="195943" y="93695"/>
                  <a:pt x="195943" y="105747"/>
                </a:cubicBezTo>
                <a:cubicBezTo>
                  <a:pt x="195943" y="115933"/>
                  <a:pt x="191044" y="124952"/>
                  <a:pt x="183502" y="130629"/>
                </a:cubicBezTo>
                <a:cubicBezTo>
                  <a:pt x="187390" y="135838"/>
                  <a:pt x="189722" y="142292"/>
                  <a:pt x="189722" y="149290"/>
                </a:cubicBezTo>
                <a:cubicBezTo>
                  <a:pt x="189722" y="166474"/>
                  <a:pt x="175804" y="180392"/>
                  <a:pt x="158620" y="180392"/>
                </a:cubicBezTo>
                <a:cubicBezTo>
                  <a:pt x="158348" y="180392"/>
                  <a:pt x="158115" y="180392"/>
                  <a:pt x="157843" y="180392"/>
                </a:cubicBezTo>
                <a:cubicBezTo>
                  <a:pt x="155083" y="191122"/>
                  <a:pt x="145324" y="199053"/>
                  <a:pt x="133739" y="199053"/>
                </a:cubicBezTo>
                <a:lnTo>
                  <a:pt x="121298" y="199053"/>
                </a:lnTo>
                <a:cubicBezTo>
                  <a:pt x="114417" y="199053"/>
                  <a:pt x="108857" y="193494"/>
                  <a:pt x="108857" y="186612"/>
                </a:cubicBezTo>
                <a:lnTo>
                  <a:pt x="108857" y="12441"/>
                </a:lnTo>
                <a:cubicBezTo>
                  <a:pt x="108857" y="5559"/>
                  <a:pt x="114417" y="0"/>
                  <a:pt x="121298" y="0"/>
                </a:cubicBezTo>
                <a:lnTo>
                  <a:pt x="130629" y="0"/>
                </a:lnTo>
                <a:cubicBezTo>
                  <a:pt x="142642" y="0"/>
                  <a:pt x="152400" y="9758"/>
                  <a:pt x="152400" y="2177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04268" y="2163042"/>
            <a:ext cx="346684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ЖИ негізіндегі болжам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268" y="2494797"/>
            <a:ext cx="3450253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Дәстүрлі әдістерге қарағанда </a:t>
            </a:r>
            <a:r>
              <a:rPr lang="en-US" sz="1045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30-75%</a:t>
            </a: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жақсырақ дәлдік.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268" y="3058780"/>
            <a:ext cx="3383902" cy="497633"/>
          </a:xfrm>
          <a:custGeom>
            <a:avLst/>
            <a:gdLst/>
            <a:ahLst/>
            <a:cxnLst/>
            <a:rect l="l" t="t" r="r" b="b"/>
            <a:pathLst>
              <a:path w="3383902" h="497633">
                <a:moveTo>
                  <a:pt x="66349" y="0"/>
                </a:moveTo>
                <a:lnTo>
                  <a:pt x="3317553" y="0"/>
                </a:lnTo>
                <a:cubicBezTo>
                  <a:pt x="3354196" y="0"/>
                  <a:pt x="3383902" y="29706"/>
                  <a:pt x="3383902" y="66349"/>
                </a:cubicBezTo>
                <a:lnTo>
                  <a:pt x="3383902" y="431283"/>
                </a:lnTo>
                <a:cubicBezTo>
                  <a:pt x="3383902" y="467927"/>
                  <a:pt x="3354196" y="497633"/>
                  <a:pt x="3317553" y="497633"/>
                </a:cubicBezTo>
                <a:lnTo>
                  <a:pt x="66349" y="497633"/>
                </a:lnTo>
                <a:cubicBezTo>
                  <a:pt x="29706" y="497633"/>
                  <a:pt x="0" y="467927"/>
                  <a:pt x="0" y="431283"/>
                </a:cubicBezTo>
                <a:lnTo>
                  <a:pt x="0" y="66349"/>
                </a:lnTo>
                <a:cubicBezTo>
                  <a:pt x="0" y="29730"/>
                  <a:pt x="29730" y="0"/>
                  <a:pt x="66349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971351" y="3145040"/>
            <a:ext cx="453468" cy="19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6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+75%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8913" y="3357360"/>
            <a:ext cx="3234612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максималды жақсарту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5073" y="3864847"/>
            <a:ext cx="3722292" cy="2113280"/>
          </a:xfrm>
          <a:custGeom>
            <a:avLst/>
            <a:gdLst/>
            <a:ahLst/>
            <a:cxnLst/>
            <a:rect l="l" t="t" r="r" b="b"/>
            <a:pathLst>
              <a:path w="3722292" h="2113280">
                <a:moveTo>
                  <a:pt x="99535" y="0"/>
                </a:moveTo>
                <a:lnTo>
                  <a:pt x="3622757" y="0"/>
                </a:lnTo>
                <a:cubicBezTo>
                  <a:pt x="3677729" y="0"/>
                  <a:pt x="3722292" y="44564"/>
                  <a:pt x="3722292" y="99535"/>
                </a:cubicBezTo>
                <a:lnTo>
                  <a:pt x="3722292" y="2013745"/>
                </a:lnTo>
                <a:cubicBezTo>
                  <a:pt x="3722292" y="2068716"/>
                  <a:pt x="3677729" y="2113280"/>
                  <a:pt x="3622757" y="2113280"/>
                </a:cubicBezTo>
                <a:lnTo>
                  <a:pt x="99535" y="2113280"/>
                </a:lnTo>
                <a:cubicBezTo>
                  <a:pt x="44564" y="2113280"/>
                  <a:pt x="0" y="2068716"/>
                  <a:pt x="0" y="2013745"/>
                </a:cubicBezTo>
                <a:lnTo>
                  <a:pt x="0" y="99535"/>
                </a:lnTo>
                <a:cubicBezTo>
                  <a:pt x="0" y="44564"/>
                  <a:pt x="44564" y="0"/>
                  <a:pt x="9953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268" y="4034040"/>
            <a:ext cx="464457" cy="464457"/>
          </a:xfrm>
          <a:custGeom>
            <a:avLst/>
            <a:gdLst/>
            <a:ahLst/>
            <a:cxnLst/>
            <a:rect l="l" t="t" r="r" b="b"/>
            <a:pathLst>
              <a:path w="464457" h="464457">
                <a:moveTo>
                  <a:pt x="99529" y="0"/>
                </a:moveTo>
                <a:lnTo>
                  <a:pt x="364929" y="0"/>
                </a:lnTo>
                <a:cubicBezTo>
                  <a:pt x="419897" y="0"/>
                  <a:pt x="464457" y="44560"/>
                  <a:pt x="464457" y="99529"/>
                </a:cubicBezTo>
                <a:lnTo>
                  <a:pt x="464457" y="364929"/>
                </a:lnTo>
                <a:cubicBezTo>
                  <a:pt x="464457" y="419897"/>
                  <a:pt x="419897" y="464457"/>
                  <a:pt x="364929" y="464457"/>
                </a:cubicBezTo>
                <a:lnTo>
                  <a:pt x="99529" y="464457"/>
                </a:lnTo>
                <a:cubicBezTo>
                  <a:pt x="44560" y="464457"/>
                  <a:pt x="0" y="419897"/>
                  <a:pt x="0" y="364929"/>
                </a:cubicBezTo>
                <a:lnTo>
                  <a:pt x="0" y="99529"/>
                </a:lnTo>
                <a:cubicBezTo>
                  <a:pt x="0" y="44560"/>
                  <a:pt x="44560" y="0"/>
                  <a:pt x="9952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6970" y="4166742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99527" y="199053"/>
                </a:moveTo>
                <a:cubicBezTo>
                  <a:pt x="154457" y="199053"/>
                  <a:pt x="199053" y="154457"/>
                  <a:pt x="199053" y="99527"/>
                </a:cubicBezTo>
                <a:cubicBezTo>
                  <a:pt x="199053" y="44596"/>
                  <a:pt x="154457" y="0"/>
                  <a:pt x="99527" y="0"/>
                </a:cubicBezTo>
                <a:cubicBezTo>
                  <a:pt x="44596" y="0"/>
                  <a:pt x="0" y="44596"/>
                  <a:pt x="0" y="99527"/>
                </a:cubicBezTo>
                <a:cubicBezTo>
                  <a:pt x="0" y="154457"/>
                  <a:pt x="44596" y="199053"/>
                  <a:pt x="99527" y="199053"/>
                </a:cubicBezTo>
                <a:close/>
                <a:moveTo>
                  <a:pt x="64926" y="64926"/>
                </a:moveTo>
                <a:cubicBezTo>
                  <a:pt x="68580" y="61271"/>
                  <a:pt x="74489" y="61271"/>
                  <a:pt x="78105" y="64926"/>
                </a:cubicBezTo>
                <a:lnTo>
                  <a:pt x="99488" y="86308"/>
                </a:lnTo>
                <a:lnTo>
                  <a:pt x="120870" y="64926"/>
                </a:lnTo>
                <a:cubicBezTo>
                  <a:pt x="124525" y="61271"/>
                  <a:pt x="130434" y="61271"/>
                  <a:pt x="134050" y="64926"/>
                </a:cubicBezTo>
                <a:cubicBezTo>
                  <a:pt x="137665" y="68580"/>
                  <a:pt x="137704" y="74489"/>
                  <a:pt x="134050" y="78105"/>
                </a:cubicBezTo>
                <a:lnTo>
                  <a:pt x="112667" y="99488"/>
                </a:lnTo>
                <a:lnTo>
                  <a:pt x="134050" y="120870"/>
                </a:lnTo>
                <a:cubicBezTo>
                  <a:pt x="137704" y="124525"/>
                  <a:pt x="137704" y="130434"/>
                  <a:pt x="134050" y="134050"/>
                </a:cubicBezTo>
                <a:cubicBezTo>
                  <a:pt x="130395" y="137665"/>
                  <a:pt x="124486" y="137704"/>
                  <a:pt x="120870" y="134050"/>
                </a:cubicBezTo>
                <a:lnTo>
                  <a:pt x="99488" y="112667"/>
                </a:lnTo>
                <a:lnTo>
                  <a:pt x="78105" y="134050"/>
                </a:lnTo>
                <a:cubicBezTo>
                  <a:pt x="74451" y="137704"/>
                  <a:pt x="68541" y="137704"/>
                  <a:pt x="64926" y="134050"/>
                </a:cubicBezTo>
                <a:cubicBezTo>
                  <a:pt x="61310" y="130395"/>
                  <a:pt x="61271" y="124486"/>
                  <a:pt x="64926" y="120870"/>
                </a:cubicBezTo>
                <a:lnTo>
                  <a:pt x="86308" y="99488"/>
                </a:lnTo>
                <a:lnTo>
                  <a:pt x="64926" y="78105"/>
                </a:lnTo>
                <a:cubicBezTo>
                  <a:pt x="61271" y="74451"/>
                  <a:pt x="61271" y="68541"/>
                  <a:pt x="64926" y="6492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504268" y="4631199"/>
            <a:ext cx="346684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Аз жалған оң нәтиже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4268" y="4962954"/>
            <a:ext cx="3450253" cy="215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Дәстүрлі әдістерге қарағанда </a:t>
            </a:r>
            <a:r>
              <a:rPr lang="en-US" sz="1045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22%</a:t>
            </a: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аз қате.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268" y="5311297"/>
            <a:ext cx="3383902" cy="497633"/>
          </a:xfrm>
          <a:custGeom>
            <a:avLst/>
            <a:gdLst/>
            <a:ahLst/>
            <a:cxnLst/>
            <a:rect l="l" t="t" r="r" b="b"/>
            <a:pathLst>
              <a:path w="3383902" h="497633">
                <a:moveTo>
                  <a:pt x="66349" y="0"/>
                </a:moveTo>
                <a:lnTo>
                  <a:pt x="3317553" y="0"/>
                </a:lnTo>
                <a:cubicBezTo>
                  <a:pt x="3354196" y="0"/>
                  <a:pt x="3383902" y="29706"/>
                  <a:pt x="3383902" y="66349"/>
                </a:cubicBezTo>
                <a:lnTo>
                  <a:pt x="3383902" y="431283"/>
                </a:lnTo>
                <a:cubicBezTo>
                  <a:pt x="3383902" y="467927"/>
                  <a:pt x="3354196" y="497633"/>
                  <a:pt x="3317553" y="497633"/>
                </a:cubicBezTo>
                <a:lnTo>
                  <a:pt x="66349" y="497633"/>
                </a:lnTo>
                <a:cubicBezTo>
                  <a:pt x="29706" y="497633"/>
                  <a:pt x="0" y="467927"/>
                  <a:pt x="0" y="431283"/>
                </a:cubicBezTo>
                <a:lnTo>
                  <a:pt x="0" y="66349"/>
                </a:lnTo>
                <a:cubicBezTo>
                  <a:pt x="0" y="29730"/>
                  <a:pt x="29730" y="0"/>
                  <a:pt x="66349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982133" y="5397557"/>
            <a:ext cx="431904" cy="19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6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-22%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8913" y="5609877"/>
            <a:ext cx="3234612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жалған оң нәтиже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33713" y="1396689"/>
            <a:ext cx="3722292" cy="2328921"/>
          </a:xfrm>
          <a:custGeom>
            <a:avLst/>
            <a:gdLst/>
            <a:ahLst/>
            <a:cxnLst/>
            <a:rect l="l" t="t" r="r" b="b"/>
            <a:pathLst>
              <a:path w="3722292" h="2328921">
                <a:moveTo>
                  <a:pt x="99538" y="0"/>
                </a:moveTo>
                <a:lnTo>
                  <a:pt x="3622754" y="0"/>
                </a:lnTo>
                <a:cubicBezTo>
                  <a:pt x="3677728" y="0"/>
                  <a:pt x="3722292" y="44565"/>
                  <a:pt x="3722292" y="99538"/>
                </a:cubicBezTo>
                <a:lnTo>
                  <a:pt x="3722292" y="2229383"/>
                </a:lnTo>
                <a:cubicBezTo>
                  <a:pt x="3722292" y="2284356"/>
                  <a:pt x="3677728" y="2328921"/>
                  <a:pt x="3622754" y="2328921"/>
                </a:cubicBezTo>
                <a:lnTo>
                  <a:pt x="99538" y="2328921"/>
                </a:lnTo>
                <a:cubicBezTo>
                  <a:pt x="44565" y="2328921"/>
                  <a:pt x="0" y="2284356"/>
                  <a:pt x="0" y="2229383"/>
                </a:cubicBezTo>
                <a:lnTo>
                  <a:pt x="0" y="99538"/>
                </a:lnTo>
                <a:cubicBezTo>
                  <a:pt x="0" y="44565"/>
                  <a:pt x="44565" y="0"/>
                  <a:pt x="99538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2908" y="1565882"/>
            <a:ext cx="464457" cy="464457"/>
          </a:xfrm>
          <a:custGeom>
            <a:avLst/>
            <a:gdLst/>
            <a:ahLst/>
            <a:cxnLst/>
            <a:rect l="l" t="t" r="r" b="b"/>
            <a:pathLst>
              <a:path w="464457" h="464457">
                <a:moveTo>
                  <a:pt x="99529" y="0"/>
                </a:moveTo>
                <a:lnTo>
                  <a:pt x="364929" y="0"/>
                </a:lnTo>
                <a:cubicBezTo>
                  <a:pt x="419897" y="0"/>
                  <a:pt x="464457" y="44560"/>
                  <a:pt x="464457" y="99529"/>
                </a:cubicBezTo>
                <a:lnTo>
                  <a:pt x="464457" y="364929"/>
                </a:lnTo>
                <a:cubicBezTo>
                  <a:pt x="464457" y="419897"/>
                  <a:pt x="419897" y="464457"/>
                  <a:pt x="364929" y="464457"/>
                </a:cubicBezTo>
                <a:lnTo>
                  <a:pt x="99529" y="464457"/>
                </a:lnTo>
                <a:cubicBezTo>
                  <a:pt x="44560" y="464457"/>
                  <a:pt x="0" y="419897"/>
                  <a:pt x="0" y="364929"/>
                </a:cubicBezTo>
                <a:lnTo>
                  <a:pt x="0" y="99529"/>
                </a:lnTo>
                <a:cubicBezTo>
                  <a:pt x="0" y="44560"/>
                  <a:pt x="44560" y="0"/>
                  <a:pt x="99529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35611" y="1698585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174171" y="99527"/>
                </a:moveTo>
                <a:cubicBezTo>
                  <a:pt x="174171" y="58329"/>
                  <a:pt x="140724" y="24882"/>
                  <a:pt x="99527" y="24882"/>
                </a:cubicBezTo>
                <a:cubicBezTo>
                  <a:pt x="58329" y="24882"/>
                  <a:pt x="24882" y="58329"/>
                  <a:pt x="24882" y="99527"/>
                </a:cubicBezTo>
                <a:cubicBezTo>
                  <a:pt x="24882" y="140724"/>
                  <a:pt x="58329" y="174171"/>
                  <a:pt x="99527" y="174171"/>
                </a:cubicBezTo>
                <a:cubicBezTo>
                  <a:pt x="140724" y="174171"/>
                  <a:pt x="174171" y="140724"/>
                  <a:pt x="174171" y="99527"/>
                </a:cubicBezTo>
                <a:close/>
                <a:moveTo>
                  <a:pt x="0" y="99527"/>
                </a:moveTo>
                <a:cubicBezTo>
                  <a:pt x="0" y="44596"/>
                  <a:pt x="44596" y="0"/>
                  <a:pt x="99527" y="0"/>
                </a:cubicBezTo>
                <a:cubicBezTo>
                  <a:pt x="154457" y="0"/>
                  <a:pt x="199053" y="44596"/>
                  <a:pt x="199053" y="99527"/>
                </a:cubicBezTo>
                <a:cubicBezTo>
                  <a:pt x="199053" y="154457"/>
                  <a:pt x="154457" y="199053"/>
                  <a:pt x="99527" y="199053"/>
                </a:cubicBezTo>
                <a:cubicBezTo>
                  <a:pt x="44596" y="199053"/>
                  <a:pt x="0" y="154457"/>
                  <a:pt x="0" y="99527"/>
                </a:cubicBezTo>
                <a:close/>
                <a:moveTo>
                  <a:pt x="99527" y="130629"/>
                </a:moveTo>
                <a:cubicBezTo>
                  <a:pt x="116692" y="130629"/>
                  <a:pt x="130629" y="116692"/>
                  <a:pt x="130629" y="99527"/>
                </a:cubicBezTo>
                <a:cubicBezTo>
                  <a:pt x="130629" y="82361"/>
                  <a:pt x="116692" y="68424"/>
                  <a:pt x="99527" y="68424"/>
                </a:cubicBezTo>
                <a:cubicBezTo>
                  <a:pt x="82361" y="68424"/>
                  <a:pt x="68424" y="82361"/>
                  <a:pt x="68424" y="99527"/>
                </a:cubicBezTo>
                <a:cubicBezTo>
                  <a:pt x="68424" y="116692"/>
                  <a:pt x="82361" y="130629"/>
                  <a:pt x="99527" y="130629"/>
                </a:cubicBezTo>
                <a:close/>
                <a:moveTo>
                  <a:pt x="99527" y="43543"/>
                </a:moveTo>
                <a:cubicBezTo>
                  <a:pt x="130425" y="43543"/>
                  <a:pt x="155510" y="68628"/>
                  <a:pt x="155510" y="99527"/>
                </a:cubicBezTo>
                <a:cubicBezTo>
                  <a:pt x="155510" y="130425"/>
                  <a:pt x="130425" y="155510"/>
                  <a:pt x="99527" y="155510"/>
                </a:cubicBezTo>
                <a:cubicBezTo>
                  <a:pt x="68628" y="155510"/>
                  <a:pt x="43543" y="130425"/>
                  <a:pt x="43543" y="99527"/>
                </a:cubicBezTo>
                <a:cubicBezTo>
                  <a:pt x="43543" y="68628"/>
                  <a:pt x="68628" y="43543"/>
                  <a:pt x="99527" y="43543"/>
                </a:cubicBezTo>
                <a:close/>
                <a:moveTo>
                  <a:pt x="87086" y="99527"/>
                </a:moveTo>
                <a:cubicBezTo>
                  <a:pt x="87086" y="92660"/>
                  <a:pt x="92660" y="87086"/>
                  <a:pt x="99527" y="87086"/>
                </a:cubicBezTo>
                <a:cubicBezTo>
                  <a:pt x="106393" y="87086"/>
                  <a:pt x="111967" y="92660"/>
                  <a:pt x="111967" y="99527"/>
                </a:cubicBezTo>
                <a:cubicBezTo>
                  <a:pt x="111967" y="106393"/>
                  <a:pt x="106393" y="111967"/>
                  <a:pt x="99527" y="111967"/>
                </a:cubicBezTo>
                <a:cubicBezTo>
                  <a:pt x="92660" y="111967"/>
                  <a:pt x="87086" y="106393"/>
                  <a:pt x="87086" y="99527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402908" y="2163042"/>
            <a:ext cx="346684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Жоғары анықтау дәлдігі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02908" y="2494797"/>
            <a:ext cx="3450253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Дәстүрлі әдістерге қарағанда </a:t>
            </a:r>
            <a:r>
              <a:rPr lang="en-US" sz="1045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</a:t>
            </a: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жақсырақ анықтау.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02908" y="3058780"/>
            <a:ext cx="3383902" cy="497633"/>
          </a:xfrm>
          <a:custGeom>
            <a:avLst/>
            <a:gdLst/>
            <a:ahLst/>
            <a:cxnLst/>
            <a:rect l="l" t="t" r="r" b="b"/>
            <a:pathLst>
              <a:path w="3383902" h="497633">
                <a:moveTo>
                  <a:pt x="66349" y="0"/>
                </a:moveTo>
                <a:lnTo>
                  <a:pt x="3317553" y="0"/>
                </a:lnTo>
                <a:cubicBezTo>
                  <a:pt x="3354196" y="0"/>
                  <a:pt x="3383902" y="29706"/>
                  <a:pt x="3383902" y="66349"/>
                </a:cubicBezTo>
                <a:lnTo>
                  <a:pt x="3383902" y="431283"/>
                </a:lnTo>
                <a:cubicBezTo>
                  <a:pt x="3383902" y="467927"/>
                  <a:pt x="3354196" y="497633"/>
                  <a:pt x="3317553" y="497633"/>
                </a:cubicBezTo>
                <a:lnTo>
                  <a:pt x="66349" y="497633"/>
                </a:lnTo>
                <a:cubicBezTo>
                  <a:pt x="29706" y="497633"/>
                  <a:pt x="0" y="467927"/>
                  <a:pt x="0" y="431283"/>
                </a:cubicBezTo>
                <a:lnTo>
                  <a:pt x="0" y="66349"/>
                </a:lnTo>
                <a:cubicBezTo>
                  <a:pt x="0" y="29730"/>
                  <a:pt x="29730" y="0"/>
                  <a:pt x="66349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861906" y="3145040"/>
            <a:ext cx="469744" cy="19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6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+50%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7553" y="3357360"/>
            <a:ext cx="3234612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анықтау дәлдігі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33713" y="3864847"/>
            <a:ext cx="3722292" cy="2113280"/>
          </a:xfrm>
          <a:custGeom>
            <a:avLst/>
            <a:gdLst/>
            <a:ahLst/>
            <a:cxnLst/>
            <a:rect l="l" t="t" r="r" b="b"/>
            <a:pathLst>
              <a:path w="3722292" h="2113280">
                <a:moveTo>
                  <a:pt x="99535" y="0"/>
                </a:moveTo>
                <a:lnTo>
                  <a:pt x="3622757" y="0"/>
                </a:lnTo>
                <a:cubicBezTo>
                  <a:pt x="3677729" y="0"/>
                  <a:pt x="3722292" y="44564"/>
                  <a:pt x="3722292" y="99535"/>
                </a:cubicBezTo>
                <a:lnTo>
                  <a:pt x="3722292" y="2013745"/>
                </a:lnTo>
                <a:cubicBezTo>
                  <a:pt x="3722292" y="2068716"/>
                  <a:pt x="3677729" y="2113280"/>
                  <a:pt x="3622757" y="2113280"/>
                </a:cubicBezTo>
                <a:lnTo>
                  <a:pt x="99535" y="2113280"/>
                </a:lnTo>
                <a:cubicBezTo>
                  <a:pt x="44564" y="2113280"/>
                  <a:pt x="0" y="2068716"/>
                  <a:pt x="0" y="2013745"/>
                </a:cubicBezTo>
                <a:lnTo>
                  <a:pt x="0" y="99535"/>
                </a:lnTo>
                <a:cubicBezTo>
                  <a:pt x="0" y="44564"/>
                  <a:pt x="44564" y="0"/>
                  <a:pt x="99535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20000"/>
                </a:srgbClr>
              </a:gs>
              <a:gs pos="100000">
                <a:srgbClr val="22C55E">
                  <a:alpha val="5000"/>
                </a:srgbClr>
              </a:gs>
            </a:gsLst>
            <a:lin ang="2700000" scaled="1"/>
          </a:gradFill>
          <a:ln w="1016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02908" y="4034040"/>
            <a:ext cx="464457" cy="464457"/>
          </a:xfrm>
          <a:custGeom>
            <a:avLst/>
            <a:gdLst/>
            <a:ahLst/>
            <a:cxnLst/>
            <a:rect l="l" t="t" r="r" b="b"/>
            <a:pathLst>
              <a:path w="464457" h="464457">
                <a:moveTo>
                  <a:pt x="99529" y="0"/>
                </a:moveTo>
                <a:lnTo>
                  <a:pt x="364929" y="0"/>
                </a:lnTo>
                <a:cubicBezTo>
                  <a:pt x="419897" y="0"/>
                  <a:pt x="464457" y="44560"/>
                  <a:pt x="464457" y="99529"/>
                </a:cubicBezTo>
                <a:lnTo>
                  <a:pt x="464457" y="364929"/>
                </a:lnTo>
                <a:cubicBezTo>
                  <a:pt x="464457" y="419897"/>
                  <a:pt x="419897" y="464457"/>
                  <a:pt x="364929" y="464457"/>
                </a:cubicBezTo>
                <a:lnTo>
                  <a:pt x="99529" y="464457"/>
                </a:lnTo>
                <a:cubicBezTo>
                  <a:pt x="44560" y="464457"/>
                  <a:pt x="0" y="419897"/>
                  <a:pt x="0" y="364929"/>
                </a:cubicBezTo>
                <a:lnTo>
                  <a:pt x="0" y="99529"/>
                </a:lnTo>
                <a:cubicBezTo>
                  <a:pt x="0" y="44560"/>
                  <a:pt x="44560" y="0"/>
                  <a:pt x="99529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35611" y="4166742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99527" y="0"/>
                </a:moveTo>
                <a:cubicBezTo>
                  <a:pt x="154457" y="0"/>
                  <a:pt x="199053" y="44596"/>
                  <a:pt x="199053" y="99527"/>
                </a:cubicBezTo>
                <a:cubicBezTo>
                  <a:pt x="199053" y="154457"/>
                  <a:pt x="154457" y="199053"/>
                  <a:pt x="99527" y="199053"/>
                </a:cubicBezTo>
                <a:cubicBezTo>
                  <a:pt x="44596" y="199053"/>
                  <a:pt x="0" y="154457"/>
                  <a:pt x="0" y="99527"/>
                </a:cubicBezTo>
                <a:cubicBezTo>
                  <a:pt x="0" y="44596"/>
                  <a:pt x="44596" y="0"/>
                  <a:pt x="99527" y="0"/>
                </a:cubicBezTo>
                <a:close/>
                <a:moveTo>
                  <a:pt x="90196" y="46653"/>
                </a:moveTo>
                <a:lnTo>
                  <a:pt x="90196" y="99527"/>
                </a:lnTo>
                <a:cubicBezTo>
                  <a:pt x="90196" y="102637"/>
                  <a:pt x="91751" y="105553"/>
                  <a:pt x="94356" y="107302"/>
                </a:cubicBezTo>
                <a:lnTo>
                  <a:pt x="131678" y="132184"/>
                </a:lnTo>
                <a:cubicBezTo>
                  <a:pt x="135955" y="135061"/>
                  <a:pt x="141748" y="133894"/>
                  <a:pt x="144624" y="129579"/>
                </a:cubicBezTo>
                <a:cubicBezTo>
                  <a:pt x="147501" y="125263"/>
                  <a:pt x="146335" y="119510"/>
                  <a:pt x="142020" y="116633"/>
                </a:cubicBezTo>
                <a:lnTo>
                  <a:pt x="108857" y="94550"/>
                </a:lnTo>
                <a:lnTo>
                  <a:pt x="108857" y="46653"/>
                </a:lnTo>
                <a:cubicBezTo>
                  <a:pt x="108857" y="41482"/>
                  <a:pt x="104697" y="37322"/>
                  <a:pt x="99527" y="37322"/>
                </a:cubicBezTo>
                <a:cubicBezTo>
                  <a:pt x="94356" y="37322"/>
                  <a:pt x="90196" y="41482"/>
                  <a:pt x="90196" y="4665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4402908" y="4631199"/>
            <a:ext cx="346684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Нақты уақытты мониторинг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02908" y="4962954"/>
            <a:ext cx="3450253" cy="215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Тәулігіне </a:t>
            </a:r>
            <a:r>
              <a:rPr lang="en-US" sz="1045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</a:t>
            </a: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үздіксіз бақылау.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02908" y="5311297"/>
            <a:ext cx="3383902" cy="497633"/>
          </a:xfrm>
          <a:custGeom>
            <a:avLst/>
            <a:gdLst/>
            <a:ahLst/>
            <a:cxnLst/>
            <a:rect l="l" t="t" r="r" b="b"/>
            <a:pathLst>
              <a:path w="3383902" h="497633">
                <a:moveTo>
                  <a:pt x="66349" y="0"/>
                </a:moveTo>
                <a:lnTo>
                  <a:pt x="3317553" y="0"/>
                </a:lnTo>
                <a:cubicBezTo>
                  <a:pt x="3354196" y="0"/>
                  <a:pt x="3383902" y="29706"/>
                  <a:pt x="3383902" y="66349"/>
                </a:cubicBezTo>
                <a:lnTo>
                  <a:pt x="3383902" y="431283"/>
                </a:lnTo>
                <a:cubicBezTo>
                  <a:pt x="3383902" y="467927"/>
                  <a:pt x="3354196" y="497633"/>
                  <a:pt x="3317553" y="497633"/>
                </a:cubicBezTo>
                <a:lnTo>
                  <a:pt x="66349" y="497633"/>
                </a:lnTo>
                <a:cubicBezTo>
                  <a:pt x="29706" y="497633"/>
                  <a:pt x="0" y="467927"/>
                  <a:pt x="0" y="431283"/>
                </a:cubicBezTo>
                <a:lnTo>
                  <a:pt x="0" y="66349"/>
                </a:lnTo>
                <a:cubicBezTo>
                  <a:pt x="0" y="29730"/>
                  <a:pt x="29730" y="0"/>
                  <a:pt x="66349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905863" y="5397557"/>
            <a:ext cx="381829" cy="19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6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77553" y="5609877"/>
            <a:ext cx="3234612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мониторинг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32458" y="1396689"/>
            <a:ext cx="3722292" cy="2113280"/>
          </a:xfrm>
          <a:custGeom>
            <a:avLst/>
            <a:gdLst/>
            <a:ahLst/>
            <a:cxnLst/>
            <a:rect l="l" t="t" r="r" b="b"/>
            <a:pathLst>
              <a:path w="3722292" h="2113280">
                <a:moveTo>
                  <a:pt x="99535" y="0"/>
                </a:moveTo>
                <a:lnTo>
                  <a:pt x="3622757" y="0"/>
                </a:lnTo>
                <a:cubicBezTo>
                  <a:pt x="3677729" y="0"/>
                  <a:pt x="3722292" y="44564"/>
                  <a:pt x="3722292" y="99535"/>
                </a:cubicBezTo>
                <a:lnTo>
                  <a:pt x="3722292" y="2013745"/>
                </a:lnTo>
                <a:cubicBezTo>
                  <a:pt x="3722292" y="2068716"/>
                  <a:pt x="3677729" y="2113280"/>
                  <a:pt x="3622757" y="2113280"/>
                </a:cubicBezTo>
                <a:lnTo>
                  <a:pt x="99535" y="2113280"/>
                </a:lnTo>
                <a:cubicBezTo>
                  <a:pt x="44564" y="2113280"/>
                  <a:pt x="0" y="2068716"/>
                  <a:pt x="0" y="2013745"/>
                </a:cubicBezTo>
                <a:lnTo>
                  <a:pt x="0" y="99535"/>
                </a:lnTo>
                <a:cubicBezTo>
                  <a:pt x="0" y="44564"/>
                  <a:pt x="44564" y="0"/>
                  <a:pt x="99535" y="0"/>
                </a:cubicBezTo>
                <a:close/>
              </a:path>
            </a:pathLst>
          </a:custGeom>
          <a:gradFill flip="none" rotWithShape="1">
            <a:gsLst>
              <a:gs pos="0">
                <a:srgbClr val="EAB308">
                  <a:alpha val="20000"/>
                </a:srgbClr>
              </a:gs>
              <a:gs pos="100000">
                <a:srgbClr val="EAB308">
                  <a:alpha val="5000"/>
                </a:srgbClr>
              </a:gs>
            </a:gsLst>
            <a:lin ang="2700000" scaled="1"/>
          </a:gradFill>
          <a:ln w="1016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01653" y="1565882"/>
            <a:ext cx="464457" cy="464457"/>
          </a:xfrm>
          <a:custGeom>
            <a:avLst/>
            <a:gdLst/>
            <a:ahLst/>
            <a:cxnLst/>
            <a:rect l="l" t="t" r="r" b="b"/>
            <a:pathLst>
              <a:path w="464457" h="464457">
                <a:moveTo>
                  <a:pt x="99529" y="0"/>
                </a:moveTo>
                <a:lnTo>
                  <a:pt x="364929" y="0"/>
                </a:lnTo>
                <a:cubicBezTo>
                  <a:pt x="419897" y="0"/>
                  <a:pt x="464457" y="44560"/>
                  <a:pt x="464457" y="99529"/>
                </a:cubicBezTo>
                <a:lnTo>
                  <a:pt x="464457" y="364929"/>
                </a:lnTo>
                <a:cubicBezTo>
                  <a:pt x="464457" y="419897"/>
                  <a:pt x="419897" y="464457"/>
                  <a:pt x="364929" y="464457"/>
                </a:cubicBezTo>
                <a:lnTo>
                  <a:pt x="99529" y="464457"/>
                </a:lnTo>
                <a:cubicBezTo>
                  <a:pt x="44560" y="464457"/>
                  <a:pt x="0" y="419897"/>
                  <a:pt x="0" y="364929"/>
                </a:cubicBezTo>
                <a:lnTo>
                  <a:pt x="0" y="99529"/>
                </a:lnTo>
                <a:cubicBezTo>
                  <a:pt x="0" y="44560"/>
                  <a:pt x="44560" y="0"/>
                  <a:pt x="99529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34355" y="1698585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90390" y="2022"/>
                </a:moveTo>
                <a:cubicBezTo>
                  <a:pt x="96183" y="-661"/>
                  <a:pt x="102870" y="-661"/>
                  <a:pt x="108663" y="2022"/>
                </a:cubicBezTo>
                <a:lnTo>
                  <a:pt x="193649" y="41288"/>
                </a:lnTo>
                <a:cubicBezTo>
                  <a:pt x="196954" y="42804"/>
                  <a:pt x="199053" y="46109"/>
                  <a:pt x="199053" y="49763"/>
                </a:cubicBezTo>
                <a:cubicBezTo>
                  <a:pt x="199053" y="53418"/>
                  <a:pt x="196954" y="56722"/>
                  <a:pt x="193649" y="58239"/>
                </a:cubicBezTo>
                <a:lnTo>
                  <a:pt x="108663" y="97505"/>
                </a:lnTo>
                <a:cubicBezTo>
                  <a:pt x="102870" y="100187"/>
                  <a:pt x="96183" y="100187"/>
                  <a:pt x="90390" y="97505"/>
                </a:cubicBezTo>
                <a:lnTo>
                  <a:pt x="5404" y="58239"/>
                </a:lnTo>
                <a:cubicBezTo>
                  <a:pt x="2099" y="56683"/>
                  <a:pt x="0" y="53379"/>
                  <a:pt x="0" y="49763"/>
                </a:cubicBezTo>
                <a:cubicBezTo>
                  <a:pt x="0" y="46148"/>
                  <a:pt x="2099" y="42804"/>
                  <a:pt x="5404" y="41288"/>
                </a:cubicBezTo>
                <a:lnTo>
                  <a:pt x="90390" y="2022"/>
                </a:lnTo>
                <a:close/>
                <a:moveTo>
                  <a:pt x="18700" y="84909"/>
                </a:moveTo>
                <a:lnTo>
                  <a:pt x="82576" y="114417"/>
                </a:lnTo>
                <a:cubicBezTo>
                  <a:pt x="93345" y="119393"/>
                  <a:pt x="105747" y="119393"/>
                  <a:pt x="116516" y="114417"/>
                </a:cubicBezTo>
                <a:lnTo>
                  <a:pt x="180392" y="84909"/>
                </a:lnTo>
                <a:lnTo>
                  <a:pt x="193649" y="91051"/>
                </a:lnTo>
                <a:cubicBezTo>
                  <a:pt x="196954" y="92567"/>
                  <a:pt x="199053" y="95872"/>
                  <a:pt x="199053" y="99527"/>
                </a:cubicBezTo>
                <a:cubicBezTo>
                  <a:pt x="199053" y="103181"/>
                  <a:pt x="196954" y="106486"/>
                  <a:pt x="193649" y="108002"/>
                </a:cubicBezTo>
                <a:lnTo>
                  <a:pt x="108663" y="147268"/>
                </a:lnTo>
                <a:cubicBezTo>
                  <a:pt x="102870" y="149951"/>
                  <a:pt x="96183" y="149951"/>
                  <a:pt x="90390" y="147268"/>
                </a:cubicBezTo>
                <a:lnTo>
                  <a:pt x="5404" y="108002"/>
                </a:lnTo>
                <a:cubicBezTo>
                  <a:pt x="2099" y="106447"/>
                  <a:pt x="0" y="103142"/>
                  <a:pt x="0" y="99527"/>
                </a:cubicBezTo>
                <a:cubicBezTo>
                  <a:pt x="0" y="95911"/>
                  <a:pt x="2099" y="92567"/>
                  <a:pt x="5404" y="91051"/>
                </a:cubicBezTo>
                <a:lnTo>
                  <a:pt x="18661" y="84909"/>
                </a:lnTo>
                <a:close/>
                <a:moveTo>
                  <a:pt x="5404" y="140814"/>
                </a:moveTo>
                <a:lnTo>
                  <a:pt x="18661" y="134672"/>
                </a:lnTo>
                <a:lnTo>
                  <a:pt x="82537" y="164180"/>
                </a:lnTo>
                <a:cubicBezTo>
                  <a:pt x="93306" y="169156"/>
                  <a:pt x="105708" y="169156"/>
                  <a:pt x="116477" y="164180"/>
                </a:cubicBezTo>
                <a:lnTo>
                  <a:pt x="180353" y="134672"/>
                </a:lnTo>
                <a:lnTo>
                  <a:pt x="193610" y="140814"/>
                </a:lnTo>
                <a:cubicBezTo>
                  <a:pt x="196915" y="142331"/>
                  <a:pt x="199014" y="145635"/>
                  <a:pt x="199014" y="149290"/>
                </a:cubicBezTo>
                <a:cubicBezTo>
                  <a:pt x="199014" y="152944"/>
                  <a:pt x="196915" y="156249"/>
                  <a:pt x="193610" y="157765"/>
                </a:cubicBezTo>
                <a:lnTo>
                  <a:pt x="108624" y="197031"/>
                </a:lnTo>
                <a:cubicBezTo>
                  <a:pt x="102831" y="199714"/>
                  <a:pt x="96144" y="199714"/>
                  <a:pt x="90351" y="197031"/>
                </a:cubicBezTo>
                <a:lnTo>
                  <a:pt x="5404" y="157765"/>
                </a:lnTo>
                <a:cubicBezTo>
                  <a:pt x="2099" y="156210"/>
                  <a:pt x="0" y="152905"/>
                  <a:pt x="0" y="149290"/>
                </a:cubicBezTo>
                <a:cubicBezTo>
                  <a:pt x="0" y="145674"/>
                  <a:pt x="2099" y="142331"/>
                  <a:pt x="5404" y="140814"/>
                </a:cubicBez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40" name="Text 38"/>
          <p:cNvSpPr/>
          <p:nvPr/>
        </p:nvSpPr>
        <p:spPr>
          <a:xfrm>
            <a:off x="8301653" y="2163042"/>
            <a:ext cx="346684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Көп орбиталы қолдау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01653" y="2494797"/>
            <a:ext cx="3450253" cy="215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b="1" dirty="0">
                <a:solidFill>
                  <a:srgbClr val="EAB30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LEO, MEO, GEO</a:t>
            </a: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барлық негізгі орбиталарды қамту.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01653" y="2843140"/>
            <a:ext cx="3383902" cy="497633"/>
          </a:xfrm>
          <a:custGeom>
            <a:avLst/>
            <a:gdLst/>
            <a:ahLst/>
            <a:cxnLst/>
            <a:rect l="l" t="t" r="r" b="b"/>
            <a:pathLst>
              <a:path w="3383902" h="497633">
                <a:moveTo>
                  <a:pt x="66349" y="0"/>
                </a:moveTo>
                <a:lnTo>
                  <a:pt x="3317553" y="0"/>
                </a:lnTo>
                <a:cubicBezTo>
                  <a:pt x="3354196" y="0"/>
                  <a:pt x="3383902" y="29706"/>
                  <a:pt x="3383902" y="66349"/>
                </a:cubicBezTo>
                <a:lnTo>
                  <a:pt x="3383902" y="431283"/>
                </a:lnTo>
                <a:cubicBezTo>
                  <a:pt x="3383902" y="467927"/>
                  <a:pt x="3354196" y="497633"/>
                  <a:pt x="3317553" y="497633"/>
                </a:cubicBezTo>
                <a:lnTo>
                  <a:pt x="66349" y="497633"/>
                </a:lnTo>
                <a:cubicBezTo>
                  <a:pt x="29706" y="497633"/>
                  <a:pt x="0" y="467927"/>
                  <a:pt x="0" y="431283"/>
                </a:cubicBezTo>
                <a:lnTo>
                  <a:pt x="0" y="66349"/>
                </a:lnTo>
                <a:cubicBezTo>
                  <a:pt x="0" y="29730"/>
                  <a:pt x="29730" y="0"/>
                  <a:pt x="66349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914294" y="2929399"/>
            <a:ext cx="162456" cy="19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6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76298" y="3141719"/>
            <a:ext cx="3234612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орбита түрі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32458" y="3649206"/>
            <a:ext cx="3722292" cy="2113280"/>
          </a:xfrm>
          <a:custGeom>
            <a:avLst/>
            <a:gdLst/>
            <a:ahLst/>
            <a:cxnLst/>
            <a:rect l="l" t="t" r="r" b="b"/>
            <a:pathLst>
              <a:path w="3722292" h="2113280">
                <a:moveTo>
                  <a:pt x="99535" y="0"/>
                </a:moveTo>
                <a:lnTo>
                  <a:pt x="3622757" y="0"/>
                </a:lnTo>
                <a:cubicBezTo>
                  <a:pt x="3677729" y="0"/>
                  <a:pt x="3722292" y="44564"/>
                  <a:pt x="3722292" y="99535"/>
                </a:cubicBezTo>
                <a:lnTo>
                  <a:pt x="3722292" y="2013745"/>
                </a:lnTo>
                <a:cubicBezTo>
                  <a:pt x="3722292" y="2068716"/>
                  <a:pt x="3677729" y="2113280"/>
                  <a:pt x="3622757" y="2113280"/>
                </a:cubicBezTo>
                <a:lnTo>
                  <a:pt x="99535" y="2113280"/>
                </a:lnTo>
                <a:cubicBezTo>
                  <a:pt x="44564" y="2113280"/>
                  <a:pt x="0" y="2068716"/>
                  <a:pt x="0" y="2013745"/>
                </a:cubicBezTo>
                <a:lnTo>
                  <a:pt x="0" y="99535"/>
                </a:lnTo>
                <a:cubicBezTo>
                  <a:pt x="0" y="44564"/>
                  <a:pt x="44564" y="0"/>
                  <a:pt x="99535" y="0"/>
                </a:cubicBezTo>
                <a:close/>
              </a:path>
            </a:pathLst>
          </a:custGeom>
          <a:gradFill flip="none" rotWithShape="1">
            <a:gsLst>
              <a:gs pos="0">
                <a:srgbClr val="EC4899">
                  <a:alpha val="20000"/>
                </a:srgbClr>
              </a:gs>
              <a:gs pos="100000">
                <a:srgbClr val="EC4899">
                  <a:alpha val="5000"/>
                </a:srgbClr>
              </a:gs>
            </a:gsLst>
            <a:lin ang="2700000" scaled="1"/>
          </a:gradFill>
          <a:ln w="1016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01653" y="3818399"/>
            <a:ext cx="464457" cy="464457"/>
          </a:xfrm>
          <a:custGeom>
            <a:avLst/>
            <a:gdLst/>
            <a:ahLst/>
            <a:cxnLst/>
            <a:rect l="l" t="t" r="r" b="b"/>
            <a:pathLst>
              <a:path w="464457" h="464457">
                <a:moveTo>
                  <a:pt x="99529" y="0"/>
                </a:moveTo>
                <a:lnTo>
                  <a:pt x="364929" y="0"/>
                </a:lnTo>
                <a:cubicBezTo>
                  <a:pt x="419897" y="0"/>
                  <a:pt x="464457" y="44560"/>
                  <a:pt x="464457" y="99529"/>
                </a:cubicBezTo>
                <a:lnTo>
                  <a:pt x="464457" y="364929"/>
                </a:lnTo>
                <a:cubicBezTo>
                  <a:pt x="464457" y="419897"/>
                  <a:pt x="419897" y="464457"/>
                  <a:pt x="364929" y="464457"/>
                </a:cubicBezTo>
                <a:lnTo>
                  <a:pt x="99529" y="464457"/>
                </a:lnTo>
                <a:cubicBezTo>
                  <a:pt x="44560" y="464457"/>
                  <a:pt x="0" y="419897"/>
                  <a:pt x="0" y="364929"/>
                </a:cubicBezTo>
                <a:lnTo>
                  <a:pt x="0" y="99529"/>
                </a:lnTo>
                <a:cubicBezTo>
                  <a:pt x="0" y="44560"/>
                  <a:pt x="44560" y="0"/>
                  <a:pt x="99529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34355" y="3951101"/>
            <a:ext cx="199053" cy="199053"/>
          </a:xfrm>
          <a:custGeom>
            <a:avLst/>
            <a:gdLst/>
            <a:ahLst/>
            <a:cxnLst/>
            <a:rect l="l" t="t" r="r" b="b"/>
            <a:pathLst>
              <a:path w="199053" h="199053">
                <a:moveTo>
                  <a:pt x="24882" y="12441"/>
                </a:moveTo>
                <a:cubicBezTo>
                  <a:pt x="11158" y="12441"/>
                  <a:pt x="0" y="23599"/>
                  <a:pt x="0" y="37322"/>
                </a:cubicBezTo>
                <a:lnTo>
                  <a:pt x="0" y="136849"/>
                </a:lnTo>
                <a:cubicBezTo>
                  <a:pt x="0" y="150573"/>
                  <a:pt x="11158" y="161731"/>
                  <a:pt x="24882" y="161731"/>
                </a:cubicBezTo>
                <a:lnTo>
                  <a:pt x="80865" y="161731"/>
                </a:lnTo>
                <a:lnTo>
                  <a:pt x="74645" y="180392"/>
                </a:lnTo>
                <a:lnTo>
                  <a:pt x="46653" y="180392"/>
                </a:lnTo>
                <a:cubicBezTo>
                  <a:pt x="41482" y="180392"/>
                  <a:pt x="37322" y="184552"/>
                  <a:pt x="37322" y="189722"/>
                </a:cubicBezTo>
                <a:cubicBezTo>
                  <a:pt x="37322" y="194893"/>
                  <a:pt x="41482" y="199053"/>
                  <a:pt x="46653" y="199053"/>
                </a:cubicBezTo>
                <a:lnTo>
                  <a:pt x="152400" y="199053"/>
                </a:lnTo>
                <a:cubicBezTo>
                  <a:pt x="157571" y="199053"/>
                  <a:pt x="161731" y="194893"/>
                  <a:pt x="161731" y="189722"/>
                </a:cubicBezTo>
                <a:cubicBezTo>
                  <a:pt x="161731" y="184552"/>
                  <a:pt x="157571" y="180392"/>
                  <a:pt x="152400" y="180392"/>
                </a:cubicBezTo>
                <a:lnTo>
                  <a:pt x="124408" y="180392"/>
                </a:lnTo>
                <a:lnTo>
                  <a:pt x="118188" y="161731"/>
                </a:lnTo>
                <a:lnTo>
                  <a:pt x="174171" y="161731"/>
                </a:lnTo>
                <a:cubicBezTo>
                  <a:pt x="187895" y="161731"/>
                  <a:pt x="199053" y="150573"/>
                  <a:pt x="199053" y="136849"/>
                </a:cubicBezTo>
                <a:lnTo>
                  <a:pt x="199053" y="37322"/>
                </a:lnTo>
                <a:cubicBezTo>
                  <a:pt x="199053" y="23599"/>
                  <a:pt x="187895" y="12441"/>
                  <a:pt x="174171" y="12441"/>
                </a:cubicBezTo>
                <a:lnTo>
                  <a:pt x="24882" y="12441"/>
                </a:lnTo>
                <a:close/>
                <a:moveTo>
                  <a:pt x="37322" y="37322"/>
                </a:moveTo>
                <a:lnTo>
                  <a:pt x="161731" y="37322"/>
                </a:lnTo>
                <a:cubicBezTo>
                  <a:pt x="168612" y="37322"/>
                  <a:pt x="174171" y="42882"/>
                  <a:pt x="174171" y="49763"/>
                </a:cubicBezTo>
                <a:lnTo>
                  <a:pt x="174171" y="111967"/>
                </a:lnTo>
                <a:cubicBezTo>
                  <a:pt x="174171" y="118849"/>
                  <a:pt x="168612" y="124408"/>
                  <a:pt x="161731" y="124408"/>
                </a:cubicBezTo>
                <a:lnTo>
                  <a:pt x="37322" y="124408"/>
                </a:lnTo>
                <a:cubicBezTo>
                  <a:pt x="30441" y="124408"/>
                  <a:pt x="24882" y="118849"/>
                  <a:pt x="24882" y="111967"/>
                </a:cubicBezTo>
                <a:lnTo>
                  <a:pt x="24882" y="49763"/>
                </a:lnTo>
                <a:cubicBezTo>
                  <a:pt x="24882" y="42882"/>
                  <a:pt x="30441" y="37322"/>
                  <a:pt x="37322" y="37322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8" name="Text 46"/>
          <p:cNvSpPr/>
          <p:nvPr/>
        </p:nvSpPr>
        <p:spPr>
          <a:xfrm>
            <a:off x="8301653" y="4415558"/>
            <a:ext cx="346684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Интерактивті интерфейс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01653" y="4747313"/>
            <a:ext cx="3450253" cy="215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Операторларға </a:t>
            </a:r>
            <a:r>
              <a:rPr lang="en-US" sz="1045" b="1" dirty="0">
                <a:solidFill>
                  <a:srgbClr val="EC48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ыңғайлы</a:t>
            </a:r>
            <a:r>
              <a:rPr lang="en-US" sz="1045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веб-интерфейс.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01653" y="5095656"/>
            <a:ext cx="3383902" cy="497633"/>
          </a:xfrm>
          <a:custGeom>
            <a:avLst/>
            <a:gdLst/>
            <a:ahLst/>
            <a:cxnLst/>
            <a:rect l="l" t="t" r="r" b="b"/>
            <a:pathLst>
              <a:path w="3383902" h="497633">
                <a:moveTo>
                  <a:pt x="66349" y="0"/>
                </a:moveTo>
                <a:lnTo>
                  <a:pt x="3317553" y="0"/>
                </a:lnTo>
                <a:cubicBezTo>
                  <a:pt x="3354196" y="0"/>
                  <a:pt x="3383902" y="29706"/>
                  <a:pt x="3383902" y="66349"/>
                </a:cubicBezTo>
                <a:lnTo>
                  <a:pt x="3383902" y="431283"/>
                </a:lnTo>
                <a:cubicBezTo>
                  <a:pt x="3383902" y="467927"/>
                  <a:pt x="3354196" y="497633"/>
                  <a:pt x="3317553" y="497633"/>
                </a:cubicBezTo>
                <a:lnTo>
                  <a:pt x="66349" y="497633"/>
                </a:lnTo>
                <a:cubicBezTo>
                  <a:pt x="29706" y="497633"/>
                  <a:pt x="0" y="467927"/>
                  <a:pt x="0" y="431283"/>
                </a:cubicBezTo>
                <a:lnTo>
                  <a:pt x="0" y="66349"/>
                </a:lnTo>
                <a:cubicBezTo>
                  <a:pt x="0" y="29730"/>
                  <a:pt x="29730" y="0"/>
                  <a:pt x="66349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511004" y="5181916"/>
            <a:ext cx="969140" cy="19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6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User-friendly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76298" y="5394236"/>
            <a:ext cx="3234612" cy="13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интерфейс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35073" y="6117355"/>
            <a:ext cx="11526831" cy="736496"/>
          </a:xfrm>
          <a:custGeom>
            <a:avLst/>
            <a:gdLst/>
            <a:ahLst/>
            <a:cxnLst/>
            <a:rect l="l" t="t" r="r" b="b"/>
            <a:pathLst>
              <a:path w="11526831" h="736496">
                <a:moveTo>
                  <a:pt x="99530" y="0"/>
                </a:moveTo>
                <a:lnTo>
                  <a:pt x="11427301" y="0"/>
                </a:lnTo>
                <a:cubicBezTo>
                  <a:pt x="11482270" y="0"/>
                  <a:pt x="11526831" y="44561"/>
                  <a:pt x="11526831" y="99530"/>
                </a:cubicBezTo>
                <a:lnTo>
                  <a:pt x="11526831" y="636966"/>
                </a:lnTo>
                <a:cubicBezTo>
                  <a:pt x="11526831" y="691935"/>
                  <a:pt x="11482270" y="736496"/>
                  <a:pt x="11427301" y="736496"/>
                </a:cubicBezTo>
                <a:lnTo>
                  <a:pt x="99530" y="736496"/>
                </a:lnTo>
                <a:cubicBezTo>
                  <a:pt x="44598" y="736496"/>
                  <a:pt x="0" y="691898"/>
                  <a:pt x="0" y="636966"/>
                </a:cubicBezTo>
                <a:lnTo>
                  <a:pt x="0" y="99530"/>
                </a:lnTo>
                <a:cubicBezTo>
                  <a:pt x="0" y="44598"/>
                  <a:pt x="44598" y="0"/>
                  <a:pt x="99530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50000">
                <a:srgbClr val="6366F1">
                  <a:alpha val="20000"/>
                </a:srgbClr>
              </a:gs>
              <a:gs pos="100000">
                <a:srgbClr val="F97316">
                  <a:alpha val="20000"/>
                </a:srgbClr>
              </a:gs>
            </a:gsLst>
            <a:lin ang="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00431" y="6253381"/>
            <a:ext cx="1036735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9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30-75%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533607" y="6551961"/>
            <a:ext cx="97038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дәлдік жақсарту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738811" y="6286557"/>
            <a:ext cx="8294" cy="398106"/>
          </a:xfrm>
          <a:custGeom>
            <a:avLst/>
            <a:gdLst/>
            <a:ahLst/>
            <a:cxnLst/>
            <a:rect l="l" t="t" r="r" b="b"/>
            <a:pathLst>
              <a:path w="8294" h="398106">
                <a:moveTo>
                  <a:pt x="0" y="0"/>
                </a:moveTo>
                <a:lnTo>
                  <a:pt x="8294" y="0"/>
                </a:lnTo>
                <a:lnTo>
                  <a:pt x="8294" y="398106"/>
                </a:lnTo>
                <a:lnTo>
                  <a:pt x="0" y="398106"/>
                </a:lnTo>
                <a:lnTo>
                  <a:pt x="0" y="0"/>
                </a:ln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950304" y="6253381"/>
            <a:ext cx="1136261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9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-22%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83480" y="6551961"/>
            <a:ext cx="106991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жалған оң нәтиже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90802" y="6286557"/>
            <a:ext cx="8294" cy="398106"/>
          </a:xfrm>
          <a:custGeom>
            <a:avLst/>
            <a:gdLst/>
            <a:ahLst/>
            <a:cxnLst/>
            <a:rect l="l" t="t" r="r" b="b"/>
            <a:pathLst>
              <a:path w="8294" h="398106">
                <a:moveTo>
                  <a:pt x="0" y="0"/>
                </a:moveTo>
                <a:lnTo>
                  <a:pt x="8294" y="0"/>
                </a:lnTo>
                <a:lnTo>
                  <a:pt x="8294" y="398106"/>
                </a:lnTo>
                <a:lnTo>
                  <a:pt x="0" y="398106"/>
                </a:lnTo>
                <a:lnTo>
                  <a:pt x="0" y="0"/>
                </a:ln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502296" y="6253381"/>
            <a:ext cx="986971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9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+50%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35472" y="6551961"/>
            <a:ext cx="920620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анықтау дәлдігі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694645" y="6286557"/>
            <a:ext cx="8294" cy="398106"/>
          </a:xfrm>
          <a:custGeom>
            <a:avLst/>
            <a:gdLst/>
            <a:ahLst/>
            <a:cxnLst/>
            <a:rect l="l" t="t" r="r" b="b"/>
            <a:pathLst>
              <a:path w="8294" h="398106">
                <a:moveTo>
                  <a:pt x="0" y="0"/>
                </a:moveTo>
                <a:lnTo>
                  <a:pt x="8294" y="0"/>
                </a:lnTo>
                <a:lnTo>
                  <a:pt x="8294" y="398106"/>
                </a:lnTo>
                <a:lnTo>
                  <a:pt x="0" y="398106"/>
                </a:lnTo>
                <a:lnTo>
                  <a:pt x="0" y="0"/>
                </a:ln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906139" y="6253381"/>
            <a:ext cx="787918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9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98%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939314" y="6551961"/>
            <a:ext cx="721567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 дәлдігі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872" y="345872"/>
            <a:ext cx="1156078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b="1" kern="0" spc="48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872" y="587983"/>
            <a:ext cx="116558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Даму жоспары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872" y="1003030"/>
            <a:ext cx="1158672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Болашақ жоспарлар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331" y="1456123"/>
            <a:ext cx="5635990" cy="1563343"/>
          </a:xfrm>
          <a:custGeom>
            <a:avLst/>
            <a:gdLst/>
            <a:ahLst/>
            <a:cxnLst/>
            <a:rect l="l" t="t" r="r" b="b"/>
            <a:pathLst>
              <a:path w="5635990" h="1563343">
                <a:moveTo>
                  <a:pt x="103759" y="0"/>
                </a:moveTo>
                <a:lnTo>
                  <a:pt x="5532231" y="0"/>
                </a:lnTo>
                <a:cubicBezTo>
                  <a:pt x="5589535" y="0"/>
                  <a:pt x="5635990" y="46455"/>
                  <a:pt x="5635990" y="103759"/>
                </a:cubicBezTo>
                <a:lnTo>
                  <a:pt x="5635990" y="1459584"/>
                </a:lnTo>
                <a:cubicBezTo>
                  <a:pt x="5635990" y="1516888"/>
                  <a:pt x="5589535" y="1563343"/>
                  <a:pt x="5532231" y="1563343"/>
                </a:cubicBezTo>
                <a:lnTo>
                  <a:pt x="103759" y="1563343"/>
                </a:lnTo>
                <a:cubicBezTo>
                  <a:pt x="46455" y="1563343"/>
                  <a:pt x="0" y="1516888"/>
                  <a:pt x="0" y="1459584"/>
                </a:cubicBezTo>
                <a:lnTo>
                  <a:pt x="0" y="103759"/>
                </a:lnTo>
                <a:cubicBezTo>
                  <a:pt x="0" y="46493"/>
                  <a:pt x="46493" y="0"/>
                  <a:pt x="103759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26" y="1632516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69176" y="0"/>
                </a:moveTo>
                <a:lnTo>
                  <a:pt x="345871" y="0"/>
                </a:lnTo>
                <a:cubicBezTo>
                  <a:pt x="384050" y="0"/>
                  <a:pt x="415047" y="30997"/>
                  <a:pt x="415047" y="69176"/>
                </a:cubicBezTo>
                <a:lnTo>
                  <a:pt x="415047" y="345871"/>
                </a:lnTo>
                <a:cubicBezTo>
                  <a:pt x="415047" y="384050"/>
                  <a:pt x="384050" y="415047"/>
                  <a:pt x="345871" y="415047"/>
                </a:cubicBezTo>
                <a:lnTo>
                  <a:pt x="69176" y="415047"/>
                </a:lnTo>
                <a:cubicBezTo>
                  <a:pt x="30997" y="415047"/>
                  <a:pt x="0" y="384050"/>
                  <a:pt x="0" y="345871"/>
                </a:cubicBezTo>
                <a:lnTo>
                  <a:pt x="0" y="69176"/>
                </a:lnTo>
                <a:cubicBezTo>
                  <a:pt x="0" y="30997"/>
                  <a:pt x="30997" y="0"/>
                  <a:pt x="69176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9203" y="1718984"/>
            <a:ext cx="15564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4534" y="1632516"/>
            <a:ext cx="933855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1-ші кезең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4534" y="1874626"/>
            <a:ext cx="907915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Қазіргі уақыт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020" y="2211852"/>
            <a:ext cx="121055" cy="121055"/>
          </a:xfrm>
          <a:custGeom>
            <a:avLst/>
            <a:gdLst/>
            <a:ahLst/>
            <a:cxnLst/>
            <a:rect l="l" t="t" r="r" b="b"/>
            <a:pathLst>
              <a:path w="121055" h="121055">
                <a:moveTo>
                  <a:pt x="60528" y="121055"/>
                </a:moveTo>
                <a:cubicBezTo>
                  <a:pt x="93934" y="121055"/>
                  <a:pt x="121055" y="93934"/>
                  <a:pt x="121055" y="60528"/>
                </a:cubicBezTo>
                <a:cubicBezTo>
                  <a:pt x="121055" y="27122"/>
                  <a:pt x="93934" y="0"/>
                  <a:pt x="60528" y="0"/>
                </a:cubicBezTo>
                <a:cubicBezTo>
                  <a:pt x="27122" y="0"/>
                  <a:pt x="0" y="27122"/>
                  <a:pt x="0" y="60528"/>
                </a:cubicBezTo>
                <a:cubicBezTo>
                  <a:pt x="0" y="93934"/>
                  <a:pt x="27122" y="121055"/>
                  <a:pt x="60528" y="121055"/>
                </a:cubicBezTo>
                <a:close/>
                <a:moveTo>
                  <a:pt x="80483" y="50290"/>
                </a:moveTo>
                <a:lnTo>
                  <a:pt x="61568" y="80554"/>
                </a:lnTo>
                <a:cubicBezTo>
                  <a:pt x="60575" y="82138"/>
                  <a:pt x="58873" y="83131"/>
                  <a:pt x="57005" y="83226"/>
                </a:cubicBezTo>
                <a:cubicBezTo>
                  <a:pt x="55137" y="83320"/>
                  <a:pt x="53340" y="82469"/>
                  <a:pt x="52229" y="80956"/>
                </a:cubicBezTo>
                <a:lnTo>
                  <a:pt x="40880" y="65824"/>
                </a:lnTo>
                <a:cubicBezTo>
                  <a:pt x="38988" y="63318"/>
                  <a:pt x="39508" y="59771"/>
                  <a:pt x="42015" y="57880"/>
                </a:cubicBezTo>
                <a:cubicBezTo>
                  <a:pt x="44521" y="55988"/>
                  <a:pt x="48067" y="56508"/>
                  <a:pt x="49959" y="59014"/>
                </a:cubicBezTo>
                <a:lnTo>
                  <a:pt x="56343" y="67526"/>
                </a:lnTo>
                <a:lnTo>
                  <a:pt x="70860" y="44284"/>
                </a:lnTo>
                <a:cubicBezTo>
                  <a:pt x="72515" y="41636"/>
                  <a:pt x="76014" y="40809"/>
                  <a:pt x="78686" y="42488"/>
                </a:cubicBezTo>
                <a:cubicBezTo>
                  <a:pt x="81358" y="44166"/>
                  <a:pt x="82162" y="47642"/>
                  <a:pt x="80483" y="5031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746220" y="2185912"/>
            <a:ext cx="1089498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Концептті әзірлеу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3020" y="2453963"/>
            <a:ext cx="121055" cy="121055"/>
          </a:xfrm>
          <a:custGeom>
            <a:avLst/>
            <a:gdLst/>
            <a:ahLst/>
            <a:cxnLst/>
            <a:rect l="l" t="t" r="r" b="b"/>
            <a:pathLst>
              <a:path w="121055" h="121055">
                <a:moveTo>
                  <a:pt x="60528" y="121055"/>
                </a:moveTo>
                <a:cubicBezTo>
                  <a:pt x="93934" y="121055"/>
                  <a:pt x="121055" y="93934"/>
                  <a:pt x="121055" y="60528"/>
                </a:cubicBezTo>
                <a:cubicBezTo>
                  <a:pt x="121055" y="27122"/>
                  <a:pt x="93934" y="0"/>
                  <a:pt x="60528" y="0"/>
                </a:cubicBezTo>
                <a:cubicBezTo>
                  <a:pt x="27122" y="0"/>
                  <a:pt x="0" y="27122"/>
                  <a:pt x="0" y="60528"/>
                </a:cubicBezTo>
                <a:cubicBezTo>
                  <a:pt x="0" y="93934"/>
                  <a:pt x="27122" y="121055"/>
                  <a:pt x="60528" y="121055"/>
                </a:cubicBezTo>
                <a:close/>
                <a:moveTo>
                  <a:pt x="80483" y="50290"/>
                </a:moveTo>
                <a:lnTo>
                  <a:pt x="61568" y="80554"/>
                </a:lnTo>
                <a:cubicBezTo>
                  <a:pt x="60575" y="82138"/>
                  <a:pt x="58873" y="83131"/>
                  <a:pt x="57005" y="83226"/>
                </a:cubicBezTo>
                <a:cubicBezTo>
                  <a:pt x="55137" y="83320"/>
                  <a:pt x="53340" y="82469"/>
                  <a:pt x="52229" y="80956"/>
                </a:cubicBezTo>
                <a:lnTo>
                  <a:pt x="40880" y="65824"/>
                </a:lnTo>
                <a:cubicBezTo>
                  <a:pt x="38988" y="63318"/>
                  <a:pt x="39508" y="59771"/>
                  <a:pt x="42015" y="57880"/>
                </a:cubicBezTo>
                <a:cubicBezTo>
                  <a:pt x="44521" y="55988"/>
                  <a:pt x="48067" y="56508"/>
                  <a:pt x="49959" y="59014"/>
                </a:cubicBezTo>
                <a:lnTo>
                  <a:pt x="56343" y="67526"/>
                </a:lnTo>
                <a:lnTo>
                  <a:pt x="70860" y="44284"/>
                </a:lnTo>
                <a:cubicBezTo>
                  <a:pt x="72515" y="41636"/>
                  <a:pt x="76014" y="40809"/>
                  <a:pt x="78686" y="42488"/>
                </a:cubicBezTo>
                <a:cubicBezTo>
                  <a:pt x="81358" y="44166"/>
                  <a:pt x="82162" y="47642"/>
                  <a:pt x="80483" y="5031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746220" y="2428022"/>
            <a:ext cx="1227847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Базалық модельдер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3020" y="2696073"/>
            <a:ext cx="121055" cy="121055"/>
          </a:xfrm>
          <a:custGeom>
            <a:avLst/>
            <a:gdLst/>
            <a:ahLst/>
            <a:cxnLst/>
            <a:rect l="l" t="t" r="r" b="b"/>
            <a:pathLst>
              <a:path w="121055" h="121055">
                <a:moveTo>
                  <a:pt x="60528" y="121055"/>
                </a:moveTo>
                <a:cubicBezTo>
                  <a:pt x="93934" y="121055"/>
                  <a:pt x="121055" y="93934"/>
                  <a:pt x="121055" y="60528"/>
                </a:cubicBezTo>
                <a:cubicBezTo>
                  <a:pt x="121055" y="27122"/>
                  <a:pt x="93934" y="0"/>
                  <a:pt x="60528" y="0"/>
                </a:cubicBezTo>
                <a:cubicBezTo>
                  <a:pt x="27122" y="0"/>
                  <a:pt x="0" y="27122"/>
                  <a:pt x="0" y="60528"/>
                </a:cubicBezTo>
                <a:cubicBezTo>
                  <a:pt x="0" y="93934"/>
                  <a:pt x="27122" y="121055"/>
                  <a:pt x="60528" y="121055"/>
                </a:cubicBezTo>
                <a:close/>
                <a:moveTo>
                  <a:pt x="80483" y="50290"/>
                </a:moveTo>
                <a:lnTo>
                  <a:pt x="61568" y="80554"/>
                </a:lnTo>
                <a:cubicBezTo>
                  <a:pt x="60575" y="82138"/>
                  <a:pt x="58873" y="83131"/>
                  <a:pt x="57005" y="83226"/>
                </a:cubicBezTo>
                <a:cubicBezTo>
                  <a:pt x="55137" y="83320"/>
                  <a:pt x="53340" y="82469"/>
                  <a:pt x="52229" y="80956"/>
                </a:cubicBezTo>
                <a:lnTo>
                  <a:pt x="40880" y="65824"/>
                </a:lnTo>
                <a:cubicBezTo>
                  <a:pt x="38988" y="63318"/>
                  <a:pt x="39508" y="59771"/>
                  <a:pt x="42015" y="57880"/>
                </a:cubicBezTo>
                <a:cubicBezTo>
                  <a:pt x="44521" y="55988"/>
                  <a:pt x="48067" y="56508"/>
                  <a:pt x="49959" y="59014"/>
                </a:cubicBezTo>
                <a:lnTo>
                  <a:pt x="56343" y="67526"/>
                </a:lnTo>
                <a:lnTo>
                  <a:pt x="70860" y="44284"/>
                </a:lnTo>
                <a:cubicBezTo>
                  <a:pt x="72515" y="41636"/>
                  <a:pt x="76014" y="40809"/>
                  <a:pt x="78686" y="42488"/>
                </a:cubicBezTo>
                <a:cubicBezTo>
                  <a:pt x="81358" y="44166"/>
                  <a:pt x="82162" y="47642"/>
                  <a:pt x="80483" y="5031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746220" y="2670133"/>
            <a:ext cx="881974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Демо нұсқасы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9331" y="3164737"/>
            <a:ext cx="5635990" cy="1563343"/>
          </a:xfrm>
          <a:custGeom>
            <a:avLst/>
            <a:gdLst/>
            <a:ahLst/>
            <a:cxnLst/>
            <a:rect l="l" t="t" r="r" b="b"/>
            <a:pathLst>
              <a:path w="5635990" h="1563343">
                <a:moveTo>
                  <a:pt x="103759" y="0"/>
                </a:moveTo>
                <a:lnTo>
                  <a:pt x="5532231" y="0"/>
                </a:lnTo>
                <a:cubicBezTo>
                  <a:pt x="5589535" y="0"/>
                  <a:pt x="5635990" y="46455"/>
                  <a:pt x="5635990" y="103759"/>
                </a:cubicBezTo>
                <a:lnTo>
                  <a:pt x="5635990" y="1459584"/>
                </a:lnTo>
                <a:cubicBezTo>
                  <a:pt x="5635990" y="1516888"/>
                  <a:pt x="5589535" y="1563343"/>
                  <a:pt x="5532231" y="1563343"/>
                </a:cubicBezTo>
                <a:lnTo>
                  <a:pt x="103759" y="1563343"/>
                </a:lnTo>
                <a:cubicBezTo>
                  <a:pt x="46455" y="1563343"/>
                  <a:pt x="0" y="1516888"/>
                  <a:pt x="0" y="1459584"/>
                </a:cubicBezTo>
                <a:lnTo>
                  <a:pt x="0" y="103759"/>
                </a:lnTo>
                <a:cubicBezTo>
                  <a:pt x="0" y="46493"/>
                  <a:pt x="46493" y="0"/>
                  <a:pt x="103759" y="0"/>
                </a:cubicBezTo>
                <a:close/>
              </a:path>
            </a:pathLst>
          </a:cu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26" y="3341130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69176" y="0"/>
                </a:moveTo>
                <a:lnTo>
                  <a:pt x="345871" y="0"/>
                </a:lnTo>
                <a:cubicBezTo>
                  <a:pt x="384050" y="0"/>
                  <a:pt x="415047" y="30997"/>
                  <a:pt x="415047" y="69176"/>
                </a:cubicBezTo>
                <a:lnTo>
                  <a:pt x="415047" y="345871"/>
                </a:lnTo>
                <a:cubicBezTo>
                  <a:pt x="415047" y="384050"/>
                  <a:pt x="384050" y="415047"/>
                  <a:pt x="345871" y="415047"/>
                </a:cubicBezTo>
                <a:lnTo>
                  <a:pt x="69176" y="415047"/>
                </a:lnTo>
                <a:cubicBezTo>
                  <a:pt x="30997" y="415047"/>
                  <a:pt x="0" y="384050"/>
                  <a:pt x="0" y="345871"/>
                </a:cubicBezTo>
                <a:lnTo>
                  <a:pt x="0" y="69176"/>
                </a:lnTo>
                <a:cubicBezTo>
                  <a:pt x="0" y="30997"/>
                  <a:pt x="30997" y="0"/>
                  <a:pt x="6917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4611" y="3427598"/>
            <a:ext cx="18158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44534" y="3341130"/>
            <a:ext cx="96844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2-ші кезең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4534" y="3583241"/>
            <a:ext cx="942502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 ай ішінде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8696" y="3929113"/>
            <a:ext cx="103762" cy="103762"/>
          </a:xfrm>
          <a:custGeom>
            <a:avLst/>
            <a:gdLst/>
            <a:ahLst/>
            <a:cxnLst/>
            <a:rect l="l" t="t" r="r" b="b"/>
            <a:pathLst>
              <a:path w="103762" h="103762">
                <a:moveTo>
                  <a:pt x="0" y="51881"/>
                </a:moveTo>
                <a:cubicBezTo>
                  <a:pt x="0" y="23247"/>
                  <a:pt x="23247" y="0"/>
                  <a:pt x="51881" y="0"/>
                </a:cubicBezTo>
                <a:cubicBezTo>
                  <a:pt x="80515" y="0"/>
                  <a:pt x="103762" y="23247"/>
                  <a:pt x="103762" y="51881"/>
                </a:cubicBezTo>
                <a:cubicBezTo>
                  <a:pt x="103762" y="80515"/>
                  <a:pt x="80515" y="103762"/>
                  <a:pt x="51881" y="103762"/>
                </a:cubicBezTo>
                <a:cubicBezTo>
                  <a:pt x="23247" y="103762"/>
                  <a:pt x="0" y="80515"/>
                  <a:pt x="0" y="518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724603" y="3894526"/>
            <a:ext cx="1642894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Нақты деректермен жұмыс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8696" y="4171224"/>
            <a:ext cx="103762" cy="103762"/>
          </a:xfrm>
          <a:custGeom>
            <a:avLst/>
            <a:gdLst/>
            <a:ahLst/>
            <a:cxnLst/>
            <a:rect l="l" t="t" r="r" b="b"/>
            <a:pathLst>
              <a:path w="103762" h="103762">
                <a:moveTo>
                  <a:pt x="0" y="51881"/>
                </a:moveTo>
                <a:cubicBezTo>
                  <a:pt x="0" y="23247"/>
                  <a:pt x="23247" y="0"/>
                  <a:pt x="51881" y="0"/>
                </a:cubicBezTo>
                <a:cubicBezTo>
                  <a:pt x="80515" y="0"/>
                  <a:pt x="103762" y="23247"/>
                  <a:pt x="103762" y="51881"/>
                </a:cubicBezTo>
                <a:cubicBezTo>
                  <a:pt x="103762" y="80515"/>
                  <a:pt x="80515" y="103762"/>
                  <a:pt x="51881" y="103762"/>
                </a:cubicBezTo>
                <a:cubicBezTo>
                  <a:pt x="23247" y="103762"/>
                  <a:pt x="0" y="80515"/>
                  <a:pt x="0" y="518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724603" y="4136637"/>
            <a:ext cx="140078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Модельдерді жақсарту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8696" y="4413334"/>
            <a:ext cx="103762" cy="103762"/>
          </a:xfrm>
          <a:custGeom>
            <a:avLst/>
            <a:gdLst/>
            <a:ahLst/>
            <a:cxnLst/>
            <a:rect l="l" t="t" r="r" b="b"/>
            <a:pathLst>
              <a:path w="103762" h="103762">
                <a:moveTo>
                  <a:pt x="0" y="51881"/>
                </a:moveTo>
                <a:cubicBezTo>
                  <a:pt x="0" y="23247"/>
                  <a:pt x="23247" y="0"/>
                  <a:pt x="51881" y="0"/>
                </a:cubicBezTo>
                <a:cubicBezTo>
                  <a:pt x="80515" y="0"/>
                  <a:pt x="103762" y="23247"/>
                  <a:pt x="103762" y="51881"/>
                </a:cubicBezTo>
                <a:cubicBezTo>
                  <a:pt x="103762" y="80515"/>
                  <a:pt x="80515" y="103762"/>
                  <a:pt x="51881" y="103762"/>
                </a:cubicBezTo>
                <a:cubicBezTo>
                  <a:pt x="23247" y="103762"/>
                  <a:pt x="0" y="80515"/>
                  <a:pt x="0" y="518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724603" y="4378747"/>
            <a:ext cx="709038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әзірлеу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9331" y="4873343"/>
            <a:ext cx="5635990" cy="1563343"/>
          </a:xfrm>
          <a:custGeom>
            <a:avLst/>
            <a:gdLst/>
            <a:ahLst/>
            <a:cxnLst/>
            <a:rect l="l" t="t" r="r" b="b"/>
            <a:pathLst>
              <a:path w="5635990" h="1563343">
                <a:moveTo>
                  <a:pt x="103759" y="0"/>
                </a:moveTo>
                <a:lnTo>
                  <a:pt x="5532231" y="0"/>
                </a:lnTo>
                <a:cubicBezTo>
                  <a:pt x="5589535" y="0"/>
                  <a:pt x="5635990" y="46455"/>
                  <a:pt x="5635990" y="103759"/>
                </a:cubicBezTo>
                <a:lnTo>
                  <a:pt x="5635990" y="1459584"/>
                </a:lnTo>
                <a:cubicBezTo>
                  <a:pt x="5635990" y="1516888"/>
                  <a:pt x="5589535" y="1563343"/>
                  <a:pt x="5532231" y="1563343"/>
                </a:cubicBezTo>
                <a:lnTo>
                  <a:pt x="103759" y="1563343"/>
                </a:lnTo>
                <a:cubicBezTo>
                  <a:pt x="46455" y="1563343"/>
                  <a:pt x="0" y="1516888"/>
                  <a:pt x="0" y="1459584"/>
                </a:cubicBezTo>
                <a:lnTo>
                  <a:pt x="0" y="103759"/>
                </a:lnTo>
                <a:cubicBezTo>
                  <a:pt x="0" y="46493"/>
                  <a:pt x="46493" y="0"/>
                  <a:pt x="103759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26" y="5049736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69176" y="0"/>
                </a:moveTo>
                <a:lnTo>
                  <a:pt x="345871" y="0"/>
                </a:lnTo>
                <a:cubicBezTo>
                  <a:pt x="384050" y="0"/>
                  <a:pt x="415047" y="30997"/>
                  <a:pt x="415047" y="69176"/>
                </a:cubicBezTo>
                <a:lnTo>
                  <a:pt x="415047" y="345871"/>
                </a:lnTo>
                <a:cubicBezTo>
                  <a:pt x="415047" y="384050"/>
                  <a:pt x="384050" y="415047"/>
                  <a:pt x="345871" y="415047"/>
                </a:cubicBezTo>
                <a:lnTo>
                  <a:pt x="69176" y="415047"/>
                </a:lnTo>
                <a:cubicBezTo>
                  <a:pt x="30997" y="415047"/>
                  <a:pt x="0" y="384050"/>
                  <a:pt x="0" y="345871"/>
                </a:cubicBezTo>
                <a:lnTo>
                  <a:pt x="0" y="69176"/>
                </a:lnTo>
                <a:cubicBezTo>
                  <a:pt x="0" y="30997"/>
                  <a:pt x="30997" y="0"/>
                  <a:pt x="69176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2341" y="5136204"/>
            <a:ext cx="19023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4534" y="5049736"/>
            <a:ext cx="96844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3-ші кезең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44534" y="5291847"/>
            <a:ext cx="942502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 ай ішінде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8696" y="5637719"/>
            <a:ext cx="103762" cy="103762"/>
          </a:xfrm>
          <a:custGeom>
            <a:avLst/>
            <a:gdLst/>
            <a:ahLst/>
            <a:cxnLst/>
            <a:rect l="l" t="t" r="r" b="b"/>
            <a:pathLst>
              <a:path w="103762" h="103762">
                <a:moveTo>
                  <a:pt x="0" y="51881"/>
                </a:moveTo>
                <a:cubicBezTo>
                  <a:pt x="0" y="23247"/>
                  <a:pt x="23247" y="0"/>
                  <a:pt x="51881" y="0"/>
                </a:cubicBezTo>
                <a:cubicBezTo>
                  <a:pt x="80515" y="0"/>
                  <a:pt x="103762" y="23247"/>
                  <a:pt x="103762" y="51881"/>
                </a:cubicBezTo>
                <a:cubicBezTo>
                  <a:pt x="103762" y="80515"/>
                  <a:pt x="80515" y="103762"/>
                  <a:pt x="51881" y="103762"/>
                </a:cubicBezTo>
                <a:cubicBezTo>
                  <a:pt x="23247" y="103762"/>
                  <a:pt x="0" y="80515"/>
                  <a:pt x="0" y="5188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724603" y="5603132"/>
            <a:ext cx="951149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Пилоттық жоба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8696" y="5879830"/>
            <a:ext cx="103762" cy="103762"/>
          </a:xfrm>
          <a:custGeom>
            <a:avLst/>
            <a:gdLst/>
            <a:ahLst/>
            <a:cxnLst/>
            <a:rect l="l" t="t" r="r" b="b"/>
            <a:pathLst>
              <a:path w="103762" h="103762">
                <a:moveTo>
                  <a:pt x="0" y="51881"/>
                </a:moveTo>
                <a:cubicBezTo>
                  <a:pt x="0" y="23247"/>
                  <a:pt x="23247" y="0"/>
                  <a:pt x="51881" y="0"/>
                </a:cubicBezTo>
                <a:cubicBezTo>
                  <a:pt x="80515" y="0"/>
                  <a:pt x="103762" y="23247"/>
                  <a:pt x="103762" y="51881"/>
                </a:cubicBezTo>
                <a:cubicBezTo>
                  <a:pt x="103762" y="80515"/>
                  <a:pt x="80515" y="103762"/>
                  <a:pt x="51881" y="103762"/>
                </a:cubicBezTo>
                <a:cubicBezTo>
                  <a:pt x="23247" y="103762"/>
                  <a:pt x="0" y="80515"/>
                  <a:pt x="0" y="5188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724603" y="5845243"/>
            <a:ext cx="1677481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Серіктестермен интеграция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8696" y="6121940"/>
            <a:ext cx="103762" cy="103762"/>
          </a:xfrm>
          <a:custGeom>
            <a:avLst/>
            <a:gdLst/>
            <a:ahLst/>
            <a:cxnLst/>
            <a:rect l="l" t="t" r="r" b="b"/>
            <a:pathLst>
              <a:path w="103762" h="103762">
                <a:moveTo>
                  <a:pt x="0" y="51881"/>
                </a:moveTo>
                <a:cubicBezTo>
                  <a:pt x="0" y="23247"/>
                  <a:pt x="23247" y="0"/>
                  <a:pt x="51881" y="0"/>
                </a:cubicBezTo>
                <a:cubicBezTo>
                  <a:pt x="80515" y="0"/>
                  <a:pt x="103762" y="23247"/>
                  <a:pt x="103762" y="51881"/>
                </a:cubicBezTo>
                <a:cubicBezTo>
                  <a:pt x="103762" y="80515"/>
                  <a:pt x="80515" y="103762"/>
                  <a:pt x="51881" y="103762"/>
                </a:cubicBezTo>
                <a:cubicBezTo>
                  <a:pt x="23247" y="103762"/>
                  <a:pt x="0" y="80515"/>
                  <a:pt x="0" y="5188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724603" y="6087353"/>
            <a:ext cx="118461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Мобильді қосымша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02248" y="1456123"/>
            <a:ext cx="5635990" cy="1563343"/>
          </a:xfrm>
          <a:custGeom>
            <a:avLst/>
            <a:gdLst/>
            <a:ahLst/>
            <a:cxnLst/>
            <a:rect l="l" t="t" r="r" b="b"/>
            <a:pathLst>
              <a:path w="5635990" h="1563343">
                <a:moveTo>
                  <a:pt x="103759" y="0"/>
                </a:moveTo>
                <a:lnTo>
                  <a:pt x="5532231" y="0"/>
                </a:lnTo>
                <a:cubicBezTo>
                  <a:pt x="5589535" y="0"/>
                  <a:pt x="5635990" y="46455"/>
                  <a:pt x="5635990" y="103759"/>
                </a:cubicBezTo>
                <a:lnTo>
                  <a:pt x="5635990" y="1459584"/>
                </a:lnTo>
                <a:cubicBezTo>
                  <a:pt x="5635990" y="1516888"/>
                  <a:pt x="5589535" y="1563343"/>
                  <a:pt x="5532231" y="1563343"/>
                </a:cubicBezTo>
                <a:lnTo>
                  <a:pt x="103759" y="1563343"/>
                </a:lnTo>
                <a:cubicBezTo>
                  <a:pt x="46455" y="1563343"/>
                  <a:pt x="0" y="1516888"/>
                  <a:pt x="0" y="1459584"/>
                </a:cubicBezTo>
                <a:lnTo>
                  <a:pt x="0" y="103759"/>
                </a:lnTo>
                <a:cubicBezTo>
                  <a:pt x="0" y="46493"/>
                  <a:pt x="46493" y="0"/>
                  <a:pt x="103759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20000"/>
                </a:srgbClr>
              </a:gs>
              <a:gs pos="100000">
                <a:srgbClr val="22C55E">
                  <a:alpha val="5000"/>
                </a:srgbClr>
              </a:gs>
            </a:gsLst>
            <a:lin ang="2700000" scaled="1"/>
          </a:gradFill>
          <a:ln w="1016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8643" y="1632516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69176" y="0"/>
                </a:moveTo>
                <a:lnTo>
                  <a:pt x="345871" y="0"/>
                </a:lnTo>
                <a:cubicBezTo>
                  <a:pt x="384050" y="0"/>
                  <a:pt x="415047" y="30997"/>
                  <a:pt x="415047" y="69176"/>
                </a:cubicBezTo>
                <a:lnTo>
                  <a:pt x="415047" y="345871"/>
                </a:lnTo>
                <a:cubicBezTo>
                  <a:pt x="415047" y="384050"/>
                  <a:pt x="384050" y="415047"/>
                  <a:pt x="345871" y="415047"/>
                </a:cubicBezTo>
                <a:lnTo>
                  <a:pt x="69176" y="415047"/>
                </a:lnTo>
                <a:cubicBezTo>
                  <a:pt x="30997" y="415047"/>
                  <a:pt x="0" y="384050"/>
                  <a:pt x="0" y="345871"/>
                </a:cubicBezTo>
                <a:lnTo>
                  <a:pt x="0" y="69176"/>
                </a:lnTo>
                <a:cubicBezTo>
                  <a:pt x="0" y="30997"/>
                  <a:pt x="30997" y="0"/>
                  <a:pt x="69176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35474" y="1718984"/>
            <a:ext cx="19023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97451" y="1632516"/>
            <a:ext cx="96844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4-ші кезең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97451" y="1874626"/>
            <a:ext cx="942502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 ай ішінде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1613" y="2220499"/>
            <a:ext cx="103762" cy="103762"/>
          </a:xfrm>
          <a:custGeom>
            <a:avLst/>
            <a:gdLst/>
            <a:ahLst/>
            <a:cxnLst/>
            <a:rect l="l" t="t" r="r" b="b"/>
            <a:pathLst>
              <a:path w="103762" h="103762">
                <a:moveTo>
                  <a:pt x="0" y="51881"/>
                </a:moveTo>
                <a:cubicBezTo>
                  <a:pt x="0" y="23247"/>
                  <a:pt x="23247" y="0"/>
                  <a:pt x="51881" y="0"/>
                </a:cubicBezTo>
                <a:cubicBezTo>
                  <a:pt x="80515" y="0"/>
                  <a:pt x="103762" y="23247"/>
                  <a:pt x="103762" y="51881"/>
                </a:cubicBezTo>
                <a:cubicBezTo>
                  <a:pt x="103762" y="80515"/>
                  <a:pt x="80515" y="103762"/>
                  <a:pt x="51881" y="103762"/>
                </a:cubicBezTo>
                <a:cubicBezTo>
                  <a:pt x="23247" y="103762"/>
                  <a:pt x="0" y="80515"/>
                  <a:pt x="0" y="5188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6577519" y="2185912"/>
            <a:ext cx="786860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Толық нұсқа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1613" y="2462609"/>
            <a:ext cx="103762" cy="103762"/>
          </a:xfrm>
          <a:custGeom>
            <a:avLst/>
            <a:gdLst/>
            <a:ahLst/>
            <a:cxnLst/>
            <a:rect l="l" t="t" r="r" b="b"/>
            <a:pathLst>
              <a:path w="103762" h="103762">
                <a:moveTo>
                  <a:pt x="0" y="51881"/>
                </a:moveTo>
                <a:cubicBezTo>
                  <a:pt x="0" y="23247"/>
                  <a:pt x="23247" y="0"/>
                  <a:pt x="51881" y="0"/>
                </a:cubicBezTo>
                <a:cubicBezTo>
                  <a:pt x="80515" y="0"/>
                  <a:pt x="103762" y="23247"/>
                  <a:pt x="103762" y="51881"/>
                </a:cubicBezTo>
                <a:cubicBezTo>
                  <a:pt x="103762" y="80515"/>
                  <a:pt x="80515" y="103762"/>
                  <a:pt x="51881" y="103762"/>
                </a:cubicBezTo>
                <a:cubicBezTo>
                  <a:pt x="23247" y="103762"/>
                  <a:pt x="0" y="80515"/>
                  <a:pt x="0" y="5188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6577519" y="2428022"/>
            <a:ext cx="1245140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Халықаралық нарық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91613" y="2704720"/>
            <a:ext cx="103762" cy="103762"/>
          </a:xfrm>
          <a:custGeom>
            <a:avLst/>
            <a:gdLst/>
            <a:ahLst/>
            <a:cxnLst/>
            <a:rect l="l" t="t" r="r" b="b"/>
            <a:pathLst>
              <a:path w="103762" h="103762">
                <a:moveTo>
                  <a:pt x="0" y="51881"/>
                </a:moveTo>
                <a:cubicBezTo>
                  <a:pt x="0" y="23247"/>
                  <a:pt x="23247" y="0"/>
                  <a:pt x="51881" y="0"/>
                </a:cubicBezTo>
                <a:cubicBezTo>
                  <a:pt x="80515" y="0"/>
                  <a:pt x="103762" y="23247"/>
                  <a:pt x="103762" y="51881"/>
                </a:cubicBezTo>
                <a:cubicBezTo>
                  <a:pt x="103762" y="80515"/>
                  <a:pt x="80515" y="103762"/>
                  <a:pt x="51881" y="103762"/>
                </a:cubicBezTo>
                <a:cubicBezTo>
                  <a:pt x="23247" y="103762"/>
                  <a:pt x="0" y="80515"/>
                  <a:pt x="0" y="5188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6577519" y="2670133"/>
            <a:ext cx="440987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Кеңею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02248" y="3164737"/>
            <a:ext cx="5635990" cy="2704722"/>
          </a:xfrm>
          <a:custGeom>
            <a:avLst/>
            <a:gdLst/>
            <a:ahLst/>
            <a:cxnLst/>
            <a:rect l="l" t="t" r="r" b="b"/>
            <a:pathLst>
              <a:path w="5635990" h="2704722">
                <a:moveTo>
                  <a:pt x="103753" y="0"/>
                </a:moveTo>
                <a:lnTo>
                  <a:pt x="5532237" y="0"/>
                </a:lnTo>
                <a:cubicBezTo>
                  <a:pt x="5589538" y="0"/>
                  <a:pt x="5635990" y="46452"/>
                  <a:pt x="5635990" y="103753"/>
                </a:cubicBezTo>
                <a:lnTo>
                  <a:pt x="5635990" y="2600969"/>
                </a:lnTo>
                <a:cubicBezTo>
                  <a:pt x="5635990" y="2658270"/>
                  <a:pt x="5589538" y="2704722"/>
                  <a:pt x="5532237" y="2704722"/>
                </a:cubicBezTo>
                <a:lnTo>
                  <a:pt x="103753" y="2704722"/>
                </a:lnTo>
                <a:cubicBezTo>
                  <a:pt x="46452" y="2704722"/>
                  <a:pt x="0" y="2658270"/>
                  <a:pt x="0" y="2600969"/>
                </a:cubicBezTo>
                <a:lnTo>
                  <a:pt x="0" y="103753"/>
                </a:lnTo>
                <a:cubicBezTo>
                  <a:pt x="0" y="46452"/>
                  <a:pt x="46452" y="0"/>
                  <a:pt x="10375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1068" y="3375717"/>
            <a:ext cx="151319" cy="172936"/>
          </a:xfrm>
          <a:custGeom>
            <a:avLst/>
            <a:gdLst/>
            <a:ahLst/>
            <a:cxnLst/>
            <a:rect l="l" t="t" r="r" b="b"/>
            <a:pathLst>
              <a:path w="151319" h="172936">
                <a:moveTo>
                  <a:pt x="10809" y="0"/>
                </a:moveTo>
                <a:cubicBezTo>
                  <a:pt x="16787" y="0"/>
                  <a:pt x="21617" y="4830"/>
                  <a:pt x="21617" y="10809"/>
                </a:cubicBezTo>
                <a:lnTo>
                  <a:pt x="21617" y="16213"/>
                </a:lnTo>
                <a:lnTo>
                  <a:pt x="44923" y="10403"/>
                </a:lnTo>
                <a:cubicBezTo>
                  <a:pt x="57792" y="7194"/>
                  <a:pt x="71370" y="8681"/>
                  <a:pt x="83259" y="14625"/>
                </a:cubicBezTo>
                <a:cubicBezTo>
                  <a:pt x="98898" y="22461"/>
                  <a:pt x="117306" y="22461"/>
                  <a:pt x="132945" y="14625"/>
                </a:cubicBezTo>
                <a:lnTo>
                  <a:pt x="136187" y="13004"/>
                </a:lnTo>
                <a:cubicBezTo>
                  <a:pt x="143145" y="9491"/>
                  <a:pt x="151319" y="14558"/>
                  <a:pt x="151319" y="22326"/>
                </a:cubicBezTo>
                <a:lnTo>
                  <a:pt x="151319" y="116799"/>
                </a:lnTo>
                <a:cubicBezTo>
                  <a:pt x="151319" y="121292"/>
                  <a:pt x="148516" y="125345"/>
                  <a:pt x="144294" y="126932"/>
                </a:cubicBezTo>
                <a:lnTo>
                  <a:pt x="132573" y="131323"/>
                </a:lnTo>
                <a:cubicBezTo>
                  <a:pt x="116968" y="137167"/>
                  <a:pt x="99607" y="136255"/>
                  <a:pt x="84712" y="128824"/>
                </a:cubicBezTo>
                <a:cubicBezTo>
                  <a:pt x="71910" y="122406"/>
                  <a:pt x="57218" y="120819"/>
                  <a:pt x="43335" y="124298"/>
                </a:cubicBezTo>
                <a:lnTo>
                  <a:pt x="21617" y="129702"/>
                </a:lnTo>
                <a:lnTo>
                  <a:pt x="21617" y="162128"/>
                </a:lnTo>
                <a:cubicBezTo>
                  <a:pt x="21617" y="168106"/>
                  <a:pt x="16787" y="172936"/>
                  <a:pt x="10809" y="172936"/>
                </a:cubicBezTo>
                <a:cubicBezTo>
                  <a:pt x="4830" y="172936"/>
                  <a:pt x="0" y="168106"/>
                  <a:pt x="0" y="162128"/>
                </a:cubicBezTo>
                <a:lnTo>
                  <a:pt x="0" y="10809"/>
                </a:lnTo>
                <a:cubicBezTo>
                  <a:pt x="0" y="4830"/>
                  <a:pt x="4830" y="0"/>
                  <a:pt x="10809" y="0"/>
                </a:cubicBezTo>
                <a:close/>
                <a:moveTo>
                  <a:pt x="21617" y="63196"/>
                </a:moveTo>
                <a:lnTo>
                  <a:pt x="43234" y="58501"/>
                </a:lnTo>
                <a:lnTo>
                  <a:pt x="43234" y="80625"/>
                </a:lnTo>
                <a:lnTo>
                  <a:pt x="21617" y="85320"/>
                </a:lnTo>
                <a:lnTo>
                  <a:pt x="21617" y="107443"/>
                </a:lnTo>
                <a:lnTo>
                  <a:pt x="38100" y="103323"/>
                </a:lnTo>
                <a:cubicBezTo>
                  <a:pt x="39823" y="102884"/>
                  <a:pt x="41511" y="102512"/>
                  <a:pt x="43234" y="102208"/>
                </a:cubicBezTo>
                <a:lnTo>
                  <a:pt x="43234" y="80625"/>
                </a:lnTo>
                <a:lnTo>
                  <a:pt x="56373" y="77788"/>
                </a:lnTo>
                <a:cubicBezTo>
                  <a:pt x="59177" y="77180"/>
                  <a:pt x="62014" y="76943"/>
                  <a:pt x="64851" y="77078"/>
                </a:cubicBezTo>
                <a:lnTo>
                  <a:pt x="64851" y="55461"/>
                </a:lnTo>
                <a:cubicBezTo>
                  <a:pt x="69445" y="55596"/>
                  <a:pt x="74038" y="56339"/>
                  <a:pt x="78497" y="57623"/>
                </a:cubicBezTo>
                <a:lnTo>
                  <a:pt x="86468" y="59953"/>
                </a:lnTo>
                <a:lnTo>
                  <a:pt x="86468" y="82482"/>
                </a:lnTo>
                <a:lnTo>
                  <a:pt x="72383" y="78328"/>
                </a:lnTo>
                <a:cubicBezTo>
                  <a:pt x="69918" y="77619"/>
                  <a:pt x="67384" y="77180"/>
                  <a:pt x="64851" y="77044"/>
                </a:cubicBezTo>
                <a:lnTo>
                  <a:pt x="64851" y="101161"/>
                </a:lnTo>
                <a:cubicBezTo>
                  <a:pt x="72214" y="101803"/>
                  <a:pt x="79476" y="103424"/>
                  <a:pt x="86468" y="106025"/>
                </a:cubicBezTo>
                <a:lnTo>
                  <a:pt x="86468" y="82449"/>
                </a:lnTo>
                <a:lnTo>
                  <a:pt x="94135" y="84712"/>
                </a:lnTo>
                <a:cubicBezTo>
                  <a:pt x="98695" y="86063"/>
                  <a:pt x="103356" y="86873"/>
                  <a:pt x="108085" y="87211"/>
                </a:cubicBezTo>
                <a:lnTo>
                  <a:pt x="108085" y="65527"/>
                </a:lnTo>
                <a:cubicBezTo>
                  <a:pt x="105451" y="65256"/>
                  <a:pt x="102816" y="64750"/>
                  <a:pt x="100249" y="64007"/>
                </a:cubicBezTo>
                <a:lnTo>
                  <a:pt x="86468" y="59953"/>
                </a:lnTo>
                <a:lnTo>
                  <a:pt x="86468" y="39012"/>
                </a:lnTo>
                <a:cubicBezTo>
                  <a:pt x="82077" y="37728"/>
                  <a:pt x="77754" y="36040"/>
                  <a:pt x="73565" y="33945"/>
                </a:cubicBezTo>
                <a:cubicBezTo>
                  <a:pt x="70796" y="32561"/>
                  <a:pt x="67857" y="31581"/>
                  <a:pt x="64851" y="30973"/>
                </a:cubicBezTo>
                <a:lnTo>
                  <a:pt x="64851" y="55427"/>
                </a:lnTo>
                <a:cubicBezTo>
                  <a:pt x="60460" y="55292"/>
                  <a:pt x="56069" y="55698"/>
                  <a:pt x="51780" y="56643"/>
                </a:cubicBezTo>
                <a:lnTo>
                  <a:pt x="43234" y="58501"/>
                </a:lnTo>
                <a:lnTo>
                  <a:pt x="43234" y="33101"/>
                </a:lnTo>
                <a:lnTo>
                  <a:pt x="21617" y="38505"/>
                </a:lnTo>
                <a:lnTo>
                  <a:pt x="21617" y="63196"/>
                </a:lnTo>
                <a:close/>
                <a:moveTo>
                  <a:pt x="108085" y="113388"/>
                </a:moveTo>
                <a:cubicBezTo>
                  <a:pt x="113760" y="113895"/>
                  <a:pt x="119535" y="113152"/>
                  <a:pt x="124973" y="111091"/>
                </a:cubicBezTo>
                <a:lnTo>
                  <a:pt x="129702" y="109335"/>
                </a:lnTo>
                <a:lnTo>
                  <a:pt x="129702" y="85117"/>
                </a:lnTo>
                <a:lnTo>
                  <a:pt x="127034" y="85725"/>
                </a:lnTo>
                <a:cubicBezTo>
                  <a:pt x="120819" y="87177"/>
                  <a:pt x="114435" y="87650"/>
                  <a:pt x="108085" y="87245"/>
                </a:cubicBezTo>
                <a:lnTo>
                  <a:pt x="108085" y="113388"/>
                </a:lnTo>
                <a:close/>
                <a:moveTo>
                  <a:pt x="129702" y="62926"/>
                </a:moveTo>
                <a:lnTo>
                  <a:pt x="129702" y="39012"/>
                </a:lnTo>
                <a:cubicBezTo>
                  <a:pt x="122643" y="41072"/>
                  <a:pt x="115381" y="42086"/>
                  <a:pt x="108085" y="42086"/>
                </a:cubicBezTo>
                <a:lnTo>
                  <a:pt x="108085" y="65527"/>
                </a:lnTo>
                <a:cubicBezTo>
                  <a:pt x="112780" y="65999"/>
                  <a:pt x="117543" y="65695"/>
                  <a:pt x="122170" y="64648"/>
                </a:cubicBezTo>
                <a:lnTo>
                  <a:pt x="129702" y="62892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1" name="Text 49"/>
          <p:cNvSpPr/>
          <p:nvPr/>
        </p:nvSpPr>
        <p:spPr>
          <a:xfrm>
            <a:off x="6594813" y="3341130"/>
            <a:ext cx="5153498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Негізгі мақсаттар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78643" y="3721590"/>
            <a:ext cx="5283200" cy="587983"/>
          </a:xfrm>
          <a:custGeom>
            <a:avLst/>
            <a:gdLst/>
            <a:ahLst/>
            <a:cxnLst/>
            <a:rect l="l" t="t" r="r" b="b"/>
            <a:pathLst>
              <a:path w="5283200" h="587983">
                <a:moveTo>
                  <a:pt x="69176" y="0"/>
                </a:moveTo>
                <a:lnTo>
                  <a:pt x="5214024" y="0"/>
                </a:lnTo>
                <a:cubicBezTo>
                  <a:pt x="5252229" y="0"/>
                  <a:pt x="5283200" y="30971"/>
                  <a:pt x="5283200" y="69176"/>
                </a:cubicBezTo>
                <a:lnTo>
                  <a:pt x="5283200" y="518807"/>
                </a:lnTo>
                <a:cubicBezTo>
                  <a:pt x="5283200" y="556986"/>
                  <a:pt x="5252203" y="587983"/>
                  <a:pt x="5214024" y="587983"/>
                </a:cubicBezTo>
                <a:lnTo>
                  <a:pt x="69176" y="587983"/>
                </a:lnTo>
                <a:cubicBezTo>
                  <a:pt x="30971" y="587983"/>
                  <a:pt x="0" y="557012"/>
                  <a:pt x="0" y="518807"/>
                </a:cubicBezTo>
                <a:lnTo>
                  <a:pt x="0" y="69176"/>
                </a:lnTo>
                <a:cubicBezTo>
                  <a:pt x="0" y="30971"/>
                  <a:pt x="30971" y="0"/>
                  <a:pt x="69176" y="0"/>
                </a:cubicBezTo>
                <a:close/>
              </a:path>
            </a:pathLst>
          </a:custGeom>
          <a:solidFill>
            <a:srgbClr val="38BDF8">
              <a:alpha val="1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504021" y="3929113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48740" y="0"/>
                </a:moveTo>
                <a:lnTo>
                  <a:pt x="124399" y="0"/>
                </a:lnTo>
                <a:cubicBezTo>
                  <a:pt x="133350" y="0"/>
                  <a:pt x="140646" y="7363"/>
                  <a:pt x="140308" y="16280"/>
                </a:cubicBezTo>
                <a:cubicBezTo>
                  <a:pt x="140240" y="18070"/>
                  <a:pt x="140173" y="19861"/>
                  <a:pt x="140072" y="21617"/>
                </a:cubicBezTo>
                <a:lnTo>
                  <a:pt x="156825" y="21617"/>
                </a:lnTo>
                <a:cubicBezTo>
                  <a:pt x="165640" y="21617"/>
                  <a:pt x="173409" y="28913"/>
                  <a:pt x="172734" y="38438"/>
                </a:cubicBezTo>
                <a:cubicBezTo>
                  <a:pt x="170200" y="73464"/>
                  <a:pt x="152299" y="92717"/>
                  <a:pt x="132877" y="102782"/>
                </a:cubicBezTo>
                <a:cubicBezTo>
                  <a:pt x="127540" y="105552"/>
                  <a:pt x="122102" y="107612"/>
                  <a:pt x="116935" y="109132"/>
                </a:cubicBezTo>
                <a:cubicBezTo>
                  <a:pt x="110112" y="118792"/>
                  <a:pt x="103019" y="123893"/>
                  <a:pt x="97378" y="126628"/>
                </a:cubicBezTo>
                <a:lnTo>
                  <a:pt x="97378" y="151319"/>
                </a:lnTo>
                <a:lnTo>
                  <a:pt x="118995" y="151319"/>
                </a:lnTo>
                <a:cubicBezTo>
                  <a:pt x="124973" y="151319"/>
                  <a:pt x="129803" y="156149"/>
                  <a:pt x="129803" y="162128"/>
                </a:cubicBezTo>
                <a:cubicBezTo>
                  <a:pt x="129803" y="168106"/>
                  <a:pt x="124973" y="172936"/>
                  <a:pt x="118995" y="172936"/>
                </a:cubicBezTo>
                <a:lnTo>
                  <a:pt x="54144" y="172936"/>
                </a:lnTo>
                <a:cubicBezTo>
                  <a:pt x="48165" y="172936"/>
                  <a:pt x="43335" y="168106"/>
                  <a:pt x="43335" y="162128"/>
                </a:cubicBezTo>
                <a:cubicBezTo>
                  <a:pt x="43335" y="156149"/>
                  <a:pt x="48165" y="151319"/>
                  <a:pt x="54144" y="151319"/>
                </a:cubicBezTo>
                <a:lnTo>
                  <a:pt x="75761" y="151319"/>
                </a:lnTo>
                <a:lnTo>
                  <a:pt x="75761" y="126628"/>
                </a:lnTo>
                <a:cubicBezTo>
                  <a:pt x="70357" y="124028"/>
                  <a:pt x="63635" y="119198"/>
                  <a:pt x="57082" y="110314"/>
                </a:cubicBezTo>
                <a:cubicBezTo>
                  <a:pt x="50868" y="108693"/>
                  <a:pt x="44112" y="106227"/>
                  <a:pt x="37526" y="102512"/>
                </a:cubicBezTo>
                <a:cubicBezTo>
                  <a:pt x="19253" y="92278"/>
                  <a:pt x="2770" y="72991"/>
                  <a:pt x="405" y="38370"/>
                </a:cubicBezTo>
                <a:cubicBezTo>
                  <a:pt x="-236" y="28879"/>
                  <a:pt x="7498" y="21583"/>
                  <a:pt x="16314" y="21583"/>
                </a:cubicBezTo>
                <a:lnTo>
                  <a:pt x="33067" y="21583"/>
                </a:lnTo>
                <a:cubicBezTo>
                  <a:pt x="32966" y="19827"/>
                  <a:pt x="32898" y="18070"/>
                  <a:pt x="32831" y="16247"/>
                </a:cubicBezTo>
                <a:cubicBezTo>
                  <a:pt x="32493" y="7296"/>
                  <a:pt x="39789" y="-34"/>
                  <a:pt x="48740" y="-34"/>
                </a:cubicBezTo>
                <a:close/>
                <a:moveTo>
                  <a:pt x="34283" y="37830"/>
                </a:moveTo>
                <a:lnTo>
                  <a:pt x="16584" y="37830"/>
                </a:lnTo>
                <a:cubicBezTo>
                  <a:pt x="18678" y="66439"/>
                  <a:pt x="31818" y="80760"/>
                  <a:pt x="45362" y="88360"/>
                </a:cubicBezTo>
                <a:cubicBezTo>
                  <a:pt x="40498" y="75761"/>
                  <a:pt x="36479" y="59312"/>
                  <a:pt x="34283" y="37830"/>
                </a:cubicBezTo>
                <a:close/>
                <a:moveTo>
                  <a:pt x="128351" y="86738"/>
                </a:moveTo>
                <a:cubicBezTo>
                  <a:pt x="142031" y="78699"/>
                  <a:pt x="154393" y="64412"/>
                  <a:pt x="156487" y="37830"/>
                </a:cubicBezTo>
                <a:lnTo>
                  <a:pt x="138822" y="37830"/>
                </a:lnTo>
                <a:cubicBezTo>
                  <a:pt x="136728" y="58400"/>
                  <a:pt x="132945" y="74376"/>
                  <a:pt x="128351" y="86738"/>
                </a:cubicBez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54" name="Text 52"/>
          <p:cNvSpPr/>
          <p:nvPr/>
        </p:nvSpPr>
        <p:spPr>
          <a:xfrm>
            <a:off x="6802336" y="3825351"/>
            <a:ext cx="1124085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100,000+ нысан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02336" y="4032875"/>
            <a:ext cx="1115438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Бақылауға алу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78643" y="4413334"/>
            <a:ext cx="5283200" cy="587983"/>
          </a:xfrm>
          <a:custGeom>
            <a:avLst/>
            <a:gdLst/>
            <a:ahLst/>
            <a:cxnLst/>
            <a:rect l="l" t="t" r="r" b="b"/>
            <a:pathLst>
              <a:path w="5283200" h="587983">
                <a:moveTo>
                  <a:pt x="69176" y="0"/>
                </a:moveTo>
                <a:lnTo>
                  <a:pt x="5214024" y="0"/>
                </a:lnTo>
                <a:cubicBezTo>
                  <a:pt x="5252229" y="0"/>
                  <a:pt x="5283200" y="30971"/>
                  <a:pt x="5283200" y="69176"/>
                </a:cubicBezTo>
                <a:lnTo>
                  <a:pt x="5283200" y="518807"/>
                </a:lnTo>
                <a:cubicBezTo>
                  <a:pt x="5283200" y="556986"/>
                  <a:pt x="5252203" y="587983"/>
                  <a:pt x="5214024" y="587983"/>
                </a:cubicBezTo>
                <a:lnTo>
                  <a:pt x="69176" y="587983"/>
                </a:lnTo>
                <a:cubicBezTo>
                  <a:pt x="30971" y="587983"/>
                  <a:pt x="0" y="557012"/>
                  <a:pt x="0" y="518807"/>
                </a:cubicBezTo>
                <a:lnTo>
                  <a:pt x="0" y="69176"/>
                </a:lnTo>
                <a:cubicBezTo>
                  <a:pt x="0" y="30971"/>
                  <a:pt x="30971" y="0"/>
                  <a:pt x="6917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93213" y="4620858"/>
            <a:ext cx="194553" cy="172936"/>
          </a:xfrm>
          <a:custGeom>
            <a:avLst/>
            <a:gdLst/>
            <a:ahLst/>
            <a:cxnLst/>
            <a:rect l="l" t="t" r="r" b="b"/>
            <a:pathLst>
              <a:path w="194553" h="172936">
                <a:moveTo>
                  <a:pt x="90825" y="28778"/>
                </a:moveTo>
                <a:lnTo>
                  <a:pt x="51442" y="72552"/>
                </a:lnTo>
                <a:cubicBezTo>
                  <a:pt x="49888" y="74275"/>
                  <a:pt x="49956" y="76943"/>
                  <a:pt x="51611" y="78598"/>
                </a:cubicBezTo>
                <a:cubicBezTo>
                  <a:pt x="61912" y="88900"/>
                  <a:pt x="78632" y="88900"/>
                  <a:pt x="88934" y="78598"/>
                </a:cubicBezTo>
                <a:lnTo>
                  <a:pt x="99675" y="67857"/>
                </a:lnTo>
                <a:cubicBezTo>
                  <a:pt x="101093" y="66439"/>
                  <a:pt x="102884" y="65662"/>
                  <a:pt x="104707" y="65527"/>
                </a:cubicBezTo>
                <a:cubicBezTo>
                  <a:pt x="107004" y="65324"/>
                  <a:pt x="109369" y="66101"/>
                  <a:pt x="111125" y="67857"/>
                </a:cubicBezTo>
                <a:lnTo>
                  <a:pt x="170774" y="127000"/>
                </a:lnTo>
                <a:lnTo>
                  <a:pt x="194553" y="108085"/>
                </a:lnTo>
                <a:lnTo>
                  <a:pt x="194553" y="10809"/>
                </a:lnTo>
                <a:lnTo>
                  <a:pt x="156723" y="32426"/>
                </a:lnTo>
                <a:lnTo>
                  <a:pt x="148685" y="27055"/>
                </a:lnTo>
                <a:cubicBezTo>
                  <a:pt x="143348" y="23509"/>
                  <a:pt x="137099" y="21617"/>
                  <a:pt x="130682" y="21617"/>
                </a:cubicBezTo>
                <a:lnTo>
                  <a:pt x="106903" y="21617"/>
                </a:lnTo>
                <a:cubicBezTo>
                  <a:pt x="106531" y="21617"/>
                  <a:pt x="106126" y="21617"/>
                  <a:pt x="105755" y="21651"/>
                </a:cubicBezTo>
                <a:cubicBezTo>
                  <a:pt x="100046" y="21955"/>
                  <a:pt x="94676" y="24522"/>
                  <a:pt x="90825" y="28778"/>
                </a:cubicBezTo>
                <a:close/>
                <a:moveTo>
                  <a:pt x="39384" y="61710"/>
                </a:moveTo>
                <a:lnTo>
                  <a:pt x="75457" y="21617"/>
                </a:lnTo>
                <a:lnTo>
                  <a:pt x="62081" y="21617"/>
                </a:lnTo>
                <a:cubicBezTo>
                  <a:pt x="53468" y="21617"/>
                  <a:pt x="45227" y="25028"/>
                  <a:pt x="39147" y="31108"/>
                </a:cubicBezTo>
                <a:lnTo>
                  <a:pt x="37830" y="32426"/>
                </a:lnTo>
                <a:lnTo>
                  <a:pt x="0" y="10809"/>
                </a:lnTo>
                <a:lnTo>
                  <a:pt x="0" y="108085"/>
                </a:lnTo>
                <a:lnTo>
                  <a:pt x="52827" y="152096"/>
                </a:lnTo>
                <a:cubicBezTo>
                  <a:pt x="60595" y="158581"/>
                  <a:pt x="70390" y="162128"/>
                  <a:pt x="80490" y="162128"/>
                </a:cubicBezTo>
                <a:lnTo>
                  <a:pt x="85793" y="162128"/>
                </a:lnTo>
                <a:lnTo>
                  <a:pt x="83428" y="159763"/>
                </a:lnTo>
                <a:cubicBezTo>
                  <a:pt x="80253" y="156588"/>
                  <a:pt x="80253" y="151454"/>
                  <a:pt x="83428" y="148313"/>
                </a:cubicBezTo>
                <a:cubicBezTo>
                  <a:pt x="86603" y="145172"/>
                  <a:pt x="91737" y="145138"/>
                  <a:pt x="94878" y="148313"/>
                </a:cubicBezTo>
                <a:lnTo>
                  <a:pt x="108727" y="162161"/>
                </a:lnTo>
                <a:lnTo>
                  <a:pt x="111767" y="162161"/>
                </a:lnTo>
                <a:cubicBezTo>
                  <a:pt x="118218" y="162161"/>
                  <a:pt x="124534" y="160709"/>
                  <a:pt x="130276" y="158007"/>
                </a:cubicBezTo>
                <a:lnTo>
                  <a:pt x="121258" y="148955"/>
                </a:lnTo>
                <a:cubicBezTo>
                  <a:pt x="118083" y="145780"/>
                  <a:pt x="118083" y="140646"/>
                  <a:pt x="121258" y="137505"/>
                </a:cubicBezTo>
                <a:cubicBezTo>
                  <a:pt x="124433" y="134363"/>
                  <a:pt x="129567" y="134330"/>
                  <a:pt x="132708" y="137505"/>
                </a:cubicBezTo>
                <a:lnTo>
                  <a:pt x="143517" y="148313"/>
                </a:lnTo>
                <a:lnTo>
                  <a:pt x="149428" y="142402"/>
                </a:lnTo>
                <a:cubicBezTo>
                  <a:pt x="152434" y="139396"/>
                  <a:pt x="153312" y="135039"/>
                  <a:pt x="151995" y="131222"/>
                </a:cubicBezTo>
                <a:lnTo>
                  <a:pt x="105417" y="85016"/>
                </a:lnTo>
                <a:lnTo>
                  <a:pt x="100384" y="90048"/>
                </a:lnTo>
                <a:cubicBezTo>
                  <a:pt x="83732" y="106700"/>
                  <a:pt x="56778" y="106700"/>
                  <a:pt x="40127" y="90048"/>
                </a:cubicBezTo>
                <a:cubicBezTo>
                  <a:pt x="32358" y="82280"/>
                  <a:pt x="32054" y="69816"/>
                  <a:pt x="39384" y="6167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8" name="Text 56"/>
          <p:cNvSpPr/>
          <p:nvPr/>
        </p:nvSpPr>
        <p:spPr>
          <a:xfrm>
            <a:off x="6802336" y="4517096"/>
            <a:ext cx="118461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10+ серіктес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02336" y="4724620"/>
            <a:ext cx="1175966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 агенттіктері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78643" y="5105079"/>
            <a:ext cx="5283200" cy="587983"/>
          </a:xfrm>
          <a:custGeom>
            <a:avLst/>
            <a:gdLst/>
            <a:ahLst/>
            <a:cxnLst/>
            <a:rect l="l" t="t" r="r" b="b"/>
            <a:pathLst>
              <a:path w="5283200" h="587983">
                <a:moveTo>
                  <a:pt x="69176" y="0"/>
                </a:moveTo>
                <a:lnTo>
                  <a:pt x="5214024" y="0"/>
                </a:lnTo>
                <a:cubicBezTo>
                  <a:pt x="5252229" y="0"/>
                  <a:pt x="5283200" y="30971"/>
                  <a:pt x="5283200" y="69176"/>
                </a:cubicBezTo>
                <a:lnTo>
                  <a:pt x="5283200" y="518807"/>
                </a:lnTo>
                <a:cubicBezTo>
                  <a:pt x="5283200" y="556986"/>
                  <a:pt x="5252203" y="587983"/>
                  <a:pt x="5214024" y="587983"/>
                </a:cubicBezTo>
                <a:lnTo>
                  <a:pt x="69176" y="587983"/>
                </a:lnTo>
                <a:cubicBezTo>
                  <a:pt x="30971" y="587983"/>
                  <a:pt x="0" y="557012"/>
                  <a:pt x="0" y="518807"/>
                </a:cubicBezTo>
                <a:lnTo>
                  <a:pt x="0" y="69176"/>
                </a:lnTo>
                <a:cubicBezTo>
                  <a:pt x="0" y="30971"/>
                  <a:pt x="30971" y="0"/>
                  <a:pt x="69176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504021" y="5312603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118860" y="94574"/>
                </a:moveTo>
                <a:lnTo>
                  <a:pt x="54380" y="94574"/>
                </a:lnTo>
                <a:cubicBezTo>
                  <a:pt x="55360" y="116360"/>
                  <a:pt x="60190" y="136424"/>
                  <a:pt x="67047" y="151116"/>
                </a:cubicBezTo>
                <a:cubicBezTo>
                  <a:pt x="70897" y="159392"/>
                  <a:pt x="75052" y="165235"/>
                  <a:pt x="78902" y="168815"/>
                </a:cubicBezTo>
                <a:cubicBezTo>
                  <a:pt x="82685" y="172362"/>
                  <a:pt x="85286" y="172936"/>
                  <a:pt x="86637" y="172936"/>
                </a:cubicBezTo>
                <a:cubicBezTo>
                  <a:pt x="87988" y="172936"/>
                  <a:pt x="90589" y="172362"/>
                  <a:pt x="94372" y="168815"/>
                </a:cubicBezTo>
                <a:cubicBezTo>
                  <a:pt x="98222" y="165235"/>
                  <a:pt x="102377" y="159358"/>
                  <a:pt x="106227" y="151116"/>
                </a:cubicBezTo>
                <a:cubicBezTo>
                  <a:pt x="113084" y="136424"/>
                  <a:pt x="117914" y="116360"/>
                  <a:pt x="118894" y="94574"/>
                </a:cubicBezTo>
                <a:close/>
                <a:moveTo>
                  <a:pt x="54347" y="78362"/>
                </a:moveTo>
                <a:lnTo>
                  <a:pt x="118826" y="78362"/>
                </a:lnTo>
                <a:cubicBezTo>
                  <a:pt x="117880" y="56576"/>
                  <a:pt x="113050" y="36513"/>
                  <a:pt x="106194" y="21820"/>
                </a:cubicBezTo>
                <a:cubicBezTo>
                  <a:pt x="102343" y="13578"/>
                  <a:pt x="98189" y="7701"/>
                  <a:pt x="94338" y="4121"/>
                </a:cubicBezTo>
                <a:cubicBezTo>
                  <a:pt x="90555" y="574"/>
                  <a:pt x="87954" y="0"/>
                  <a:pt x="86603" y="0"/>
                </a:cubicBezTo>
                <a:cubicBezTo>
                  <a:pt x="85252" y="0"/>
                  <a:pt x="82651" y="574"/>
                  <a:pt x="78868" y="4121"/>
                </a:cubicBezTo>
                <a:cubicBezTo>
                  <a:pt x="75018" y="7701"/>
                  <a:pt x="70863" y="13578"/>
                  <a:pt x="67013" y="21820"/>
                </a:cubicBezTo>
                <a:cubicBezTo>
                  <a:pt x="60156" y="36513"/>
                  <a:pt x="55326" y="56576"/>
                  <a:pt x="54347" y="78362"/>
                </a:cubicBezTo>
                <a:close/>
                <a:moveTo>
                  <a:pt x="38134" y="78362"/>
                </a:moveTo>
                <a:cubicBezTo>
                  <a:pt x="39316" y="49449"/>
                  <a:pt x="46781" y="22597"/>
                  <a:pt x="57690" y="4965"/>
                </a:cubicBezTo>
                <a:cubicBezTo>
                  <a:pt x="26582" y="15976"/>
                  <a:pt x="3682" y="44315"/>
                  <a:pt x="507" y="78362"/>
                </a:cubicBezTo>
                <a:lnTo>
                  <a:pt x="38134" y="78362"/>
                </a:lnTo>
                <a:close/>
                <a:moveTo>
                  <a:pt x="507" y="94574"/>
                </a:moveTo>
                <a:cubicBezTo>
                  <a:pt x="3682" y="128621"/>
                  <a:pt x="26582" y="156960"/>
                  <a:pt x="57690" y="167971"/>
                </a:cubicBezTo>
                <a:cubicBezTo>
                  <a:pt x="46781" y="150340"/>
                  <a:pt x="39316" y="123487"/>
                  <a:pt x="38134" y="94574"/>
                </a:cubicBezTo>
                <a:lnTo>
                  <a:pt x="507" y="94574"/>
                </a:lnTo>
                <a:close/>
                <a:moveTo>
                  <a:pt x="135073" y="94574"/>
                </a:moveTo>
                <a:cubicBezTo>
                  <a:pt x="133890" y="123487"/>
                  <a:pt x="126426" y="150340"/>
                  <a:pt x="115516" y="167971"/>
                </a:cubicBezTo>
                <a:cubicBezTo>
                  <a:pt x="146624" y="156926"/>
                  <a:pt x="169525" y="128621"/>
                  <a:pt x="172700" y="94574"/>
                </a:cubicBezTo>
                <a:lnTo>
                  <a:pt x="135073" y="94574"/>
                </a:lnTo>
                <a:close/>
                <a:moveTo>
                  <a:pt x="172700" y="78362"/>
                </a:moveTo>
                <a:cubicBezTo>
                  <a:pt x="169525" y="44315"/>
                  <a:pt x="146624" y="15976"/>
                  <a:pt x="115516" y="4965"/>
                </a:cubicBezTo>
                <a:cubicBezTo>
                  <a:pt x="126426" y="22597"/>
                  <a:pt x="133890" y="49449"/>
                  <a:pt x="135073" y="78362"/>
                </a:cubicBezTo>
                <a:lnTo>
                  <a:pt x="172700" y="78362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2" name="Text 60"/>
          <p:cNvSpPr/>
          <p:nvPr/>
        </p:nvSpPr>
        <p:spPr>
          <a:xfrm>
            <a:off x="6802336" y="5208841"/>
            <a:ext cx="91656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02336" y="5416364"/>
            <a:ext cx="907915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Нарыққа шығу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02248" y="6014722"/>
            <a:ext cx="5635990" cy="837011"/>
          </a:xfrm>
          <a:custGeom>
            <a:avLst/>
            <a:gdLst/>
            <a:ahLst/>
            <a:cxnLst/>
            <a:rect l="l" t="t" r="r" b="b"/>
            <a:pathLst>
              <a:path w="5635990" h="837011">
                <a:moveTo>
                  <a:pt x="103764" y="0"/>
                </a:moveTo>
                <a:lnTo>
                  <a:pt x="5532226" y="0"/>
                </a:lnTo>
                <a:cubicBezTo>
                  <a:pt x="5589533" y="0"/>
                  <a:pt x="5635990" y="46457"/>
                  <a:pt x="5635990" y="103764"/>
                </a:cubicBezTo>
                <a:lnTo>
                  <a:pt x="5635990" y="733247"/>
                </a:lnTo>
                <a:cubicBezTo>
                  <a:pt x="5635990" y="790554"/>
                  <a:pt x="5589533" y="837011"/>
                  <a:pt x="5532226" y="837011"/>
                </a:cubicBezTo>
                <a:lnTo>
                  <a:pt x="103764" y="837011"/>
                </a:lnTo>
                <a:cubicBezTo>
                  <a:pt x="46495" y="837011"/>
                  <a:pt x="0" y="790516"/>
                  <a:pt x="0" y="733247"/>
                </a:cubicBezTo>
                <a:lnTo>
                  <a:pt x="0" y="103764"/>
                </a:lnTo>
                <a:cubicBezTo>
                  <a:pt x="0" y="46495"/>
                  <a:pt x="46495" y="0"/>
                  <a:pt x="103764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13230" y="6303523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64851" y="162128"/>
                </a:moveTo>
                <a:lnTo>
                  <a:pt x="12413" y="162128"/>
                </a:lnTo>
                <a:cubicBezTo>
                  <a:pt x="-203" y="162128"/>
                  <a:pt x="-7954" y="148397"/>
                  <a:pt x="-1469" y="137555"/>
                </a:cubicBezTo>
                <a:lnTo>
                  <a:pt x="25332" y="92869"/>
                </a:lnTo>
                <a:cubicBezTo>
                  <a:pt x="29740" y="85522"/>
                  <a:pt x="37644" y="81064"/>
                  <a:pt x="46206" y="81064"/>
                </a:cubicBezTo>
                <a:lnTo>
                  <a:pt x="94338" y="81064"/>
                </a:lnTo>
                <a:cubicBezTo>
                  <a:pt x="132894" y="15757"/>
                  <a:pt x="190399" y="12464"/>
                  <a:pt x="228853" y="18087"/>
                </a:cubicBezTo>
                <a:cubicBezTo>
                  <a:pt x="235338" y="19050"/>
                  <a:pt x="240405" y="24116"/>
                  <a:pt x="241317" y="30551"/>
                </a:cubicBezTo>
                <a:cubicBezTo>
                  <a:pt x="246941" y="69006"/>
                  <a:pt x="243647" y="126510"/>
                  <a:pt x="178340" y="165066"/>
                </a:cubicBezTo>
                <a:lnTo>
                  <a:pt x="178340" y="213198"/>
                </a:lnTo>
                <a:cubicBezTo>
                  <a:pt x="178340" y="221760"/>
                  <a:pt x="173882" y="229664"/>
                  <a:pt x="166536" y="234072"/>
                </a:cubicBezTo>
                <a:lnTo>
                  <a:pt x="121849" y="260874"/>
                </a:lnTo>
                <a:cubicBezTo>
                  <a:pt x="111057" y="267359"/>
                  <a:pt x="97277" y="259556"/>
                  <a:pt x="97277" y="246991"/>
                </a:cubicBezTo>
                <a:lnTo>
                  <a:pt x="97277" y="194553"/>
                </a:lnTo>
                <a:cubicBezTo>
                  <a:pt x="97277" y="176668"/>
                  <a:pt x="82736" y="162128"/>
                  <a:pt x="64851" y="162128"/>
                </a:cubicBezTo>
                <a:lnTo>
                  <a:pt x="64800" y="162128"/>
                </a:lnTo>
                <a:close/>
                <a:moveTo>
                  <a:pt x="202660" y="81064"/>
                </a:moveTo>
                <a:cubicBezTo>
                  <a:pt x="202660" y="67642"/>
                  <a:pt x="191763" y="56745"/>
                  <a:pt x="178340" y="56745"/>
                </a:cubicBezTo>
                <a:cubicBezTo>
                  <a:pt x="164918" y="56745"/>
                  <a:pt x="154021" y="67642"/>
                  <a:pt x="154021" y="81064"/>
                </a:cubicBezTo>
                <a:cubicBezTo>
                  <a:pt x="154021" y="94486"/>
                  <a:pt x="164918" y="105383"/>
                  <a:pt x="178340" y="105383"/>
                </a:cubicBezTo>
                <a:cubicBezTo>
                  <a:pt x="191763" y="105383"/>
                  <a:pt x="202660" y="94486"/>
                  <a:pt x="202660" y="8106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66" name="Text 64"/>
          <p:cNvSpPr/>
          <p:nvPr/>
        </p:nvSpPr>
        <p:spPr>
          <a:xfrm>
            <a:off x="6841247" y="6191115"/>
            <a:ext cx="1850417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Ғарышты қорғаймыз!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41247" y="6467813"/>
            <a:ext cx="183312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Бірге жұмыс істейік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natgeofe.com/af81d234546f9df1c5c4a0caf6ab579047f18e78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3390" b="1339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20617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20617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69493" y="19167"/>
            <a:ext cx="1255395" cy="388620"/>
          </a:xfrm>
          <a:custGeom>
            <a:avLst/>
            <a:gdLst/>
            <a:ahLst/>
            <a:cxnLst/>
            <a:rect l="l" t="t" r="r" b="b"/>
            <a:pathLst>
              <a:path w="1255395" h="388620">
                <a:moveTo>
                  <a:pt x="194310" y="0"/>
                </a:moveTo>
                <a:lnTo>
                  <a:pt x="1061085" y="0"/>
                </a:lnTo>
                <a:cubicBezTo>
                  <a:pt x="1168399" y="0"/>
                  <a:pt x="1255395" y="86996"/>
                  <a:pt x="1255395" y="194310"/>
                </a:cubicBezTo>
                <a:lnTo>
                  <a:pt x="1255395" y="194310"/>
                </a:lnTo>
                <a:cubicBezTo>
                  <a:pt x="1255395" y="301624"/>
                  <a:pt x="1168399" y="388620"/>
                  <a:pt x="106108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92366" y="129657"/>
            <a:ext cx="100715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ҚОРЫТЫНДЫ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24100" y="640203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SpaceAI Monitor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132600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Ғарыш қоқысы проблемасына </a:t>
            </a:r>
            <a:r>
              <a:rPr lang="en-US" sz="1800" b="1" dirty="0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заманауи ЖИ шешімі</a:t>
            </a:r>
            <a:r>
              <a:rPr lang="en-US" sz="18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Біз ғарышты қауіпсіз және тұрақты етуді мақсат етеміз.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2610" y="2682363"/>
            <a:ext cx="1950720" cy="1550670"/>
          </a:xfrm>
          <a:custGeom>
            <a:avLst/>
            <a:gdLst/>
            <a:ahLst/>
            <a:cxnLst/>
            <a:rect l="l" t="t" r="r" b="b"/>
            <a:pathLst>
              <a:path w="1950720" h="1550670">
                <a:moveTo>
                  <a:pt x="114300" y="0"/>
                </a:moveTo>
                <a:lnTo>
                  <a:pt x="1836420" y="0"/>
                </a:lnTo>
                <a:cubicBezTo>
                  <a:pt x="1899546" y="0"/>
                  <a:pt x="1950720" y="51174"/>
                  <a:pt x="1950720" y="114300"/>
                </a:cubicBezTo>
                <a:lnTo>
                  <a:pt x="1950720" y="1436370"/>
                </a:lnTo>
                <a:cubicBezTo>
                  <a:pt x="1950720" y="1499496"/>
                  <a:pt x="1899546" y="1550670"/>
                  <a:pt x="1836420" y="1550670"/>
                </a:cubicBezTo>
                <a:lnTo>
                  <a:pt x="114300" y="1550670"/>
                </a:lnTo>
                <a:cubicBezTo>
                  <a:pt x="51174" y="1550670"/>
                  <a:pt x="0" y="1499496"/>
                  <a:pt x="0" y="14363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9381" y="287667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11063" y="3907"/>
                </a:moveTo>
                <a:cubicBezTo>
                  <a:pt x="116309" y="-1339"/>
                  <a:pt x="124792" y="-1339"/>
                  <a:pt x="129983" y="3907"/>
                </a:cubicBezTo>
                <a:lnTo>
                  <a:pt x="179877" y="53801"/>
                </a:lnTo>
                <a:lnTo>
                  <a:pt x="210573" y="23106"/>
                </a:lnTo>
                <a:cubicBezTo>
                  <a:pt x="217550" y="16129"/>
                  <a:pt x="228879" y="16129"/>
                  <a:pt x="235855" y="23106"/>
                </a:cubicBezTo>
                <a:lnTo>
                  <a:pt x="262644" y="49895"/>
                </a:lnTo>
                <a:cubicBezTo>
                  <a:pt x="269621" y="56871"/>
                  <a:pt x="269621" y="68200"/>
                  <a:pt x="262644" y="75177"/>
                </a:cubicBezTo>
                <a:lnTo>
                  <a:pt x="231949" y="105873"/>
                </a:lnTo>
                <a:lnTo>
                  <a:pt x="281843" y="155767"/>
                </a:lnTo>
                <a:cubicBezTo>
                  <a:pt x="287089" y="161013"/>
                  <a:pt x="287089" y="169497"/>
                  <a:pt x="281843" y="174687"/>
                </a:cubicBezTo>
                <a:lnTo>
                  <a:pt x="228265" y="228265"/>
                </a:lnTo>
                <a:cubicBezTo>
                  <a:pt x="223019" y="233511"/>
                  <a:pt x="214536" y="233511"/>
                  <a:pt x="209345" y="228265"/>
                </a:cubicBezTo>
                <a:lnTo>
                  <a:pt x="159451" y="178371"/>
                </a:lnTo>
                <a:lnTo>
                  <a:pt x="150800" y="187021"/>
                </a:lnTo>
                <a:cubicBezTo>
                  <a:pt x="157163" y="200751"/>
                  <a:pt x="160734" y="216043"/>
                  <a:pt x="160734" y="232172"/>
                </a:cubicBezTo>
                <a:cubicBezTo>
                  <a:pt x="160734" y="249864"/>
                  <a:pt x="156437" y="266495"/>
                  <a:pt x="148903" y="281174"/>
                </a:cubicBezTo>
                <a:cubicBezTo>
                  <a:pt x="146279" y="286196"/>
                  <a:pt x="139582" y="286922"/>
                  <a:pt x="135620" y="282904"/>
                </a:cubicBezTo>
                <a:lnTo>
                  <a:pt x="81874" y="229158"/>
                </a:lnTo>
                <a:lnTo>
                  <a:pt x="48388" y="262644"/>
                </a:lnTo>
                <a:cubicBezTo>
                  <a:pt x="41411" y="269621"/>
                  <a:pt x="30082" y="269621"/>
                  <a:pt x="23106" y="262644"/>
                </a:cubicBezTo>
                <a:cubicBezTo>
                  <a:pt x="16129" y="255668"/>
                  <a:pt x="16129" y="244339"/>
                  <a:pt x="23106" y="237362"/>
                </a:cubicBezTo>
                <a:lnTo>
                  <a:pt x="56592" y="203876"/>
                </a:lnTo>
                <a:lnTo>
                  <a:pt x="2846" y="150130"/>
                </a:lnTo>
                <a:cubicBezTo>
                  <a:pt x="-1172" y="146112"/>
                  <a:pt x="-446" y="139415"/>
                  <a:pt x="4576" y="136847"/>
                </a:cubicBezTo>
                <a:cubicBezTo>
                  <a:pt x="19255" y="129257"/>
                  <a:pt x="35942" y="125016"/>
                  <a:pt x="53578" y="125016"/>
                </a:cubicBezTo>
                <a:cubicBezTo>
                  <a:pt x="69707" y="125016"/>
                  <a:pt x="84999" y="128588"/>
                  <a:pt x="98729" y="134950"/>
                </a:cubicBezTo>
                <a:lnTo>
                  <a:pt x="107379" y="126299"/>
                </a:lnTo>
                <a:lnTo>
                  <a:pt x="57485" y="76460"/>
                </a:lnTo>
                <a:cubicBezTo>
                  <a:pt x="52239" y="71214"/>
                  <a:pt x="52239" y="62731"/>
                  <a:pt x="57485" y="57541"/>
                </a:cubicBezTo>
                <a:lnTo>
                  <a:pt x="111063" y="3907"/>
                </a:lnTo>
                <a:close/>
                <a:moveTo>
                  <a:pt x="120551" y="32314"/>
                </a:moveTo>
                <a:lnTo>
                  <a:pt x="85892" y="66973"/>
                </a:lnTo>
                <a:lnTo>
                  <a:pt x="126299" y="107379"/>
                </a:lnTo>
                <a:lnTo>
                  <a:pt x="160958" y="72721"/>
                </a:lnTo>
                <a:lnTo>
                  <a:pt x="120551" y="32314"/>
                </a:lnTo>
                <a:close/>
                <a:moveTo>
                  <a:pt x="218777" y="199858"/>
                </a:moveTo>
                <a:lnTo>
                  <a:pt x="253436" y="165199"/>
                </a:lnTo>
                <a:lnTo>
                  <a:pt x="213029" y="124792"/>
                </a:lnTo>
                <a:lnTo>
                  <a:pt x="178371" y="159451"/>
                </a:lnTo>
                <a:lnTo>
                  <a:pt x="218777" y="199858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1955483" y="3276721"/>
            <a:ext cx="1704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100k+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993583" y="3657721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Бақылаудағы нысандар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23360" y="2682363"/>
            <a:ext cx="1950720" cy="1550670"/>
          </a:xfrm>
          <a:custGeom>
            <a:avLst/>
            <a:gdLst/>
            <a:ahLst/>
            <a:cxnLst/>
            <a:rect l="l" t="t" r="r" b="b"/>
            <a:pathLst>
              <a:path w="1950720" h="1550670">
                <a:moveTo>
                  <a:pt x="114300" y="0"/>
                </a:moveTo>
                <a:lnTo>
                  <a:pt x="1836420" y="0"/>
                </a:lnTo>
                <a:cubicBezTo>
                  <a:pt x="1899546" y="0"/>
                  <a:pt x="1950720" y="51174"/>
                  <a:pt x="1950720" y="114300"/>
                </a:cubicBezTo>
                <a:lnTo>
                  <a:pt x="1950720" y="1436370"/>
                </a:lnTo>
                <a:cubicBezTo>
                  <a:pt x="1950720" y="1499496"/>
                  <a:pt x="1899546" y="1550670"/>
                  <a:pt x="1836420" y="1550670"/>
                </a:cubicBezTo>
                <a:lnTo>
                  <a:pt x="114300" y="1550670"/>
                </a:lnTo>
                <a:cubicBezTo>
                  <a:pt x="51174" y="1550670"/>
                  <a:pt x="0" y="1499496"/>
                  <a:pt x="0" y="14363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60131" y="287667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4146233" y="3276721"/>
            <a:ext cx="1704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84333" y="3657721"/>
            <a:ext cx="1628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Нақты уақытты мониторинг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14110" y="2682363"/>
            <a:ext cx="1950720" cy="1550670"/>
          </a:xfrm>
          <a:custGeom>
            <a:avLst/>
            <a:gdLst/>
            <a:ahLst/>
            <a:cxnLst/>
            <a:rect l="l" t="t" r="r" b="b"/>
            <a:pathLst>
              <a:path w="1950720" h="1550670">
                <a:moveTo>
                  <a:pt x="114300" y="0"/>
                </a:moveTo>
                <a:lnTo>
                  <a:pt x="1836420" y="0"/>
                </a:lnTo>
                <a:cubicBezTo>
                  <a:pt x="1899546" y="0"/>
                  <a:pt x="1950720" y="51174"/>
                  <a:pt x="1950720" y="114300"/>
                </a:cubicBezTo>
                <a:lnTo>
                  <a:pt x="1950720" y="1436370"/>
                </a:lnTo>
                <a:cubicBezTo>
                  <a:pt x="1950720" y="1499496"/>
                  <a:pt x="1899546" y="1550670"/>
                  <a:pt x="1836420" y="1550670"/>
                </a:cubicBezTo>
                <a:lnTo>
                  <a:pt x="114300" y="1550670"/>
                </a:lnTo>
                <a:cubicBezTo>
                  <a:pt x="51174" y="1550670"/>
                  <a:pt x="0" y="1499496"/>
                  <a:pt x="0" y="14363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50881" y="287667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6336982" y="3276721"/>
            <a:ext cx="1704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98%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75082" y="3657721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Анықтау дәлдігі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404860" y="2682363"/>
            <a:ext cx="1950720" cy="1550670"/>
          </a:xfrm>
          <a:custGeom>
            <a:avLst/>
            <a:gdLst/>
            <a:ahLst/>
            <a:cxnLst/>
            <a:rect l="l" t="t" r="r" b="b"/>
            <a:pathLst>
              <a:path w="1950720" h="1550670">
                <a:moveTo>
                  <a:pt x="114300" y="0"/>
                </a:moveTo>
                <a:lnTo>
                  <a:pt x="1836420" y="0"/>
                </a:lnTo>
                <a:cubicBezTo>
                  <a:pt x="1899546" y="0"/>
                  <a:pt x="1950720" y="51174"/>
                  <a:pt x="1950720" y="114300"/>
                </a:cubicBezTo>
                <a:lnTo>
                  <a:pt x="1950720" y="1436370"/>
                </a:lnTo>
                <a:cubicBezTo>
                  <a:pt x="1950720" y="1499496"/>
                  <a:pt x="1899546" y="1550670"/>
                  <a:pt x="1836420" y="1550670"/>
                </a:cubicBezTo>
                <a:lnTo>
                  <a:pt x="114300" y="1550670"/>
                </a:lnTo>
                <a:cubicBezTo>
                  <a:pt x="51174" y="1550670"/>
                  <a:pt x="0" y="1499496"/>
                  <a:pt x="0" y="14363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41631" y="287667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Text 19"/>
          <p:cNvSpPr/>
          <p:nvPr/>
        </p:nvSpPr>
        <p:spPr>
          <a:xfrm>
            <a:off x="8527732" y="3276721"/>
            <a:ext cx="1704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+75%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65832" y="3657721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Дәлдік жақсарту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899410" y="4621649"/>
            <a:ext cx="6389370" cy="1722120"/>
          </a:xfrm>
          <a:custGeom>
            <a:avLst/>
            <a:gdLst/>
            <a:ahLst/>
            <a:cxnLst/>
            <a:rect l="l" t="t" r="r" b="b"/>
            <a:pathLst>
              <a:path w="6389370" h="1722120">
                <a:moveTo>
                  <a:pt x="114297" y="0"/>
                </a:moveTo>
                <a:lnTo>
                  <a:pt x="6275073" y="0"/>
                </a:lnTo>
                <a:cubicBezTo>
                  <a:pt x="6338197" y="0"/>
                  <a:pt x="6389370" y="51173"/>
                  <a:pt x="6389370" y="114297"/>
                </a:cubicBezTo>
                <a:lnTo>
                  <a:pt x="6389370" y="1607823"/>
                </a:lnTo>
                <a:cubicBezTo>
                  <a:pt x="6389370" y="1670947"/>
                  <a:pt x="6338197" y="1722120"/>
                  <a:pt x="627507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20000"/>
                </a:srgbClr>
              </a:gs>
              <a:gs pos="50000">
                <a:srgbClr val="6366F1">
                  <a:alpha val="20000"/>
                </a:srgbClr>
              </a:gs>
              <a:gs pos="100000">
                <a:srgbClr val="F97316">
                  <a:alpha val="20000"/>
                </a:srgbClr>
              </a:gs>
            </a:gsLst>
            <a:lin ang="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74670" y="4854057"/>
            <a:ext cx="603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Бірлесіп жұмыс істейік!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093720" y="5273046"/>
            <a:ext cx="600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SpaceAI Monitor - ғарышты қорғауға арналған инновациялық шешім. Бізбен байланысыңыз!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96514" y="59207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8" name="Text 25"/>
          <p:cNvSpPr/>
          <p:nvPr/>
        </p:nvSpPr>
        <p:spPr>
          <a:xfrm>
            <a:off x="4706064" y="5882646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contact@spaceai.kz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56747" y="59207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0" name="Text 27"/>
          <p:cNvSpPr/>
          <p:nvPr/>
        </p:nvSpPr>
        <p:spPr>
          <a:xfrm>
            <a:off x="6566297" y="5882646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www.spaceai.kz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587359" y="6652264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© 2026 SpaceAI Monitor. Ғарышты қорғаймыз!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1337</Words>
  <Application>Microsoft Office PowerPoint</Application>
  <PresentationFormat>Произвольный</PresentationFormat>
  <Paragraphs>455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Microsoft YaHei</vt:lpstr>
      <vt:lpstr>MiSans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SpaceAI Monitor - Жобаны қорғау</dc:title>
  <dc:subject>SpaceAI Monitor - Жобаны қорғау</dc:subject>
  <dc:creator>Kimi</dc:creator>
  <cp:lastModifiedBy>Nur</cp:lastModifiedBy>
  <cp:revision>2</cp:revision>
  <dcterms:created xsi:type="dcterms:W3CDTF">2026-02-27T08:11:20Z</dcterms:created>
  <dcterms:modified xsi:type="dcterms:W3CDTF">2026-02-27T08:12:34Z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{"Label":"SpaceAI Monitor - Жобаны қорғау","ContentProducer":"001191110108MACG2KBH8F10000","ProduceID":"19c9e25d-fe62-8e79-8000-00001dd30d2d","ReservedCode1":"","ContentPropagator":"001191110108MACG2KBH8F20000","PropagateID":"19c9e25d-fe62-8e79-8000-00001</vt:lpwstr>
  </property>
</Properties>
</file>